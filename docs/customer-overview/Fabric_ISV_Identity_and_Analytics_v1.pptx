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the customer objective: add a conversational experience without replacing the application identity estate or discarding existing Power BI investment. This is a proposed custom integration anchored in a proven synthetic query/RLS mechanism, not a claim that native Fabric IQ accepts Power BI embed tokens or external application users. The decision is whether to complete a bounded technical integration proof.</a:t>
            </a:r>
          </a:p>
          <a:p/>
          <a:p>
            <a:r>
              <a:t>Evidence status: product/API documentation is distinct from local implementation and observed live proof. No production support or customer-deployment equivalence is implied.</a:t>
            </a:r>
          </a:p>
          <a:p>
            <a:r>
              <a:t>Classification: our own authored slide, grounded in public Microsoft documentation and/or reviewed synthetic proof. No customer-private or restricted source slide is reproduced. Apply the appropriate output sensitivity label before external sharing.</a:t>
            </a:r>
          </a:p>
          <a:p/>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existing login can remain the authentication authority for external application users. Reuse current entitlement decisions, customer/product scope and business measures. Add the conversational surface and trusted execution broker, not a second customer directory. Existing RLS expressions may require an explicit identity-contract adaptation; they are not promised drop-in. No replacement of Embedded reporting is required. This proposal uses the Power BI semantic-model endpoint of Fabric IQ, not Ontology or Data Agent. An inference endpoint is needed, but Foundry Agent Service hosting is optional, not a dependency.</a:t>
            </a:r>
          </a:p>
          <a:p/>
          <a:p>
            <a:r>
              <a:t>Evidence status: product/API documentation is distinct from local implementation and observed live proof. No production support or customer-deployment equivalence is implied.</a:t>
            </a:r>
          </a:p>
          <a:p>
            <a:r>
              <a:t>Classification: our own authored slide, grounded in public Microsoft documentation and/or reviewed synthetic proof. No customer-private or restricted source slide is reproduced. Apply the appropriate output sensitivity label before external sharing.</a:t>
            </a:r>
          </a:p>
          <a:p/>
          <a:p>
            <a:r>
              <a:t>S1: Fabric IQ MCP: tools, GA status and delegated authentication</a:t>
            </a:r>
          </a:p>
          <a:p>
            <a:r>
              <a:t>https://learn.microsoft.com/en-us/fabric/iq/connectors/fabric-iq-mcp</a:t>
            </a:r>
          </a:p>
          <a:p>
            <a:r>
              <a:t>S3: Power BI Embedded: application authentication and tokens</a:t>
            </a:r>
          </a:p>
          <a:p>
            <a:r>
              <a:t>https://learn.microsoft.com/en-us/power-bi/developer/embedded/embed-tokens</a:t>
            </a:r>
          </a:p>
          <a:p>
            <a:r>
              <a:t>S5: Embedded cloud RLS: USERNAME and effective identity</a:t>
            </a:r>
          </a:p>
          <a:p>
            <a:r>
              <a:t>https://learn.microsoft.com/en-us/power-bi/developer/embedded/cloud-rls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left to right: the existing application validates its own session and resolves the user's entitlements. The AI planner separately supplies DAX. The trusted broker combines the query with server-owned ExternalAppScope and an opaque application-user key. The model evaluates CUSTOMDATA() within the RLS role and returns only the permitted rows. The broker's certificate service principal requires workspace Admin to select roles; without the required role/context that principal may be unrestricted. Therefore the broker is part of the trusted boundary, not merely a pass-through. Do not claim native IQ supports external-user app-only authentication. Metadata credentials are shown separately on the next slide. The model return is structured authorized data; the full flow subsequently explains only those rows.</a:t>
            </a:r>
          </a:p>
          <a:p/>
          <a:p>
            <a:r>
              <a:t>Evidence status: product/API documentation is distinct from local implementation and observed live proof. No production support or customer-deployment equivalence is implied.</a:t>
            </a:r>
          </a:p>
          <a:p>
            <a:r>
              <a:t>Classification: our own authored slide, grounded in public Microsoft documentation and/or reviewed synthetic proof. No customer-private or restricted source slide is reproduced. Apply the appropriate output sensitivity label before external sharing.</a:t>
            </a:r>
          </a:p>
          <a:p/>
          <a:p>
            <a:r>
              <a:t>S1: Fabric IQ MCP: tools, GA status and delegated authentication</a:t>
            </a:r>
          </a:p>
          <a:p>
            <a:r>
              <a:t>https://learn.microsoft.com/en-us/fabric/iq/connectors/fabric-iq-mcp</a:t>
            </a:r>
          </a:p>
          <a:p>
            <a:r>
              <a:t>S2: Execute DAX Queries: roles, customData, privilege and Arrow</a:t>
            </a:r>
          </a:p>
          <a:p>
            <a:r>
              <a:t>https://learn.microsoft.com/en-us/rest/api/power-bi/datasets/execute-dax-queries</a:t>
            </a:r>
          </a:p>
          <a:p>
            <a:r>
              <a:t>S3: Power BI Embedded: application authentication and tokens</a:t>
            </a:r>
          </a:p>
          <a:p>
            <a:r>
              <a:t>https://learn.microsoft.com/en-us/power-bi/developer/embedded/embed-tokens</a:t>
            </a:r>
          </a:p>
          <a:p/>
          <a:p>
            <a:r>
              <a:t>Architecture assumptions:</a:t>
            </a:r>
          </a:p>
          <a:p>
            <a:r>
              <a:t>Diagram caption: Request-path-only view; responses are omitted, not absent. Only RLS-filtered rows return, then a separate LLM explains those rows.</a:t>
            </a:r>
          </a:p>
          <a:p>
            <a:r>
              <a:t>The application zone denotes custom-software responsibility, not a network or hosting boundary. Existing login and entitlement resolution remain; end users need not exist in Entra.</a:t>
            </a:r>
          </a:p>
          <a:p>
            <a:r>
              <a:t>RLS depends on the broker mandatorily attaching the fixed ExternalAppScope role and opaque application user key in roles/customData. Its certificate service principal is workspace Admin, not inherently row-restricted.</a:t>
            </a:r>
          </a:p>
          <a:p>
            <a:r>
              <a:t>Evidence gaps:</a:t>
            </a:r>
          </a:p>
          <a:p>
            <a:r>
              <a:t>The supplied RLS proof covers 42 synthetic Import checks; production behavior is not established by that proof.</a:t>
            </a:r>
          </a:p>
          <a:p>
            <a:r>
              <a:t>The full integrated IQ conversational path has not yet been demonstrated.</a:t>
            </a:r>
          </a:p>
          <a:p>
            <a:r>
              <a:t>Actual application login and its end-to-end identity binding to broker requests have not yet been demonstrated.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row is the user's application identity. A future integration receives that identity from the existing verified session; the current local UI merely simulates it with a selector. The opaque normalized issuer/subject-derived key maps to model entitlements. The IQ caller is a separate delegated work/school account: IQ has no app-only authentication mode. Query execution uses a separate certificate service principal; inference has its own caller. None of these cloud credentials is the end user's password, session cookie, or app user represented in Entra. Never send them to the LLM. A production delegated-IQ credential lifecycle remains a design decision.</a:t>
            </a:r>
          </a:p>
          <a:p/>
          <a:p>
            <a:r>
              <a:t>Evidence status: product/API documentation is distinct from local implementation and observed live proof. No production support or customer-deployment equivalence is implied.</a:t>
            </a:r>
          </a:p>
          <a:p>
            <a:r>
              <a:t>Classification: our own authored slide, grounded in public Microsoft documentation and/or reviewed synthetic proof. No customer-private or restricted source slide is reproduced. Apply the appropriate output sensitivity label before external sharing.</a:t>
            </a:r>
          </a:p>
          <a:p/>
          <a:p>
            <a:r>
              <a:t>S1: Fabric IQ MCP: tools, GA status and delegated authentication</a:t>
            </a:r>
          </a:p>
          <a:p>
            <a:r>
              <a:t>https://learn.microsoft.com/en-us/fabric/iq/connectors/fabric-iq-mcp</a:t>
            </a:r>
          </a:p>
          <a:p>
            <a:r>
              <a:t>S2: Execute DAX Queries: roles, customData, privilege and Arrow</a:t>
            </a:r>
          </a:p>
          <a:p>
            <a:r>
              <a:t>https://learn.microsoft.com/en-us/rest/api/power-bi/datasets/execute-dax-queries</a:t>
            </a:r>
          </a:p>
          <a:p>
            <a:r>
              <a:t>S3: Power BI Embedded: application authentication and tokens</a:t>
            </a:r>
          </a:p>
          <a:p>
            <a:r>
              <a:t>https://learn.microsoft.com/en-us/power-bi/developer/embedded/embed-tokens</a:t>
            </a:r>
          </a:p>
          <a:p>
            <a:r>
              <a:t>S6: Azure OpenAI Responses API</a:t>
            </a:r>
          </a:p>
          <a:p>
            <a:r>
              <a:t>https://learn.microsoft.com/en-us/azure/foundry/openai/how-to/responses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this as a simplified process, not evidence every stage has run. The implementation initializes MCP, sends notifications/initialized, discovers tools/list and calls the fixed model's GetSemanticModelSchema. The app projects reviewed schema. Azure OpenAI generates DAX; IQ itself does not have a DAX-generation tool. The application deliberately does not dispatch IQ ExecuteQuery or ValueSearch. A local custom execute_dax broker injects the server-owned role and key, executes the newer REST API, decodes Arrow including HTTP-200 error rowsets, and sends only authorized rows to a separate stateless explanation call. A tool allowlist is application dispatch control; the delegated OAuth credential is not metadata-only. No IQ server modification or product plug-in replacement is implied.</a:t>
            </a:r>
          </a:p>
          <a:p/>
          <a:p>
            <a:r>
              <a:t>Evidence status: product/API documentation is distinct from local implementation and observed live proof. No production support or customer-deployment equivalence is implied.</a:t>
            </a:r>
          </a:p>
          <a:p>
            <a:r>
              <a:t>Classification: our own authored slide, grounded in public Microsoft documentation and/or reviewed synthetic proof. No customer-private or restricted source slide is reproduced. Apply the appropriate output sensitivity label before external sharing.</a:t>
            </a:r>
          </a:p>
          <a:p/>
          <a:p>
            <a:r>
              <a:t>S1: Fabric IQ MCP: tools, GA status and delegated authentication</a:t>
            </a:r>
          </a:p>
          <a:p>
            <a:r>
              <a:t>https://learn.microsoft.com/en-us/fabric/iq/connectors/fabric-iq-mcp</a:t>
            </a:r>
          </a:p>
          <a:p>
            <a:r>
              <a:t>S2: Execute DAX Queries: roles, customData, privilege and Arrow</a:t>
            </a:r>
          </a:p>
          <a:p>
            <a:r>
              <a:t>https://learn.microsoft.com/en-us/rest/api/power-bi/datasets/execute-dax-queries</a:t>
            </a:r>
          </a:p>
          <a:p>
            <a:r>
              <a:t>S6: Azure OpenAI Responses API</a:t>
            </a:r>
          </a:p>
          <a:p>
            <a:r>
              <a:t>https://learn.microsoft.com/en-us/azure/foundry/openai/how-to/responses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synthetic Import role ExternalAppScope reads CUSTOMDATA(), matches the app-user key using EXACT and resolves allowed Scope Keys. User Access is a disconnected entitlement mapping, not a relationship bridge. Scope then filters Activity; User Access has its own role filter. Cross-customer access is an explicit set of pairs: A/Home and B/Auto do not imply A/Auto or B/Home. Missing/unmapped keys yield no allowed scopes. The broker supplies the key; it is not accepted from generated DAX, arbitrary browser claims or model tool arguments. ALL/REMOVEFILTERS do not erase engine RLS in the observed proof. Production entitlement synchronization and storage-mode behavior need separate design.</a:t>
            </a:r>
          </a:p>
          <a:p/>
          <a:p>
            <a:r>
              <a:t>Evidence status: product/API documentation is distinct from local implementation and observed live proof. No production support or customer-deployment equivalence is implied.</a:t>
            </a:r>
          </a:p>
          <a:p>
            <a:r>
              <a:t>Classification: our own authored slide, grounded in public Microsoft documentation and/or reviewed synthetic proof. No customer-private or restricted source slide is reproduced. Apply the appropriate output sensitivity label before external sharing.</a:t>
            </a:r>
          </a:p>
          <a:p/>
          <a:p>
            <a:r>
              <a:t>S2: Execute DAX Queries: roles, customData, privilege and Arrow</a:t>
            </a:r>
          </a:p>
          <a:p>
            <a:r>
              <a:t>https://learn.microsoft.com/en-us/rest/api/power-bi/datasets/execute-dax-queries</a:t>
            </a:r>
          </a:p>
          <a:p>
            <a:r>
              <a:t>E1: Synthetic Import-model proof, 28 September 2026</a:t>
            </a:r>
          </a:p>
          <a:p>
            <a:r>
              <a:t>Recorded project evidence; source commit ee6df8be48f2fa5cee6e8b15a2aba00f2646e5bd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simplified diagram deliberately abstracts the standard Embedded path: backend Entra authentication and GenerateToken produce an embed token, which the browser uses for the report. The token conveys EffectiveIdentity for model RLS. The chat path instead uses our server-controlled roles/customData query broker and returns Arrow rows, then an explanation. There is no embed token in the chat query request. Both paths should reuse the entitlement decision and business model, but may require aligning USERNAME versus CUSTOMDATA expressions. Actual Embedded/chat parity has not been executed. Logical lanes show responsibility, not VNet or tenant boundaries.</a:t>
            </a:r>
          </a:p>
          <a:p/>
          <a:p>
            <a:r>
              <a:t>Evidence status: product/API documentation is distinct from local implementation and observed live proof. No production support or customer-deployment equivalence is implied.</a:t>
            </a:r>
          </a:p>
          <a:p>
            <a:r>
              <a:t>Classification: our own authored slide, grounded in public Microsoft documentation and/or reviewed synthetic proof. No customer-private or restricted source slide is reproduced. Apply the appropriate output sensitivity label before external sharing.</a:t>
            </a:r>
          </a:p>
          <a:p/>
          <a:p>
            <a:r>
              <a:t>S2: Execute DAX Queries: roles, customData, privilege and Arrow</a:t>
            </a:r>
          </a:p>
          <a:p>
            <a:r>
              <a:t>https://learn.microsoft.com/en-us/rest/api/power-bi/datasets/execute-dax-queries</a:t>
            </a:r>
          </a:p>
          <a:p>
            <a:r>
              <a:t>S3: Power BI Embedded: application authentication and tokens</a:t>
            </a:r>
          </a:p>
          <a:p>
            <a:r>
              <a:t>https://learn.microsoft.com/en-us/power-bi/developer/embedded/embed-tokens</a:t>
            </a:r>
          </a:p>
          <a:p>
            <a:r>
              <a:t>S4: GenerateToken: EffectiveIdentity and customData</a:t>
            </a:r>
          </a:p>
          <a:p>
            <a:r>
              <a:t>https://learn.microsoft.com/en-us/rest/api/power-bi/embed-token/generate-token</a:t>
            </a:r>
          </a:p>
          <a:p>
            <a:r>
              <a:t>S5: Embedded cloud RLS: USERNAME and effective identity</a:t>
            </a:r>
          </a:p>
          <a:p>
            <a:r>
              <a:t>https://learn.microsoft.com/en-us/power-bi/developer/embedded/cloud-rls</a:t>
            </a:r>
          </a:p>
          <a:p/>
          <a:p>
            <a:r>
              <a:t>Architecture assumptions:</a:t>
            </a:r>
          </a:p>
          <a:p>
            <a:r>
              <a:t>This diagram presents the intended congruent future design: existing application login and current entitlements inform both report and conversational access to shared business measures and RLS intent.</a:t>
            </a:r>
          </a:p>
          <a:p>
            <a:r>
              <a:t>Zones describe logical responsibilities, not subnets, deployments or strict tenancy boundaries. The topology represents two converging lanes with large labels, not a detailed runtime protocol sequence.</a:t>
            </a:r>
          </a:p>
          <a:p>
            <a:r>
              <a:t>The conversational path is a custom broker design, not native Fabric IQ app-only support. No new end-user Entra accounts are introduced; the separate delegated IQ schema caller is outside this diagram.</a:t>
            </a:r>
          </a:p>
          <a:p>
            <a:r>
              <a:t>Evidence gaps:</a:t>
            </a:r>
          </a:p>
          <a:p>
            <a:r>
              <a:t>Actual Embedded-versus-chat parity has not been run; Embedded/report parity is not yet observed.</a:t>
            </a:r>
          </a:p>
          <a:p>
            <a:r>
              <a:t>Roles and identity-field/RLS expressions must be aligned before claiming one unchanged role works in both paths: current Embedded may use USERNAME(), while the proof uses a CUSTOMDATA()-based role.</a:t>
            </a:r>
          </a:p>
          <a:p>
            <a:r>
              <a:t>Documented EffectiveIdentity customData support for cloud models and executeDaxQueries customData support do not establish compatibility with this particular customer model. The required workspace-admin status for a service principal selecting roles is a prerequisite, not a verified customer permission.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Both designs preserve application authentication and use backend-owned effective authorization. Embedded uses GenerateToken and EffectiveIdentity to scope report access; the browser consumes the resulting embed token. Our REST broker uses an Entra app-only bearer plus roles/customData for each query and returns rows, not a report token. The newer query API requires workspace Admin for a service principal selecting roles; Embedded token generation typically needs member/admin rights in the relevant workspaces. IQ metadata additionally needs delegated authentication. Do not imply service principal profiles, DirectQuery SSO or multi-model parity are validated. Capacity/licensing must be reviewed for the actual production topology; this slide makes no SKU promise.</a:t>
            </a:r>
          </a:p>
          <a:p/>
          <a:p>
            <a:r>
              <a:t>Evidence status: product/API documentation is distinct from local implementation and observed live proof. No production support or customer-deployment equivalence is implied.</a:t>
            </a:r>
          </a:p>
          <a:p>
            <a:r>
              <a:t>Classification: our own authored slide, grounded in public Microsoft documentation and/or reviewed synthetic proof. No customer-private or restricted source slide is reproduced. Apply the appropriate output sensitivity label before external sharing.</a:t>
            </a:r>
          </a:p>
          <a:p/>
          <a:p>
            <a:r>
              <a:t>S1: Fabric IQ MCP: tools, GA status and delegated authentication</a:t>
            </a:r>
          </a:p>
          <a:p>
            <a:r>
              <a:t>https://learn.microsoft.com/en-us/fabric/iq/connectors/fabric-iq-mcp</a:t>
            </a:r>
          </a:p>
          <a:p>
            <a:r>
              <a:t>S2: Execute DAX Queries: roles, customData, privilege and Arrow</a:t>
            </a:r>
          </a:p>
          <a:p>
            <a:r>
              <a:t>https://learn.microsoft.com/en-us/rest/api/power-bi/datasets/execute-dax-queries</a:t>
            </a:r>
          </a:p>
          <a:p>
            <a:r>
              <a:t>S3: Power BI Embedded: application authentication and tokens</a:t>
            </a:r>
          </a:p>
          <a:p>
            <a:r>
              <a:t>https://learn.microsoft.com/en-us/power-bi/developer/embedded/embed-tokens</a:t>
            </a:r>
          </a:p>
          <a:p>
            <a:r>
              <a:t>S4: GenerateToken: EffectiveIdentity and customData</a:t>
            </a:r>
          </a:p>
          <a:p>
            <a:r>
              <a:t>https://learn.microsoft.com/en-us/rest/api/power-bi/embed-token/generate-token</a:t>
            </a:r>
          </a:p>
          <a:p>
            <a:r>
              <a:t>S5: Embedded cloud RLS: USERNAME and effective identity</a:t>
            </a:r>
          </a:p>
          <a:p>
            <a:r>
              <a:t>https://learn.microsoft.com/en-us/power-bi/developer/embedded/cloud-rls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GenerateToken EffectiveIdentity definition supports customData for cloud models and live Azure Analysis Services models. The query API also accepts customData. The proposed alignment sends the same opaque key to a CUSTOMDATA-based role, while still supplying the username/datasets fields required by the Embedded scenario. These fragments are illustrative and omit report/dataset IDs and credentials. They are not complete executable requests or evidence Embedded parity has run. If the existing role uses USERNAME or USERPRINCIPALNAME, preserve the business entitlement decision but adapt or map the expression explicitly; do not silently pass arbitrary external subjects as effectiveUsername. Confirm the customer's actual storage mode and supported identity fields before rollout.</a:t>
            </a:r>
          </a:p>
          <a:p/>
          <a:p>
            <a:r>
              <a:t>Evidence status: product/API documentation is distinct from local implementation and observed live proof. No production support or customer-deployment equivalence is implied.</a:t>
            </a:r>
          </a:p>
          <a:p>
            <a:r>
              <a:t>Classification: our own authored slide, grounded in public Microsoft documentation and/or reviewed synthetic proof. No customer-private or restricted source slide is reproduced. Apply the appropriate output sensitivity label before external sharing.</a:t>
            </a:r>
          </a:p>
          <a:p/>
          <a:p>
            <a:r>
              <a:t>S2: Execute DAX Queries: roles, customData, privilege and Arrow</a:t>
            </a:r>
          </a:p>
          <a:p>
            <a:r>
              <a:t>https://learn.microsoft.com/en-us/rest/api/power-bi/datasets/execute-dax-queries</a:t>
            </a:r>
          </a:p>
          <a:p>
            <a:r>
              <a:t>S4: GenerateToken: EffectiveIdentity and customData</a:t>
            </a:r>
          </a:p>
          <a:p>
            <a:r>
              <a:t>https://learn.microsoft.com/en-us/rest/api/power-bi/embed-token/generate-token</a:t>
            </a:r>
          </a:p>
          <a:p>
            <a:r>
              <a:t>S5: Embedded cloud RLS: USERNAME and effective identity</a:t>
            </a:r>
          </a:p>
          <a:p>
            <a:r>
              <a:t>https://learn.microsoft.com/en-us/power-bi/developer/embedded/cloud-rls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recorded live evidence, not a new run in this session. On September 28, 2026, the deterministic broker harness passed 42 acceptance checks using application certificate authentication, fixed ExternalAppScope and server-resolved customData. A1 total250/count2; A2 100/2; A3 350/4; B1 700/1; paired scopes1150/3; no-access0/0 for the coalesced summary. ALL, REMOVEFILTERS, direct-table projection and entitlement enumeration did not expand scope in this model. A no-access aggregate can return one summary row while activity count is zero. Do not equate this with live IQ, LLM correctness, actual Embedded parity, arbitrary storage-mode compatibility or production support. Amounts are synthetic units, not revenue, dollars, performance figures or customer data.</a:t>
            </a:r>
          </a:p>
          <a:p/>
          <a:p>
            <a:r>
              <a:t>Evidence status: product/API documentation is distinct from local implementation and observed live proof. No production support or customer-deployment equivalence is implied.</a:t>
            </a:r>
          </a:p>
          <a:p>
            <a:r>
              <a:t>Classification: our own authored slide, grounded in public Microsoft documentation and/or reviewed synthetic proof. No customer-private or restricted source slide is reproduced. Apply the appropriate output sensitivity label before external sharing.</a:t>
            </a:r>
          </a:p>
          <a:p/>
          <a:p>
            <a:r>
              <a:t>E1: Synthetic Import-model proof, 28 September 2026</a:t>
            </a:r>
          </a:p>
          <a:p>
            <a:r>
              <a:t>Recorded project evidence; source commit ee6df8be48f2fa5cee6e8b15a2aba00f2646e5bd</a:t>
            </a:r>
          </a:p>
          <a:p>
            <a:r>
              <a:t>S2: Execute DAX Queries: roles, customData, privilege and Arrow</a:t>
            </a:r>
          </a:p>
          <a:p>
            <a:r>
              <a:t>https://learn.microsoft.com/en-us/rest/api/power-bi/datasets/execute-dax-queries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current app implements IQ schema retrieval, generated DAX, broker execution, explanation and visible execution events, but combined live validation remains pending. Do not show the disabled UI as proof of execution. Prioritize three genuine integration questions: can the full chain run reliably under approved delegated IQ credentials; can Embedded and chat agree on exact user scope with the same entitlement decision; and can the actual customer model/storage mode support the identity contract? Service-principal workspace Admin for the query path and endpoint-wide IQ scopes require deliberate credential isolation. Security hardening, support confirmation, lifecycle and operational ownership are rollout gates, not reasons to inflate this proof into a complete application.</a:t>
            </a:r>
          </a:p>
          <a:p/>
          <a:p>
            <a:r>
              <a:t>Evidence status: product/API documentation is distinct from local implementation and observed live proof. No production support or customer-deployment equivalence is implied.</a:t>
            </a:r>
          </a:p>
          <a:p>
            <a:r>
              <a:t>Classification: our own authored slide, grounded in public Microsoft documentation and/or reviewed synthetic proof. No customer-private or restricted source slide is reproduced. Apply the appropriate output sensitivity label before external sharing.</a:t>
            </a:r>
          </a:p>
          <a:p/>
          <a:p>
            <a:r>
              <a:t>S1: Fabric IQ MCP: tools, GA status and delegated authentication</a:t>
            </a:r>
          </a:p>
          <a:p>
            <a:r>
              <a:t>https://learn.microsoft.com/en-us/fabric/iq/connectors/fabric-iq-mcp</a:t>
            </a:r>
          </a:p>
          <a:p>
            <a:r>
              <a:t>S2: Execute DAX Queries: roles, customData, privilege and Arrow</a:t>
            </a:r>
          </a:p>
          <a:p>
            <a:r>
              <a:t>https://learn.microsoft.com/en-us/rest/api/power-bi/datasets/execute-dax-queries</a:t>
            </a:r>
          </a:p>
          <a:p>
            <a:r>
              <a:t>E1: Synthetic Import-model proof, 28 September 2026</a:t>
            </a:r>
          </a:p>
          <a:p>
            <a:r>
              <a:t>Recorded project evidence; source commit ee6df8be48f2fa5cee6e8b15a2aba00f2646e5bd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proposed ask is to nominate an application integration owner and model owner, select one representative customer model, and agree a small set of paired scenarios. Complete the live schema/generation/query/explanation demonstration and compare exact rows and business measures with Embedded. Success means no end-user directory migration, matching entitlement outcomes, a visible auditable execution path and explicitly resolved deployment support/credential questions. Do not invent a duration, customer commitment, ROI or rollout date. This slide proposes a decision; it does not assert customer approval.</a:t>
            </a:r>
          </a:p>
          <a:p/>
          <a:p>
            <a:r>
              <a:t>Evidence status: product/API documentation is distinct from local implementation and observed live proof. No production support or customer-deployment equivalence is implied.</a:t>
            </a:r>
          </a:p>
          <a:p>
            <a:r>
              <a:t>Classification: our own authored slide, grounded in public Microsoft documentation and/or reviewed synthetic proof. No customer-private or restricted source slide is reproduced. Apply the appropriate output sensitivity label before external sharing.</a:t>
            </a:r>
          </a:p>
          <a:p/>
          <a:p>
            <a:r>
              <a:t>S1: Fabric IQ MCP: tools, GA status and delegated authentication</a:t>
            </a:r>
          </a:p>
          <a:p>
            <a:r>
              <a:t>https://learn.microsoft.com/en-us/fabric/iq/connectors/fabric-iq-mcp</a:t>
            </a:r>
          </a:p>
          <a:p>
            <a:r>
              <a:t>S2: Execute DAX Queries: roles, customData, privilege and Arrow</a:t>
            </a:r>
          </a:p>
          <a:p>
            <a:r>
              <a:t>https://learn.microsoft.com/en-us/rest/api/power-bi/datasets/execute-dax-queries</a:t>
            </a:r>
          </a:p>
          <a:p>
            <a:r>
              <a:t>S3: Power BI Embedded: application authentication and tokens</a:t>
            </a:r>
          </a:p>
          <a:p>
            <a:r>
              <a:t>https://learn.microsoft.com/en-us/power-bi/developer/embedded/embed-tokens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clickable primary sources for the claims in the main narrative. The exact scenario remains subject to product support and customer-model validation. The deck uses native authored diagrams, not copied source slides. Source IDs appear in slide footers and full provenance appears in each slide's notes.</a:t>
            </a:r>
          </a:p>
          <a:p/>
          <a:p>
            <a:r>
              <a:t>Evidence status: product/API documentation is distinct from local implementation and observed live proof. No production support or customer-deployment equivalence is implied.</a:t>
            </a:r>
          </a:p>
          <a:p>
            <a:r>
              <a:t>Classification: our own authored slide, grounded in public Microsoft documentation and/or reviewed synthetic proof. No customer-private or restricted source slide is reproduced. Apply the appropriate output sensitivity label before external sharing.</a:t>
            </a:r>
          </a:p>
          <a:p/>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E1: local reviewed stage1-evidence_v2.json reports liveProofPassed=true and42acceptanceChecks; source commit ee6df8be48f2fa5cee6e8b15a2aba00f2646e5bd. No environmentIDs or raw cloud traces are included in the customer deck. Upstream skills-for-fabric reference refreshed at 6c11ad58c25992e5d1435ce7cd80d217d5598a31; skills/fabriciq/SKILL.md, skills/semantic-model-authoring/SKILL.md andcommon/COMMON-CORE.md used. Local deck index searched: Power BI Embedded Technical Overview s38/s21 and Embedding Power BI in Your Application s11/s27 offered analogy, not custom broker proof. Source classifications were unknown. Live GearUp search failed not_authenticated under intended corporate identity; no restricted source body or artwork is used. Local/live Fabric blog search succeeded but selected article5190739 concerns broader ontology integrations; it is not proof of this semantic-model MCP endpoint and is not used for capability status. Official Fabric icon ZIP provenance is September16; npm freshness unavailable, so latest asset version is not asserted. All diagram text and topology are authored. New PowerPoint output must be labelled by the presenter before sharing.</a:t>
            </a:r>
          </a:p>
          <a:p/>
          <a:p>
            <a:r>
              <a:t>Evidence status: product/API documentation is distinct from local implementation and observed live proof. No production support or customer-deployment equivalence is implied.</a:t>
            </a:r>
          </a:p>
          <a:p>
            <a:r>
              <a:t>Classification: our own authored slide, grounded in public Microsoft documentation and/or reviewed synthetic proof. No customer-private or restricted source slide is reproduced. Apply the appropriate output sensitivity label before external sharing.</a:t>
            </a:r>
          </a:p>
          <a:p/>
          <a:p>
            <a:r>
              <a:t>E1: Synthetic Import-model proof, 28 September 2026</a:t>
            </a:r>
          </a:p>
          <a:p>
            <a:r>
              <a:t>Recorded project evidence; source commit ee6df8be48f2fa5cee6e8b15a2aba00f2646e5bd</a:t>
            </a:r>
          </a:p>
          <a:p>
            <a:r>
              <a:t>S6: Azure OpenAI Responses API</a:t>
            </a:r>
          </a:p>
          <a:p>
            <a:r>
              <a:t>https://learn.microsoft.com/en-us/azure/foundry/openai/how-to/responses</a:t>
            </a:r>
          </a:p>
          <a:p>
            <a:r>
              <a:t>S7: Fabric Well-Architected security considerations</a:t>
            </a:r>
          </a:p>
          <a:p>
            <a:r>
              <a:t>https://learn.microsoft.com/en-us/azure/well-architected/microsoft-fabric/security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2.png"/><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hyperlink" Target="https://learn.microsoft.com/en-us/fabric/iq/connectors/fabric-iq-mcp" TargetMode="External"/><Relationship Id="rId4" Type="http://schemas.openxmlformats.org/officeDocument/2006/relationships/hyperlink" Target="https://learn.microsoft.com/en-us/rest/api/power-bi/datasets/execute-dax-queries" TargetMode="External"/><Relationship Id="rId5" Type="http://schemas.openxmlformats.org/officeDocument/2006/relationships/hyperlink" Target="https://learn.microsoft.com/en-us/power-bi/developer/embedded/embed-tokens" TargetMode="External"/><Relationship Id="rId6" Type="http://schemas.openxmlformats.org/officeDocument/2006/relationships/hyperlink" Target="https://learn.microsoft.com/en-us/rest/api/power-bi/embed-token/generate-token" TargetMode="External"/><Relationship Id="rId7" Type="http://schemas.openxmlformats.org/officeDocument/2006/relationships/hyperlink" Target="https://learn.microsoft.com/en-us/power-bi/developer/embedded/cloud-rls"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9353D"/>
        </a:solidFill>
        <a:effectLst/>
      </p:bgPr>
    </p:bg>
    <p:spTree>
      <p:nvGrpSpPr>
        <p:cNvPr id="1" name=""/>
        <p:cNvGrpSpPr/>
        <p:nvPr/>
      </p:nvGrpSpPr>
      <p:grpSpPr/>
      <p:sp>
        <p:nvSpPr>
          <p:cNvPr id="2" name="Slide title"/>
          <p:cNvSpPr txBox="1"/>
          <p:nvPr/>
        </p:nvSpPr>
        <p:spPr>
          <a:xfrm>
            <a:off x="585216" y="1042415"/>
            <a:ext cx="7040880" cy="1993392"/>
          </a:xfrm>
          <a:prstGeom prst="rect">
            <a:avLst/>
          </a:prstGeom>
          <a:noFill/>
        </p:spPr>
        <p:txBody>
          <a:bodyPr wrap="square" lIns="0" rIns="0" tIns="0" bIns="0">
            <a:spAutoFit/>
          </a:bodyPr>
          <a:lstStyle/>
          <a:p>
            <a:pPr algn="l">
              <a:spcBef>
                <a:spcPts val="0"/>
              </a:spcBef>
              <a:spcAft>
                <a:spcPts val="500"/>
              </a:spcAft>
              <a:defRPr sz="5000" b="0">
                <a:solidFill>
                  <a:srgbClr val="FFFFFF"/>
                </a:solidFill>
                <a:latin typeface="Segoe UI Light"/>
              </a:defRPr>
            </a:pPr>
            <a:r>
              <a:t>Keep your login.</a:t>
            </a:r>
          </a:p>
          <a:p>
            <a:pPr algn="l">
              <a:spcBef>
                <a:spcPts val="0"/>
              </a:spcBef>
              <a:spcAft>
                <a:spcPts val="500"/>
              </a:spcAft>
              <a:defRPr sz="5000" b="0">
                <a:solidFill>
                  <a:srgbClr val="FFFFFF"/>
                </a:solidFill>
                <a:latin typeface="Segoe UI Light"/>
              </a:defRPr>
            </a:pPr>
            <a:r>
              <a:t>Add answers.</a:t>
            </a:r>
          </a:p>
        </p:txBody>
      </p:sp>
      <p:sp>
        <p:nvSpPr>
          <p:cNvPr id="3" name="Text"/>
          <p:cNvSpPr txBox="1"/>
          <p:nvPr/>
        </p:nvSpPr>
        <p:spPr>
          <a:xfrm>
            <a:off x="621792" y="3346704"/>
            <a:ext cx="7223760" cy="1005840"/>
          </a:xfrm>
          <a:prstGeom prst="rect">
            <a:avLst/>
          </a:prstGeom>
          <a:noFill/>
        </p:spPr>
        <p:txBody>
          <a:bodyPr wrap="square" lIns="0" rIns="0" tIns="0" bIns="0">
            <a:spAutoFit/>
          </a:bodyPr>
          <a:lstStyle/>
          <a:p>
            <a:pPr algn="l">
              <a:spcBef>
                <a:spcPts val="0"/>
              </a:spcBef>
              <a:spcAft>
                <a:spcPts val="500"/>
              </a:spcAft>
              <a:defRPr sz="2300" b="0">
                <a:solidFill>
                  <a:srgbClr val="E6ECEF"/>
                </a:solidFill>
                <a:latin typeface="Segoe UI"/>
              </a:defRPr>
            </a:pPr>
            <a:r>
              <a:t>A Fabric path for ISV conversational analytics</a:t>
            </a:r>
          </a:p>
          <a:p>
            <a:pPr algn="l">
              <a:spcBef>
                <a:spcPts val="0"/>
              </a:spcBef>
              <a:spcAft>
                <a:spcPts val="500"/>
              </a:spcAft>
              <a:defRPr sz="2300" b="0">
                <a:solidFill>
                  <a:srgbClr val="E6ECEF"/>
                </a:solidFill>
                <a:latin typeface="Segoe UI"/>
              </a:defRPr>
            </a:pPr>
            <a:r>
              <a:t>with application-owned users and model-enforced access.</a:t>
            </a:r>
          </a:p>
        </p:txBody>
      </p:sp>
      <p:sp>
        <p:nvSpPr>
          <p:cNvPr id="4" name="Panel"/>
          <p:cNvSpPr/>
          <p:nvPr/>
        </p:nvSpPr>
        <p:spPr>
          <a:xfrm>
            <a:off x="8275320" y="1508760"/>
            <a:ext cx="3264408" cy="3511296"/>
          </a:xfrm>
          <a:prstGeom prst="roundRect">
            <a:avLst>
              <a:gd name="adj" fmla="val 10000"/>
            </a:avLst>
          </a:prstGeom>
          <a:solidFill>
            <a:srgbClr val="3544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5" name="Your application"/>
          <p:cNvGrpSpPr/>
          <p:nvPr/>
        </p:nvGrpSpPr>
        <p:grpSpPr>
          <a:xfrm>
            <a:off x="8631936" y="1856231"/>
            <a:ext cx="2532888" cy="1078992"/>
            <a:chOff x="8631936" y="1856231"/>
            <a:chExt cx="2532888" cy="1078992"/>
          </a:xfrm>
        </p:grpSpPr>
        <p:sp>
          <p:nvSpPr>
            <p:cNvPr id="6" name="Rounded Rectangle 5"/>
            <p:cNvSpPr/>
            <p:nvPr/>
          </p:nvSpPr>
          <p:spPr>
            <a:xfrm>
              <a:off x="8631936" y="1856231"/>
              <a:ext cx="2532888" cy="1078992"/>
            </a:xfrm>
            <a:prstGeom prst="roundRect">
              <a:avLst>
                <a:gd name="adj" fmla="val 10000"/>
              </a:avLst>
            </a:prstGeom>
            <a:solidFill>
              <a:srgbClr val="35444E"/>
            </a:solidFill>
            <a:ln w="10160">
              <a:solidFill>
                <a:srgbClr val="A9B8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Your application-label"/>
            <p:cNvSpPr txBox="1"/>
            <p:nvPr/>
          </p:nvSpPr>
          <p:spPr>
            <a:xfrm>
              <a:off x="8741663" y="2020824"/>
              <a:ext cx="2313432" cy="384048"/>
            </a:xfrm>
            <a:prstGeom prst="rect">
              <a:avLst/>
            </a:prstGeom>
            <a:noFill/>
          </p:spPr>
          <p:txBody>
            <a:bodyPr wrap="square" lIns="0" rIns="0" tIns="0" bIns="0">
              <a:spAutoFit/>
            </a:bodyPr>
            <a:lstStyle/>
            <a:p>
              <a:pPr algn="ctr">
                <a:spcBef>
                  <a:spcPts val="0"/>
                </a:spcBef>
                <a:spcAft>
                  <a:spcPts val="500"/>
                </a:spcAft>
                <a:defRPr sz="1800" b="1">
                  <a:solidFill>
                    <a:srgbClr val="FFFFFF"/>
                  </a:solidFill>
                  <a:latin typeface="Segoe UI"/>
                </a:defRPr>
              </a:pPr>
              <a:r>
                <a:t>Your application</a:t>
              </a:r>
            </a:p>
          </p:txBody>
        </p:sp>
        <p:sp>
          <p:nvSpPr>
            <p:cNvPr id="8" name="Text"/>
            <p:cNvSpPr txBox="1"/>
            <p:nvPr/>
          </p:nvSpPr>
          <p:spPr>
            <a:xfrm>
              <a:off x="8741663" y="2450591"/>
              <a:ext cx="2313432" cy="429767"/>
            </a:xfrm>
            <a:prstGeom prst="rect">
              <a:avLst/>
            </a:prstGeom>
            <a:noFill/>
          </p:spPr>
          <p:txBody>
            <a:bodyPr wrap="square" lIns="0" rIns="0" tIns="0" bIns="0">
              <a:spAutoFit/>
            </a:bodyPr>
            <a:lstStyle/>
            <a:p>
              <a:pPr algn="ctr">
                <a:spcBef>
                  <a:spcPts val="0"/>
                </a:spcBef>
                <a:spcAft>
                  <a:spcPts val="500"/>
                </a:spcAft>
                <a:defRPr sz="1500" b="0">
                  <a:solidFill>
                    <a:srgbClr val="E6ECEF"/>
                  </a:solidFill>
                  <a:latin typeface="Segoe UI"/>
                </a:defRPr>
              </a:pPr>
              <a:r>
                <a:t>Your identity experience</a:t>
              </a:r>
            </a:p>
          </p:txBody>
        </p:sp>
      </p:grpSp>
      <p:sp>
        <p:nvSpPr>
          <p:cNvPr id="9" name="Text"/>
          <p:cNvSpPr txBox="1"/>
          <p:nvPr/>
        </p:nvSpPr>
        <p:spPr>
          <a:xfrm>
            <a:off x="8586216" y="3227832"/>
            <a:ext cx="2624328" cy="457200"/>
          </a:xfrm>
          <a:prstGeom prst="rect">
            <a:avLst/>
          </a:prstGeom>
          <a:noFill/>
        </p:spPr>
        <p:txBody>
          <a:bodyPr wrap="square" lIns="0" rIns="0" tIns="0" bIns="0">
            <a:spAutoFit/>
          </a:bodyPr>
          <a:lstStyle/>
          <a:p>
            <a:pPr algn="ctr">
              <a:spcBef>
                <a:spcPts val="0"/>
              </a:spcBef>
              <a:spcAft>
                <a:spcPts val="500"/>
              </a:spcAft>
              <a:defRPr sz="2200" b="1">
                <a:solidFill>
                  <a:srgbClr val="49C5B1"/>
                </a:solidFill>
                <a:latin typeface="Segoe UI"/>
              </a:defRPr>
            </a:pPr>
            <a:r>
              <a:t>Reports + conversation</a:t>
            </a:r>
          </a:p>
        </p:txBody>
      </p:sp>
      <p:sp>
        <p:nvSpPr>
          <p:cNvPr id="10" name="Text"/>
          <p:cNvSpPr txBox="1"/>
          <p:nvPr/>
        </p:nvSpPr>
        <p:spPr>
          <a:xfrm>
            <a:off x="8732520" y="3931920"/>
            <a:ext cx="2322576" cy="594360"/>
          </a:xfrm>
          <a:prstGeom prst="rect">
            <a:avLst/>
          </a:prstGeom>
          <a:noFill/>
        </p:spPr>
        <p:txBody>
          <a:bodyPr wrap="square" lIns="0" rIns="0" tIns="0" bIns="0">
            <a:spAutoFit/>
          </a:bodyPr>
          <a:lstStyle/>
          <a:p>
            <a:pPr algn="ctr">
              <a:spcBef>
                <a:spcPts val="0"/>
              </a:spcBef>
              <a:spcAft>
                <a:spcPts val="500"/>
              </a:spcAft>
              <a:defRPr sz="2000" b="0">
                <a:solidFill>
                  <a:srgbClr val="E6ECEF"/>
                </a:solidFill>
                <a:latin typeface="Segoe UI"/>
              </a:defRPr>
            </a:pPr>
            <a:r>
              <a:t>One business</a:t>
            </a:r>
          </a:p>
          <a:p>
            <a:pPr algn="ctr">
              <a:spcBef>
                <a:spcPts val="0"/>
              </a:spcBef>
              <a:spcAft>
                <a:spcPts val="500"/>
              </a:spcAft>
              <a:defRPr sz="2000" b="0">
                <a:solidFill>
                  <a:srgbClr val="E6ECEF"/>
                </a:solidFill>
                <a:latin typeface="Segoe UI"/>
              </a:defRPr>
            </a:pPr>
            <a:r>
              <a:t>access decision</a:t>
            </a:r>
          </a:p>
        </p:txBody>
      </p:sp>
      <p:sp>
        <p:nvSpPr>
          <p:cNvPr id="11" name="Text"/>
          <p:cNvSpPr txBox="1"/>
          <p:nvPr/>
        </p:nvSpPr>
        <p:spPr>
          <a:xfrm>
            <a:off x="621792" y="5952744"/>
            <a:ext cx="9784080" cy="347472"/>
          </a:xfrm>
          <a:prstGeom prst="rect">
            <a:avLst/>
          </a:prstGeom>
          <a:noFill/>
        </p:spPr>
        <p:txBody>
          <a:bodyPr wrap="square" lIns="0" rIns="0" tIns="0" bIns="0">
            <a:spAutoFit/>
          </a:bodyPr>
          <a:lstStyle/>
          <a:p>
            <a:pPr algn="l">
              <a:spcBef>
                <a:spcPts val="0"/>
              </a:spcBef>
              <a:spcAft>
                <a:spcPts val="500"/>
              </a:spcAft>
              <a:defRPr sz="1500" b="0">
                <a:solidFill>
                  <a:srgbClr val="A9B8C0"/>
                </a:solidFill>
                <a:latin typeface="Segoe UI"/>
              </a:defRPr>
            </a:pPr>
            <a:r>
              <a:t>Customer technical overview | Proposed integration | 28 September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lide title"/>
          <p:cNvSpPr txBox="1"/>
          <p:nvPr/>
        </p:nvSpPr>
        <p:spPr>
          <a:xfrm>
            <a:off x="585216" y="420624"/>
            <a:ext cx="11018520" cy="786384"/>
          </a:xfrm>
          <a:prstGeom prst="rect">
            <a:avLst/>
          </a:prstGeom>
          <a:noFill/>
        </p:spPr>
        <p:txBody>
          <a:bodyPr wrap="square" lIns="0" rIns="0" tIns="0" bIns="0">
            <a:spAutoFit/>
          </a:bodyPr>
          <a:lstStyle/>
          <a:p>
            <a:pPr algn="l">
              <a:spcBef>
                <a:spcPts val="0"/>
              </a:spcBef>
              <a:spcAft>
                <a:spcPts val="500"/>
              </a:spcAft>
              <a:defRPr sz="3000" b="0">
                <a:solidFill>
                  <a:srgbClr val="29353D"/>
                </a:solidFill>
                <a:latin typeface="Segoe UI Semibold"/>
              </a:defRPr>
            </a:pPr>
            <a:r>
              <a:t>Extend the semantic layer, not the identity estate.</a:t>
            </a:r>
          </a:p>
        </p:txBody>
      </p:sp>
      <p:sp>
        <p:nvSpPr>
          <p:cNvPr id="3" name="Text"/>
          <p:cNvSpPr txBox="1"/>
          <p:nvPr/>
        </p:nvSpPr>
        <p:spPr>
          <a:xfrm>
            <a:off x="603504" y="1225296"/>
            <a:ext cx="10881360" cy="548640"/>
          </a:xfrm>
          <a:prstGeom prst="rect">
            <a:avLst/>
          </a:prstGeom>
          <a:noFill/>
        </p:spPr>
        <p:txBody>
          <a:bodyPr wrap="square" lIns="0" rIns="0" tIns="0" bIns="0">
            <a:spAutoFit/>
          </a:bodyPr>
          <a:lstStyle/>
          <a:p>
            <a:pPr algn="l">
              <a:spcBef>
                <a:spcPts val="0"/>
              </a:spcBef>
              <a:spcAft>
                <a:spcPts val="500"/>
              </a:spcAft>
              <a:defRPr sz="1700" b="0">
                <a:solidFill>
                  <a:srgbClr val="6B7780"/>
                </a:solidFill>
                <a:latin typeface="Segoe UI"/>
              </a:defRPr>
            </a:pPr>
            <a:r>
              <a:t>Build on the application and Power BI capabilities you already operate.</a:t>
            </a:r>
          </a:p>
        </p:txBody>
      </p:sp>
      <p:sp>
        <p:nvSpPr>
          <p:cNvPr id="4" name="Text"/>
          <p:cNvSpPr txBox="1"/>
          <p:nvPr/>
        </p:nvSpPr>
        <p:spPr>
          <a:xfrm>
            <a:off x="603504" y="6483096"/>
            <a:ext cx="10972800" cy="201168"/>
          </a:xfrm>
          <a:prstGeom prst="rect">
            <a:avLst/>
          </a:prstGeom>
          <a:noFill/>
        </p:spPr>
        <p:txBody>
          <a:bodyPr wrap="square" lIns="0" rIns="0" tIns="0" bIns="0">
            <a:spAutoFit/>
          </a:bodyPr>
          <a:lstStyle/>
          <a:p>
            <a:pPr algn="l">
              <a:spcBef>
                <a:spcPts val="0"/>
              </a:spcBef>
              <a:spcAft>
                <a:spcPts val="500"/>
              </a:spcAft>
              <a:defRPr sz="900" b="0">
                <a:solidFill>
                  <a:srgbClr val="6B7780"/>
                </a:solidFill>
                <a:latin typeface="Segoe UI"/>
              </a:defRPr>
            </a:pPr>
            <a:r>
              <a:t>Sources: S1, S3, S5 | 28 September 2026</a:t>
            </a:r>
          </a:p>
        </p:txBody>
      </p:sp>
      <p:sp>
        <p:nvSpPr>
          <p:cNvPr id="5" name="Text"/>
          <p:cNvSpPr txBox="1"/>
          <p:nvPr/>
        </p:nvSpPr>
        <p:spPr>
          <a:xfrm>
            <a:off x="658368" y="1947672"/>
            <a:ext cx="5074920" cy="502920"/>
          </a:xfrm>
          <a:prstGeom prst="rect">
            <a:avLst/>
          </a:prstGeom>
          <a:noFill/>
        </p:spPr>
        <p:txBody>
          <a:bodyPr wrap="square" lIns="0" rIns="0" tIns="0" bIns="0">
            <a:spAutoFit/>
          </a:bodyPr>
          <a:lstStyle/>
          <a:p>
            <a:pPr algn="l">
              <a:spcBef>
                <a:spcPts val="0"/>
              </a:spcBef>
              <a:spcAft>
                <a:spcPts val="500"/>
              </a:spcAft>
              <a:defRPr sz="3200" b="1">
                <a:solidFill>
                  <a:srgbClr val="0078D4"/>
                </a:solidFill>
                <a:latin typeface="Segoe UI"/>
              </a:defRPr>
            </a:pPr>
            <a:r>
              <a:t>Keep</a:t>
            </a:r>
          </a:p>
        </p:txBody>
      </p:sp>
      <p:sp>
        <p:nvSpPr>
          <p:cNvPr id="6" name="Text"/>
          <p:cNvSpPr txBox="1"/>
          <p:nvPr/>
        </p:nvSpPr>
        <p:spPr>
          <a:xfrm>
            <a:off x="676656" y="2724912"/>
            <a:ext cx="4828032" cy="2359152"/>
          </a:xfrm>
          <a:prstGeom prst="rect">
            <a:avLst/>
          </a:prstGeom>
          <a:noFill/>
        </p:spPr>
        <p:txBody>
          <a:bodyPr wrap="square" lIns="0" rIns="0" tIns="0" bIns="0">
            <a:spAutoFit/>
          </a:bodyPr>
          <a:lstStyle/>
          <a:p>
            <a:pPr algn="l">
              <a:spcBef>
                <a:spcPts val="0"/>
              </a:spcBef>
              <a:spcAft>
                <a:spcPts val="500"/>
              </a:spcAft>
              <a:defRPr sz="2500" b="0">
                <a:solidFill>
                  <a:srgbClr val="29353D"/>
                </a:solidFill>
                <a:latin typeface="Segoe UI"/>
              </a:defRPr>
            </a:pPr>
            <a:r>
              <a:t>Your application login</a:t>
            </a:r>
          </a:p>
          <a:p>
            <a:pPr algn="l">
              <a:spcBef>
                <a:spcPts val="0"/>
              </a:spcBef>
              <a:spcAft>
                <a:spcPts val="500"/>
              </a:spcAft>
              <a:defRPr sz="2500" b="0">
                <a:solidFill>
                  <a:srgbClr val="29353D"/>
                </a:solidFill>
                <a:latin typeface="Segoe UI"/>
              </a:defRPr>
            </a:pPr>
            <a:r>
              <a:t>Customer / product entitlements</a:t>
            </a:r>
          </a:p>
          <a:p>
            <a:pPr algn="l">
              <a:spcBef>
                <a:spcPts val="0"/>
              </a:spcBef>
              <a:spcAft>
                <a:spcPts val="500"/>
              </a:spcAft>
              <a:defRPr sz="2500" b="0">
                <a:solidFill>
                  <a:srgbClr val="29353D"/>
                </a:solidFill>
                <a:latin typeface="Segoe UI"/>
              </a:defRPr>
            </a:pPr>
            <a:r>
              <a:t>Power BI reports and measures</a:t>
            </a:r>
          </a:p>
          <a:p>
            <a:pPr algn="l">
              <a:spcBef>
                <a:spcPts val="0"/>
              </a:spcBef>
              <a:spcAft>
                <a:spcPts val="500"/>
              </a:spcAft>
              <a:defRPr sz="2500" b="0">
                <a:solidFill>
                  <a:srgbClr val="29353D"/>
                </a:solidFill>
                <a:latin typeface="Segoe UI"/>
              </a:defRPr>
            </a:pPr>
            <a:r>
              <a:t>Your customer experience</a:t>
            </a:r>
          </a:p>
        </p:txBody>
      </p:sp>
      <p:cxnSp>
        <p:nvCxnSpPr>
          <p:cNvPr id="7" name="Connector 6"/>
          <p:cNvCxnSpPr/>
          <p:nvPr/>
        </p:nvCxnSpPr>
        <p:spPr>
          <a:xfrm>
            <a:off x="5934456" y="1920240"/>
            <a:ext cx="0" cy="3383280"/>
          </a:xfrm>
          <a:prstGeom prst="line">
            <a:avLst/>
          </a:prstGeom>
          <a:ln w="12700">
            <a:solidFill>
              <a:srgbClr val="D2D2D2"/>
            </a:solidFill>
          </a:ln>
          <a:effectLst/>
        </p:spPr>
        <p:style>
          <a:lnRef idx="2">
            <a:schemeClr val="accent1"/>
          </a:lnRef>
          <a:fillRef idx="0">
            <a:schemeClr val="accent1"/>
          </a:fillRef>
          <a:effectRef idx="1">
            <a:schemeClr val="accent1"/>
          </a:effectRef>
          <a:fontRef idx="minor">
            <a:schemeClr val="tx1"/>
          </a:fontRef>
        </p:style>
      </p:cxnSp>
      <p:sp>
        <p:nvSpPr>
          <p:cNvPr id="8" name="Text"/>
          <p:cNvSpPr txBox="1"/>
          <p:nvPr/>
        </p:nvSpPr>
        <p:spPr>
          <a:xfrm>
            <a:off x="6419088" y="1947672"/>
            <a:ext cx="4572000" cy="502920"/>
          </a:xfrm>
          <a:prstGeom prst="rect">
            <a:avLst/>
          </a:prstGeom>
          <a:noFill/>
        </p:spPr>
        <p:txBody>
          <a:bodyPr wrap="square" lIns="0" rIns="0" tIns="0" bIns="0">
            <a:spAutoFit/>
          </a:bodyPr>
          <a:lstStyle/>
          <a:p>
            <a:pPr algn="l">
              <a:spcBef>
                <a:spcPts val="0"/>
              </a:spcBef>
              <a:spcAft>
                <a:spcPts val="500"/>
              </a:spcAft>
              <a:defRPr sz="3200" b="1">
                <a:solidFill>
                  <a:srgbClr val="00684A"/>
                </a:solidFill>
                <a:latin typeface="Segoe UI"/>
              </a:defRPr>
            </a:pPr>
            <a:r>
              <a:t>Add</a:t>
            </a:r>
          </a:p>
        </p:txBody>
      </p:sp>
      <p:sp>
        <p:nvSpPr>
          <p:cNvPr id="9" name="Text"/>
          <p:cNvSpPr txBox="1"/>
          <p:nvPr/>
        </p:nvSpPr>
        <p:spPr>
          <a:xfrm>
            <a:off x="6437376" y="2724912"/>
            <a:ext cx="4791456" cy="2240280"/>
          </a:xfrm>
          <a:prstGeom prst="rect">
            <a:avLst/>
          </a:prstGeom>
          <a:noFill/>
        </p:spPr>
        <p:txBody>
          <a:bodyPr wrap="square" lIns="0" rIns="0" tIns="0" bIns="0">
            <a:spAutoFit/>
          </a:bodyPr>
          <a:lstStyle/>
          <a:p>
            <a:pPr algn="l">
              <a:spcBef>
                <a:spcPts val="0"/>
              </a:spcBef>
              <a:spcAft>
                <a:spcPts val="500"/>
              </a:spcAft>
              <a:defRPr sz="2500" b="0">
                <a:solidFill>
                  <a:srgbClr val="29353D"/>
                </a:solidFill>
                <a:latin typeface="Segoe UI"/>
              </a:defRPr>
            </a:pPr>
            <a:r>
              <a:t>Natural-language questions</a:t>
            </a:r>
          </a:p>
          <a:p>
            <a:pPr algn="l">
              <a:spcBef>
                <a:spcPts val="0"/>
              </a:spcBef>
              <a:spcAft>
                <a:spcPts val="500"/>
              </a:spcAft>
              <a:defRPr sz="2500" b="0">
                <a:solidFill>
                  <a:srgbClr val="29353D"/>
                </a:solidFill>
                <a:latin typeface="Segoe UI"/>
              </a:defRPr>
            </a:pPr>
            <a:r>
              <a:t>Live semantic context from IQ</a:t>
            </a:r>
          </a:p>
          <a:p>
            <a:pPr algn="l">
              <a:spcBef>
                <a:spcPts val="0"/>
              </a:spcBef>
              <a:spcAft>
                <a:spcPts val="500"/>
              </a:spcAft>
              <a:defRPr sz="2500" b="0">
                <a:solidFill>
                  <a:srgbClr val="29353D"/>
                </a:solidFill>
                <a:latin typeface="Segoe UI"/>
              </a:defRPr>
            </a:pPr>
            <a:r>
              <a:t>A trusted RLS query broker</a:t>
            </a:r>
          </a:p>
        </p:txBody>
      </p:sp>
      <p:sp>
        <p:nvSpPr>
          <p:cNvPr id="10" name="Panel"/>
          <p:cNvSpPr/>
          <p:nvPr/>
        </p:nvSpPr>
        <p:spPr>
          <a:xfrm>
            <a:off x="585216" y="5733288"/>
            <a:ext cx="11018520" cy="539496"/>
          </a:xfrm>
          <a:prstGeom prst="rect">
            <a:avLst/>
          </a:prstGeom>
          <a:solidFill>
            <a:srgbClr val="E8F6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
          <p:cNvSpPr txBox="1"/>
          <p:nvPr/>
        </p:nvSpPr>
        <p:spPr>
          <a:xfrm>
            <a:off x="768096" y="5824727"/>
            <a:ext cx="10652760" cy="384048"/>
          </a:xfrm>
          <a:prstGeom prst="rect">
            <a:avLst/>
          </a:prstGeom>
          <a:noFill/>
        </p:spPr>
        <p:txBody>
          <a:bodyPr wrap="square" lIns="0" rIns="0" tIns="0" bIns="0">
            <a:spAutoFit/>
          </a:bodyPr>
          <a:lstStyle/>
          <a:p>
            <a:pPr algn="l">
              <a:spcBef>
                <a:spcPts val="0"/>
              </a:spcBef>
              <a:spcAft>
                <a:spcPts val="500"/>
              </a:spcAft>
              <a:defRPr sz="2100" b="1">
                <a:solidFill>
                  <a:srgbClr val="29353D"/>
                </a:solidFill>
                <a:latin typeface="Segoe UI"/>
              </a:defRPr>
            </a:pPr>
            <a:r>
              <a:t>A new way to consume the model, not a new identity system.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29353D"/>
        </a:solidFill>
        <a:effectLst/>
      </p:bgPr>
    </p:bg>
    <p:spTree>
      <p:nvGrpSpPr>
        <p:cNvPr id="1" name=""/>
        <p:cNvGrpSpPr/>
        <p:nvPr/>
      </p:nvGrpSpPr>
      <p:grpSpPr/>
      <p:sp>
        <p:nvSpPr>
          <p:cNvPr id="2" name="Slide title"/>
          <p:cNvSpPr txBox="1"/>
          <p:nvPr/>
        </p:nvSpPr>
        <p:spPr>
          <a:xfrm>
            <a:off x="585216" y="420624"/>
            <a:ext cx="11018520" cy="786384"/>
          </a:xfrm>
          <a:prstGeom prst="rect">
            <a:avLst/>
          </a:prstGeom>
          <a:noFill/>
        </p:spPr>
        <p:txBody>
          <a:bodyPr wrap="square" lIns="0" rIns="0" tIns="0" bIns="0">
            <a:spAutoFit/>
          </a:bodyPr>
          <a:lstStyle/>
          <a:p>
            <a:pPr algn="l">
              <a:spcBef>
                <a:spcPts val="0"/>
              </a:spcBef>
              <a:spcAft>
                <a:spcPts val="500"/>
              </a:spcAft>
              <a:defRPr sz="3000" b="0">
                <a:solidFill>
                  <a:srgbClr val="FFFFFF"/>
                </a:solidFill>
                <a:latin typeface="Segoe UI Semibold"/>
              </a:defRPr>
            </a:pPr>
            <a:r>
              <a:t>Your app owns identity. The model enforces access.</a:t>
            </a:r>
          </a:p>
        </p:txBody>
      </p:sp>
      <p:sp>
        <p:nvSpPr>
          <p:cNvPr id="3" name="Text"/>
          <p:cNvSpPr txBox="1"/>
          <p:nvPr/>
        </p:nvSpPr>
        <p:spPr>
          <a:xfrm>
            <a:off x="603504" y="1225296"/>
            <a:ext cx="10881360" cy="548640"/>
          </a:xfrm>
          <a:prstGeom prst="rect">
            <a:avLst/>
          </a:prstGeom>
          <a:noFill/>
        </p:spPr>
        <p:txBody>
          <a:bodyPr wrap="square" lIns="0" rIns="0" tIns="0" bIns="0">
            <a:spAutoFit/>
          </a:bodyPr>
          <a:lstStyle/>
          <a:p>
            <a:pPr algn="l">
              <a:spcBef>
                <a:spcPts val="0"/>
              </a:spcBef>
              <a:spcAft>
                <a:spcPts val="500"/>
              </a:spcAft>
              <a:defRPr sz="1700" b="0">
                <a:solidFill>
                  <a:srgbClr val="A9B8C0"/>
                </a:solidFill>
                <a:latin typeface="Segoe UI"/>
              </a:defRPr>
            </a:pPr>
            <a:r>
              <a:t>Proposed request path | Keep authorization outside the LLM.</a:t>
            </a:r>
          </a:p>
        </p:txBody>
      </p:sp>
      <p:sp>
        <p:nvSpPr>
          <p:cNvPr id="4" name="Text"/>
          <p:cNvSpPr txBox="1"/>
          <p:nvPr/>
        </p:nvSpPr>
        <p:spPr>
          <a:xfrm>
            <a:off x="603504" y="6483096"/>
            <a:ext cx="10972800" cy="201168"/>
          </a:xfrm>
          <a:prstGeom prst="rect">
            <a:avLst/>
          </a:prstGeom>
          <a:noFill/>
        </p:spPr>
        <p:txBody>
          <a:bodyPr wrap="square" lIns="0" rIns="0" tIns="0" bIns="0">
            <a:spAutoFit/>
          </a:bodyPr>
          <a:lstStyle/>
          <a:p>
            <a:pPr algn="l">
              <a:spcBef>
                <a:spcPts val="0"/>
              </a:spcBef>
              <a:spcAft>
                <a:spcPts val="500"/>
              </a:spcAft>
              <a:defRPr sz="900" b="0">
                <a:solidFill>
                  <a:srgbClr val="A9B8C0"/>
                </a:solidFill>
                <a:latin typeface="Segoe UI"/>
              </a:defRPr>
            </a:pPr>
            <a:r>
              <a:t>Sources: S1, S2, S3 | 28 September 2026</a:t>
            </a:r>
          </a:p>
        </p:txBody>
      </p:sp>
      <p:sp>
        <p:nvSpPr>
          <p:cNvPr id="5" name="zone-application"/>
          <p:cNvSpPr/>
          <p:nvPr/>
        </p:nvSpPr>
        <p:spPr>
          <a:xfrm>
            <a:off x="585216" y="1892807"/>
            <a:ext cx="6492240" cy="3575304"/>
          </a:xfrm>
          <a:prstGeom prst="rect">
            <a:avLst/>
          </a:prstGeom>
          <a:solidFill>
            <a:srgbClr val="35444E"/>
          </a:solidFill>
          <a:ln w="12700">
            <a:solidFill>
              <a:srgbClr val="A9B8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zone-fabric"/>
          <p:cNvSpPr/>
          <p:nvPr/>
        </p:nvSpPr>
        <p:spPr>
          <a:xfrm>
            <a:off x="8229600" y="1892807"/>
            <a:ext cx="3374136" cy="3575304"/>
          </a:xfrm>
          <a:prstGeom prst="rect">
            <a:avLst/>
          </a:prstGeom>
          <a:solidFill>
            <a:srgbClr val="35444E"/>
          </a:solidFill>
          <a:ln w="12700">
            <a:solidFill>
              <a:srgbClr val="A9B8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
          <p:cNvSpPr txBox="1"/>
          <p:nvPr/>
        </p:nvSpPr>
        <p:spPr>
          <a:xfrm>
            <a:off x="777240" y="2011680"/>
            <a:ext cx="3749039" cy="320040"/>
          </a:xfrm>
          <a:prstGeom prst="rect">
            <a:avLst/>
          </a:prstGeom>
          <a:noFill/>
        </p:spPr>
        <p:txBody>
          <a:bodyPr wrap="square" lIns="0" rIns="0" tIns="0" bIns="0">
            <a:spAutoFit/>
          </a:bodyPr>
          <a:lstStyle/>
          <a:p>
            <a:pPr algn="l">
              <a:spcBef>
                <a:spcPts val="0"/>
              </a:spcBef>
              <a:spcAft>
                <a:spcPts val="500"/>
              </a:spcAft>
              <a:defRPr sz="1600" b="0">
                <a:solidFill>
                  <a:srgbClr val="E6ECEF"/>
                </a:solidFill>
                <a:latin typeface="Segoe UI"/>
              </a:defRPr>
            </a:pPr>
            <a:r>
              <a:t>Your application responsibility</a:t>
            </a:r>
          </a:p>
        </p:txBody>
      </p:sp>
      <p:sp>
        <p:nvSpPr>
          <p:cNvPr id="8" name="Text"/>
          <p:cNvSpPr txBox="1"/>
          <p:nvPr/>
        </p:nvSpPr>
        <p:spPr>
          <a:xfrm>
            <a:off x="8403336" y="2011680"/>
            <a:ext cx="2999232" cy="320040"/>
          </a:xfrm>
          <a:prstGeom prst="rect">
            <a:avLst/>
          </a:prstGeom>
          <a:noFill/>
        </p:spPr>
        <p:txBody>
          <a:bodyPr wrap="square" lIns="0" rIns="0" tIns="0" bIns="0">
            <a:spAutoFit/>
          </a:bodyPr>
          <a:lstStyle/>
          <a:p>
            <a:pPr algn="l">
              <a:spcBef>
                <a:spcPts val="0"/>
              </a:spcBef>
              <a:spcAft>
                <a:spcPts val="500"/>
              </a:spcAft>
              <a:defRPr sz="1600" b="0">
                <a:solidFill>
                  <a:srgbClr val="E6ECEF"/>
                </a:solidFill>
                <a:latin typeface="Segoe UI"/>
              </a:defRPr>
            </a:pPr>
            <a:r>
              <a:t>Fabric / Power BI</a:t>
            </a:r>
          </a:p>
        </p:txBody>
      </p:sp>
      <p:grpSp>
        <p:nvGrpSpPr>
          <p:cNvPr id="9" name="node-app"/>
          <p:cNvGrpSpPr/>
          <p:nvPr/>
        </p:nvGrpSpPr>
        <p:grpSpPr>
          <a:xfrm>
            <a:off x="859536" y="3886200"/>
            <a:ext cx="2231136" cy="1298448"/>
            <a:chOff x="859536" y="3886200"/>
            <a:chExt cx="2231136" cy="1298448"/>
          </a:xfrm>
        </p:grpSpPr>
        <p:sp>
          <p:nvSpPr>
            <p:cNvPr id="10" name="Rounded Rectangle 9"/>
            <p:cNvSpPr/>
            <p:nvPr/>
          </p:nvSpPr>
          <p:spPr>
            <a:xfrm>
              <a:off x="859536" y="3886200"/>
              <a:ext cx="2231136" cy="1298448"/>
            </a:xfrm>
            <a:prstGeom prst="roundRect">
              <a:avLst>
                <a:gd name="adj" fmla="val 10000"/>
              </a:avLst>
            </a:prstGeom>
            <a:solidFill>
              <a:srgbClr val="35444E"/>
            </a:solidFill>
            <a:ln w="10160">
              <a:solidFill>
                <a:srgbClr val="A9B8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node-app-label"/>
            <p:cNvSpPr txBox="1"/>
            <p:nvPr/>
          </p:nvSpPr>
          <p:spPr>
            <a:xfrm>
              <a:off x="969264" y="4050791"/>
              <a:ext cx="2011680" cy="384048"/>
            </a:xfrm>
            <a:prstGeom prst="rect">
              <a:avLst/>
            </a:prstGeom>
            <a:noFill/>
          </p:spPr>
          <p:txBody>
            <a:bodyPr wrap="square" lIns="0" rIns="0" tIns="0" bIns="0">
              <a:spAutoFit/>
            </a:bodyPr>
            <a:lstStyle/>
            <a:p>
              <a:pPr algn="ctr">
                <a:spcBef>
                  <a:spcPts val="0"/>
                </a:spcBef>
                <a:spcAft>
                  <a:spcPts val="500"/>
                </a:spcAft>
                <a:defRPr sz="1800" b="1">
                  <a:solidFill>
                    <a:srgbClr val="FFFFFF"/>
                  </a:solidFill>
                  <a:latin typeface="Segoe UI"/>
                </a:defRPr>
              </a:pPr>
              <a:r>
                <a:t>Your app</a:t>
              </a:r>
            </a:p>
          </p:txBody>
        </p:sp>
        <p:sp>
          <p:nvSpPr>
            <p:cNvPr id="12" name="Text"/>
            <p:cNvSpPr txBox="1"/>
            <p:nvPr/>
          </p:nvSpPr>
          <p:spPr>
            <a:xfrm>
              <a:off x="969264" y="4480559"/>
              <a:ext cx="2011680" cy="649224"/>
            </a:xfrm>
            <a:prstGeom prst="rect">
              <a:avLst/>
            </a:prstGeom>
            <a:noFill/>
          </p:spPr>
          <p:txBody>
            <a:bodyPr wrap="square" lIns="0" rIns="0" tIns="0" bIns="0">
              <a:spAutoFit/>
            </a:bodyPr>
            <a:lstStyle/>
            <a:p>
              <a:pPr algn="ctr">
                <a:spcBef>
                  <a:spcPts val="0"/>
                </a:spcBef>
                <a:spcAft>
                  <a:spcPts val="500"/>
                </a:spcAft>
                <a:defRPr sz="1500" b="0">
                  <a:solidFill>
                    <a:srgbClr val="E6ECEF"/>
                  </a:solidFill>
                  <a:latin typeface="Segoe UI"/>
                </a:defRPr>
              </a:pPr>
              <a:r>
                <a:t>Existing login</a:t>
              </a:r>
            </a:p>
            <a:p>
              <a:pPr algn="ctr">
                <a:spcBef>
                  <a:spcPts val="0"/>
                </a:spcBef>
                <a:spcAft>
                  <a:spcPts val="500"/>
                </a:spcAft>
                <a:defRPr sz="1500" b="0">
                  <a:solidFill>
                    <a:srgbClr val="E6ECEF"/>
                  </a:solidFill>
                  <a:latin typeface="Segoe UI"/>
                </a:defRPr>
              </a:pPr>
              <a:r>
                <a:t>and entitlements</a:t>
              </a:r>
            </a:p>
          </p:txBody>
        </p:sp>
      </p:grpSp>
      <p:grpSp>
        <p:nvGrpSpPr>
          <p:cNvPr id="13" name="node-planner"/>
          <p:cNvGrpSpPr/>
          <p:nvPr/>
        </p:nvGrpSpPr>
        <p:grpSpPr>
          <a:xfrm>
            <a:off x="4297680" y="2395728"/>
            <a:ext cx="2432304" cy="1207008"/>
            <a:chOff x="4297680" y="2395728"/>
            <a:chExt cx="2432304" cy="1207008"/>
          </a:xfrm>
        </p:grpSpPr>
        <p:sp>
          <p:nvSpPr>
            <p:cNvPr id="14" name="Rounded Rectangle 13"/>
            <p:cNvSpPr/>
            <p:nvPr/>
          </p:nvSpPr>
          <p:spPr>
            <a:xfrm>
              <a:off x="4297680" y="2395728"/>
              <a:ext cx="2432304" cy="1207008"/>
            </a:xfrm>
            <a:prstGeom prst="roundRect">
              <a:avLst>
                <a:gd name="adj" fmla="val 10000"/>
              </a:avLst>
            </a:prstGeom>
            <a:solidFill>
              <a:srgbClr val="35444E"/>
            </a:solidFill>
            <a:ln w="10160">
              <a:solidFill>
                <a:srgbClr val="A9B8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node-planner-label"/>
            <p:cNvSpPr txBox="1"/>
            <p:nvPr/>
          </p:nvSpPr>
          <p:spPr>
            <a:xfrm>
              <a:off x="4407408" y="2560320"/>
              <a:ext cx="2212848" cy="384048"/>
            </a:xfrm>
            <a:prstGeom prst="rect">
              <a:avLst/>
            </a:prstGeom>
            <a:noFill/>
          </p:spPr>
          <p:txBody>
            <a:bodyPr wrap="square" lIns="0" rIns="0" tIns="0" bIns="0">
              <a:spAutoFit/>
            </a:bodyPr>
            <a:lstStyle/>
            <a:p>
              <a:pPr algn="ctr">
                <a:spcBef>
                  <a:spcPts val="0"/>
                </a:spcBef>
                <a:spcAft>
                  <a:spcPts val="500"/>
                </a:spcAft>
                <a:defRPr sz="1800" b="1">
                  <a:solidFill>
                    <a:srgbClr val="FFFFFF"/>
                  </a:solidFill>
                  <a:latin typeface="Segoe UI"/>
                </a:defRPr>
              </a:pPr>
              <a:r>
                <a:t>AI query planner</a:t>
              </a:r>
            </a:p>
          </p:txBody>
        </p:sp>
        <p:sp>
          <p:nvSpPr>
            <p:cNvPr id="16" name="Text"/>
            <p:cNvSpPr txBox="1"/>
            <p:nvPr/>
          </p:nvSpPr>
          <p:spPr>
            <a:xfrm>
              <a:off x="4407408" y="2990088"/>
              <a:ext cx="2212848" cy="557783"/>
            </a:xfrm>
            <a:prstGeom prst="rect">
              <a:avLst/>
            </a:prstGeom>
            <a:noFill/>
          </p:spPr>
          <p:txBody>
            <a:bodyPr wrap="square" lIns="0" rIns="0" tIns="0" bIns="0">
              <a:spAutoFit/>
            </a:bodyPr>
            <a:lstStyle/>
            <a:p>
              <a:pPr algn="ctr">
                <a:spcBef>
                  <a:spcPts val="0"/>
                </a:spcBef>
                <a:spcAft>
                  <a:spcPts val="500"/>
                </a:spcAft>
                <a:defRPr sz="1500" b="0">
                  <a:solidFill>
                    <a:srgbClr val="E6ECEF"/>
                  </a:solidFill>
                  <a:latin typeface="Segoe UI"/>
                </a:defRPr>
              </a:pPr>
              <a:r>
                <a:t>IQ schema + LLM</a:t>
              </a:r>
            </a:p>
          </p:txBody>
        </p:sp>
      </p:grpSp>
      <p:grpSp>
        <p:nvGrpSpPr>
          <p:cNvPr id="17" name="node-broker"/>
          <p:cNvGrpSpPr/>
          <p:nvPr/>
        </p:nvGrpSpPr>
        <p:grpSpPr>
          <a:xfrm>
            <a:off x="4297680" y="4069080"/>
            <a:ext cx="2432304" cy="1115568"/>
            <a:chOff x="4297680" y="4069080"/>
            <a:chExt cx="2432304" cy="1115568"/>
          </a:xfrm>
        </p:grpSpPr>
        <p:sp>
          <p:nvSpPr>
            <p:cNvPr id="18" name="Rounded Rectangle 17"/>
            <p:cNvSpPr/>
            <p:nvPr/>
          </p:nvSpPr>
          <p:spPr>
            <a:xfrm>
              <a:off x="4297680" y="4069080"/>
              <a:ext cx="2432304" cy="1115568"/>
            </a:xfrm>
            <a:prstGeom prst="roundRect">
              <a:avLst>
                <a:gd name="adj" fmla="val 10000"/>
              </a:avLst>
            </a:prstGeom>
            <a:solidFill>
              <a:srgbClr val="35444E"/>
            </a:solidFill>
            <a:ln w="10160">
              <a:solidFill>
                <a:srgbClr val="A9B8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node-broker-label"/>
            <p:cNvSpPr txBox="1"/>
            <p:nvPr/>
          </p:nvSpPr>
          <p:spPr>
            <a:xfrm>
              <a:off x="4407408" y="4233672"/>
              <a:ext cx="2212848" cy="384048"/>
            </a:xfrm>
            <a:prstGeom prst="rect">
              <a:avLst/>
            </a:prstGeom>
            <a:noFill/>
          </p:spPr>
          <p:txBody>
            <a:bodyPr wrap="square" lIns="0" rIns="0" tIns="0" bIns="0">
              <a:spAutoFit/>
            </a:bodyPr>
            <a:lstStyle/>
            <a:p>
              <a:pPr algn="ctr">
                <a:spcBef>
                  <a:spcPts val="0"/>
                </a:spcBef>
                <a:spcAft>
                  <a:spcPts val="500"/>
                </a:spcAft>
                <a:defRPr sz="1800" b="1">
                  <a:solidFill>
                    <a:srgbClr val="FFFFFF"/>
                  </a:solidFill>
                  <a:latin typeface="Segoe UI"/>
                </a:defRPr>
              </a:pPr>
              <a:r>
                <a:t>Trusted broker</a:t>
              </a:r>
            </a:p>
          </p:txBody>
        </p:sp>
        <p:sp>
          <p:nvSpPr>
            <p:cNvPr id="20" name="Text"/>
            <p:cNvSpPr txBox="1"/>
            <p:nvPr/>
          </p:nvSpPr>
          <p:spPr>
            <a:xfrm>
              <a:off x="4407408" y="4663440"/>
              <a:ext cx="2212848" cy="466344"/>
            </a:xfrm>
            <a:prstGeom prst="rect">
              <a:avLst/>
            </a:prstGeom>
            <a:noFill/>
          </p:spPr>
          <p:txBody>
            <a:bodyPr wrap="square" lIns="0" rIns="0" tIns="0" bIns="0">
              <a:spAutoFit/>
            </a:bodyPr>
            <a:lstStyle/>
            <a:p>
              <a:pPr algn="ctr">
                <a:spcBef>
                  <a:spcPts val="0"/>
                </a:spcBef>
                <a:spcAft>
                  <a:spcPts val="500"/>
                </a:spcAft>
                <a:defRPr sz="1500" b="0">
                  <a:solidFill>
                    <a:srgbClr val="E6ECEF"/>
                  </a:solidFill>
                  <a:latin typeface="Segoe UI"/>
                </a:defRPr>
              </a:pPr>
              <a:r>
                <a:t>Fixed role + user key</a:t>
              </a:r>
            </a:p>
          </p:txBody>
        </p:sp>
      </p:grpSp>
      <p:grpSp>
        <p:nvGrpSpPr>
          <p:cNvPr id="21" name="node-model"/>
          <p:cNvGrpSpPr/>
          <p:nvPr/>
        </p:nvGrpSpPr>
        <p:grpSpPr>
          <a:xfrm>
            <a:off x="8403336" y="3300984"/>
            <a:ext cx="2340864" cy="1883664"/>
            <a:chOff x="8403336" y="3300984"/>
            <a:chExt cx="2340864" cy="1883664"/>
          </a:xfrm>
        </p:grpSpPr>
        <p:sp>
          <p:nvSpPr>
            <p:cNvPr id="22" name="Rounded Rectangle 21"/>
            <p:cNvSpPr/>
            <p:nvPr/>
          </p:nvSpPr>
          <p:spPr>
            <a:xfrm>
              <a:off x="8403336" y="3300984"/>
              <a:ext cx="2340864" cy="1883664"/>
            </a:xfrm>
            <a:prstGeom prst="roundRect">
              <a:avLst>
                <a:gd name="adj" fmla="val 10000"/>
              </a:avLst>
            </a:prstGeom>
            <a:solidFill>
              <a:srgbClr val="35444E"/>
            </a:solidFill>
            <a:ln w="10160">
              <a:solidFill>
                <a:srgbClr val="A9B8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semantic_model_64_item.png"/>
            <p:cNvPicPr>
              <a:picLocks noChangeAspect="1"/>
            </p:cNvPicPr>
            <p:nvPr/>
          </p:nvPicPr>
          <p:blipFill>
            <a:blip r:embed="rId3"/>
            <a:stretch>
              <a:fillRect/>
            </a:stretch>
          </p:blipFill>
          <p:spPr>
            <a:xfrm>
              <a:off x="9345167" y="3429000"/>
              <a:ext cx="457200" cy="457200"/>
            </a:xfrm>
            <a:prstGeom prst="rect">
              <a:avLst/>
            </a:prstGeom>
          </p:spPr>
        </p:pic>
        <p:sp>
          <p:nvSpPr>
            <p:cNvPr id="24" name="node-model-label"/>
            <p:cNvSpPr txBox="1"/>
            <p:nvPr/>
          </p:nvSpPr>
          <p:spPr>
            <a:xfrm>
              <a:off x="8513063" y="3968496"/>
              <a:ext cx="2121408" cy="384048"/>
            </a:xfrm>
            <a:prstGeom prst="rect">
              <a:avLst/>
            </a:prstGeom>
            <a:noFill/>
          </p:spPr>
          <p:txBody>
            <a:bodyPr wrap="square" lIns="0" rIns="0" tIns="0" bIns="0">
              <a:spAutoFit/>
            </a:bodyPr>
            <a:lstStyle/>
            <a:p>
              <a:pPr algn="ctr">
                <a:spcBef>
                  <a:spcPts val="0"/>
                </a:spcBef>
                <a:spcAft>
                  <a:spcPts val="500"/>
                </a:spcAft>
                <a:defRPr sz="1800" b="1">
                  <a:solidFill>
                    <a:srgbClr val="FFFFFF"/>
                  </a:solidFill>
                  <a:latin typeface="Segoe UI"/>
                </a:defRPr>
              </a:pPr>
              <a:r>
                <a:t>Semantic Model</a:t>
              </a:r>
            </a:p>
          </p:txBody>
        </p:sp>
        <p:sp>
          <p:nvSpPr>
            <p:cNvPr id="25" name="Text"/>
            <p:cNvSpPr txBox="1"/>
            <p:nvPr/>
          </p:nvSpPr>
          <p:spPr>
            <a:xfrm>
              <a:off x="8513063" y="4398264"/>
              <a:ext cx="2121408" cy="731520"/>
            </a:xfrm>
            <a:prstGeom prst="rect">
              <a:avLst/>
            </a:prstGeom>
            <a:noFill/>
          </p:spPr>
          <p:txBody>
            <a:bodyPr wrap="square" lIns="0" rIns="0" tIns="0" bIns="0">
              <a:spAutoFit/>
            </a:bodyPr>
            <a:lstStyle/>
            <a:p>
              <a:pPr algn="ctr">
                <a:spcBef>
                  <a:spcPts val="0"/>
                </a:spcBef>
                <a:spcAft>
                  <a:spcPts val="500"/>
                </a:spcAft>
                <a:defRPr sz="1500" b="0">
                  <a:solidFill>
                    <a:srgbClr val="E6ECEF"/>
                  </a:solidFill>
                  <a:latin typeface="Segoe UI"/>
                </a:defRPr>
              </a:pPr>
              <a:r>
                <a:t>RLS-filtered rows</a:t>
              </a:r>
            </a:p>
          </p:txBody>
        </p:sp>
      </p:grpSp>
      <p:cxnSp>
        <p:nvCxnSpPr>
          <p:cNvPr id="26" name="edge-session"/>
          <p:cNvCxnSpPr>
            <a:stCxn id="9" idx="3"/>
            <a:endCxn id="17" idx="1"/>
          </p:cNvCxnSpPr>
          <p:nvPr/>
        </p:nvCxnSpPr>
        <p:spPr>
          <a:xfrm>
            <a:off x="3090672" y="4535424"/>
            <a:ext cx="1207008" cy="91440"/>
          </a:xfrm>
          <a:prstGeom prst="bentConnector3">
            <a:avLst/>
          </a:prstGeom>
          <a:ln w="20320">
            <a:solidFill>
              <a:srgbClr val="A9B8C0"/>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27" name="edge-dax"/>
          <p:cNvCxnSpPr>
            <a:stCxn id="13" idx="2"/>
            <a:endCxn id="17" idx="0"/>
          </p:cNvCxnSpPr>
          <p:nvPr/>
        </p:nvCxnSpPr>
        <p:spPr>
          <a:xfrm flipH="1">
            <a:off x="5513832" y="3602736"/>
            <a:ext cx="0" cy="466344"/>
          </a:xfrm>
          <a:prstGeom prst="line">
            <a:avLst/>
          </a:prstGeom>
          <a:ln w="20320">
            <a:solidFill>
              <a:srgbClr val="A9B8C0"/>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28" name="edge-execute"/>
          <p:cNvCxnSpPr>
            <a:stCxn id="17" idx="3"/>
            <a:endCxn id="21" idx="1"/>
          </p:cNvCxnSpPr>
          <p:nvPr/>
        </p:nvCxnSpPr>
        <p:spPr>
          <a:xfrm flipV="1">
            <a:off x="6729984" y="4242816"/>
            <a:ext cx="1673352" cy="384048"/>
          </a:xfrm>
          <a:prstGeom prst="bentConnector3">
            <a:avLst/>
          </a:prstGeom>
          <a:ln w="20320">
            <a:solidFill>
              <a:srgbClr val="A9B8C0"/>
            </a:solidFill>
            <a:tailEnd type="triangle" w="sm" len="sm"/>
          </a:ln>
        </p:spPr>
        <p:style>
          <a:lnRef idx="2">
            <a:schemeClr val="accent1"/>
          </a:lnRef>
          <a:fillRef idx="0">
            <a:schemeClr val="accent1"/>
          </a:fillRef>
          <a:effectRef idx="1">
            <a:schemeClr val="accent1"/>
          </a:effectRef>
          <a:fontRef idx="minor">
            <a:schemeClr val="tx1"/>
          </a:fontRef>
        </p:style>
      </p:cxnSp>
      <p:sp>
        <p:nvSpPr>
          <p:cNvPr id="29" name="Text"/>
          <p:cNvSpPr txBox="1"/>
          <p:nvPr/>
        </p:nvSpPr>
        <p:spPr>
          <a:xfrm>
            <a:off x="3108960" y="3739896"/>
            <a:ext cx="1115568" cy="585216"/>
          </a:xfrm>
          <a:prstGeom prst="rect">
            <a:avLst/>
          </a:prstGeom>
          <a:noFill/>
        </p:spPr>
        <p:txBody>
          <a:bodyPr wrap="square" lIns="0" rIns="0" tIns="0" bIns="0">
            <a:spAutoFit/>
          </a:bodyPr>
          <a:lstStyle/>
          <a:p>
            <a:pPr algn="ctr">
              <a:spcBef>
                <a:spcPts val="0"/>
              </a:spcBef>
              <a:spcAft>
                <a:spcPts val="500"/>
              </a:spcAft>
              <a:defRPr sz="1400" b="0">
                <a:solidFill>
                  <a:srgbClr val="E6ECEF"/>
                </a:solidFill>
                <a:latin typeface="Segoe UI"/>
              </a:defRPr>
            </a:pPr>
            <a:r>
              <a:t>Verified</a:t>
            </a:r>
          </a:p>
          <a:p>
            <a:pPr algn="ctr">
              <a:spcBef>
                <a:spcPts val="0"/>
              </a:spcBef>
              <a:spcAft>
                <a:spcPts val="500"/>
              </a:spcAft>
              <a:defRPr sz="1400" b="0">
                <a:solidFill>
                  <a:srgbClr val="E6ECEF"/>
                </a:solidFill>
                <a:latin typeface="Segoe UI"/>
              </a:defRPr>
            </a:pPr>
            <a:r>
              <a:t>app context</a:t>
            </a:r>
          </a:p>
        </p:txBody>
      </p:sp>
      <p:sp>
        <p:nvSpPr>
          <p:cNvPr id="30" name="Text"/>
          <p:cNvSpPr txBox="1"/>
          <p:nvPr/>
        </p:nvSpPr>
        <p:spPr>
          <a:xfrm>
            <a:off x="5678424" y="3703320"/>
            <a:ext cx="1261872" cy="274320"/>
          </a:xfrm>
          <a:prstGeom prst="rect">
            <a:avLst/>
          </a:prstGeom>
          <a:noFill/>
        </p:spPr>
        <p:txBody>
          <a:bodyPr wrap="square" lIns="0" rIns="0" tIns="0" bIns="0">
            <a:spAutoFit/>
          </a:bodyPr>
          <a:lstStyle/>
          <a:p>
            <a:pPr algn="l">
              <a:spcBef>
                <a:spcPts val="0"/>
              </a:spcBef>
              <a:spcAft>
                <a:spcPts val="500"/>
              </a:spcAft>
              <a:defRPr sz="1400" b="0">
                <a:solidFill>
                  <a:srgbClr val="E6ECEF"/>
                </a:solidFill>
                <a:latin typeface="Segoe UI"/>
              </a:defRPr>
            </a:pPr>
            <a:r>
              <a:t>DAX only</a:t>
            </a:r>
          </a:p>
        </p:txBody>
      </p:sp>
      <p:sp>
        <p:nvSpPr>
          <p:cNvPr id="31" name="Text"/>
          <p:cNvSpPr txBox="1"/>
          <p:nvPr/>
        </p:nvSpPr>
        <p:spPr>
          <a:xfrm>
            <a:off x="7114032" y="3630168"/>
            <a:ext cx="1005840" cy="640080"/>
          </a:xfrm>
          <a:prstGeom prst="rect">
            <a:avLst/>
          </a:prstGeom>
          <a:noFill/>
        </p:spPr>
        <p:txBody>
          <a:bodyPr wrap="square" lIns="0" rIns="0" tIns="0" bIns="0">
            <a:spAutoFit/>
          </a:bodyPr>
          <a:lstStyle/>
          <a:p>
            <a:pPr algn="ctr">
              <a:spcBef>
                <a:spcPts val="0"/>
              </a:spcBef>
              <a:spcAft>
                <a:spcPts val="500"/>
              </a:spcAft>
              <a:defRPr sz="1400" b="0">
                <a:solidFill>
                  <a:srgbClr val="E6ECEF"/>
                </a:solidFill>
                <a:latin typeface="Segoe UI"/>
              </a:defRPr>
            </a:pPr>
            <a:r>
              <a:t>DAX + role</a:t>
            </a:r>
          </a:p>
          <a:p>
            <a:pPr algn="ctr">
              <a:spcBef>
                <a:spcPts val="0"/>
              </a:spcBef>
              <a:spcAft>
                <a:spcPts val="500"/>
              </a:spcAft>
              <a:defRPr sz="1400" b="0">
                <a:solidFill>
                  <a:srgbClr val="E6ECEF"/>
                </a:solidFill>
                <a:latin typeface="Segoe UI"/>
              </a:defRPr>
            </a:pPr>
            <a:r>
              <a:t>+ user key</a:t>
            </a:r>
          </a:p>
        </p:txBody>
      </p:sp>
      <p:sp>
        <p:nvSpPr>
          <p:cNvPr id="32" name="Panel"/>
          <p:cNvSpPr/>
          <p:nvPr/>
        </p:nvSpPr>
        <p:spPr>
          <a:xfrm>
            <a:off x="585216" y="5733288"/>
            <a:ext cx="11018520" cy="539496"/>
          </a:xfrm>
          <a:prstGeom prst="rect">
            <a:avLst/>
          </a:prstGeom>
          <a:solidFill>
            <a:srgbClr val="3544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
          <p:cNvSpPr txBox="1"/>
          <p:nvPr/>
        </p:nvSpPr>
        <p:spPr>
          <a:xfrm>
            <a:off x="768096" y="5824727"/>
            <a:ext cx="10652760" cy="384048"/>
          </a:xfrm>
          <a:prstGeom prst="rect">
            <a:avLst/>
          </a:prstGeom>
          <a:noFill/>
        </p:spPr>
        <p:txBody>
          <a:bodyPr wrap="square" lIns="0" rIns="0" tIns="0" bIns="0">
            <a:spAutoFit/>
          </a:bodyPr>
          <a:lstStyle/>
          <a:p>
            <a:pPr algn="l">
              <a:spcBef>
                <a:spcPts val="0"/>
              </a:spcBef>
              <a:spcAft>
                <a:spcPts val="500"/>
              </a:spcAft>
              <a:defRPr sz="2100" b="1">
                <a:solidFill>
                  <a:srgbClr val="FFFFFF"/>
                </a:solidFill>
                <a:latin typeface="Segoe UI"/>
              </a:defRPr>
            </a:pPr>
            <a:r>
              <a:t>Only RLS-filtered rows return to the application and its explanation step.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lide title"/>
          <p:cNvSpPr txBox="1"/>
          <p:nvPr/>
        </p:nvSpPr>
        <p:spPr>
          <a:xfrm>
            <a:off x="585216" y="420624"/>
            <a:ext cx="11018520" cy="786384"/>
          </a:xfrm>
          <a:prstGeom prst="rect">
            <a:avLst/>
          </a:prstGeom>
          <a:noFill/>
        </p:spPr>
        <p:txBody>
          <a:bodyPr wrap="square" lIns="0" rIns="0" tIns="0" bIns="0">
            <a:spAutoFit/>
          </a:bodyPr>
          <a:lstStyle/>
          <a:p>
            <a:pPr algn="l">
              <a:spcBef>
                <a:spcPts val="0"/>
              </a:spcBef>
              <a:spcAft>
                <a:spcPts val="500"/>
              </a:spcAft>
              <a:defRPr sz="3000" b="0">
                <a:solidFill>
                  <a:srgbClr val="29353D"/>
                </a:solidFill>
                <a:latin typeface="Segoe UI Semibold"/>
              </a:defRPr>
            </a:pPr>
            <a:r>
              <a:t>The application user is not the cloud credential.</a:t>
            </a:r>
          </a:p>
        </p:txBody>
      </p:sp>
      <p:sp>
        <p:nvSpPr>
          <p:cNvPr id="3" name="Text"/>
          <p:cNvSpPr txBox="1"/>
          <p:nvPr/>
        </p:nvSpPr>
        <p:spPr>
          <a:xfrm>
            <a:off x="603504" y="1225296"/>
            <a:ext cx="10881360" cy="548640"/>
          </a:xfrm>
          <a:prstGeom prst="rect">
            <a:avLst/>
          </a:prstGeom>
          <a:noFill/>
        </p:spPr>
        <p:txBody>
          <a:bodyPr wrap="square" lIns="0" rIns="0" tIns="0" bIns="0">
            <a:spAutoFit/>
          </a:bodyPr>
          <a:lstStyle/>
          <a:p>
            <a:pPr algn="l">
              <a:spcBef>
                <a:spcPts val="0"/>
              </a:spcBef>
              <a:spcAft>
                <a:spcPts val="500"/>
              </a:spcAft>
              <a:defRPr sz="1700" b="0">
                <a:solidFill>
                  <a:srgbClr val="6B7780"/>
                </a:solidFill>
                <a:latin typeface="Segoe UI"/>
              </a:defRPr>
            </a:pPr>
            <a:r>
              <a:t>Four separate contexts. No external-user Entra onboarding in this proposed design.</a:t>
            </a:r>
          </a:p>
        </p:txBody>
      </p:sp>
      <p:sp>
        <p:nvSpPr>
          <p:cNvPr id="4" name="Text"/>
          <p:cNvSpPr txBox="1"/>
          <p:nvPr/>
        </p:nvSpPr>
        <p:spPr>
          <a:xfrm>
            <a:off x="603504" y="6483096"/>
            <a:ext cx="10972800" cy="201168"/>
          </a:xfrm>
          <a:prstGeom prst="rect">
            <a:avLst/>
          </a:prstGeom>
          <a:noFill/>
        </p:spPr>
        <p:txBody>
          <a:bodyPr wrap="square" lIns="0" rIns="0" tIns="0" bIns="0">
            <a:spAutoFit/>
          </a:bodyPr>
          <a:lstStyle/>
          <a:p>
            <a:pPr algn="l">
              <a:spcBef>
                <a:spcPts val="0"/>
              </a:spcBef>
              <a:spcAft>
                <a:spcPts val="500"/>
              </a:spcAft>
              <a:defRPr sz="900" b="0">
                <a:solidFill>
                  <a:srgbClr val="6B7780"/>
                </a:solidFill>
                <a:latin typeface="Segoe UI"/>
              </a:defRPr>
            </a:pPr>
            <a:r>
              <a:t>Sources: S1, S2, S3, S6 | 28 September 2026</a:t>
            </a:r>
          </a:p>
        </p:txBody>
      </p:sp>
      <p:sp>
        <p:nvSpPr>
          <p:cNvPr id="5" name="Panel"/>
          <p:cNvSpPr/>
          <p:nvPr/>
        </p:nvSpPr>
        <p:spPr>
          <a:xfrm>
            <a:off x="585216" y="1993392"/>
            <a:ext cx="11018520" cy="658368"/>
          </a:xfrm>
          <a:prstGeom prst="rect">
            <a:avLst/>
          </a:prstGeom>
          <a:solidFill>
            <a:srgbClr val="E8F6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
          <p:cNvSpPr txBox="1"/>
          <p:nvPr/>
        </p:nvSpPr>
        <p:spPr>
          <a:xfrm>
            <a:off x="777240" y="2148840"/>
            <a:ext cx="2496312" cy="365760"/>
          </a:xfrm>
          <a:prstGeom prst="rect">
            <a:avLst/>
          </a:prstGeom>
          <a:noFill/>
        </p:spPr>
        <p:txBody>
          <a:bodyPr wrap="square" lIns="0" rIns="0" tIns="0" bIns="0">
            <a:spAutoFit/>
          </a:bodyPr>
          <a:lstStyle/>
          <a:p>
            <a:pPr algn="l">
              <a:spcBef>
                <a:spcPts val="0"/>
              </a:spcBef>
              <a:spcAft>
                <a:spcPts val="500"/>
              </a:spcAft>
              <a:defRPr sz="1900" b="1">
                <a:solidFill>
                  <a:srgbClr val="00684A"/>
                </a:solidFill>
                <a:latin typeface="Segoe UI"/>
              </a:defRPr>
            </a:pPr>
            <a:r>
              <a:t>Application user</a:t>
            </a:r>
          </a:p>
        </p:txBody>
      </p:sp>
      <p:sp>
        <p:nvSpPr>
          <p:cNvPr id="7" name="Text"/>
          <p:cNvSpPr txBox="1"/>
          <p:nvPr/>
        </p:nvSpPr>
        <p:spPr>
          <a:xfrm>
            <a:off x="3483864" y="2157984"/>
            <a:ext cx="3657600" cy="356616"/>
          </a:xfrm>
          <a:prstGeom prst="rect">
            <a:avLst/>
          </a:prstGeom>
          <a:noFill/>
        </p:spPr>
        <p:txBody>
          <a:bodyPr wrap="square" lIns="0" rIns="0" tIns="0" bIns="0">
            <a:spAutoFit/>
          </a:bodyPr>
          <a:lstStyle/>
          <a:p>
            <a:pPr algn="l">
              <a:spcBef>
                <a:spcPts val="0"/>
              </a:spcBef>
              <a:spcAft>
                <a:spcPts val="500"/>
              </a:spcAft>
              <a:defRPr sz="1800" b="0">
                <a:solidFill>
                  <a:srgbClr val="29353D"/>
                </a:solidFill>
                <a:latin typeface="Segoe UI"/>
              </a:defRPr>
            </a:pPr>
            <a:r>
              <a:t>Your current login/session</a:t>
            </a:r>
          </a:p>
        </p:txBody>
      </p:sp>
      <p:sp>
        <p:nvSpPr>
          <p:cNvPr id="8" name="Text"/>
          <p:cNvSpPr txBox="1"/>
          <p:nvPr/>
        </p:nvSpPr>
        <p:spPr>
          <a:xfrm>
            <a:off x="7333488" y="2157984"/>
            <a:ext cx="4023360" cy="356616"/>
          </a:xfrm>
          <a:prstGeom prst="rect">
            <a:avLst/>
          </a:prstGeom>
          <a:noFill/>
        </p:spPr>
        <p:txBody>
          <a:bodyPr wrap="square" lIns="0" rIns="0" tIns="0" bIns="0">
            <a:spAutoFit/>
          </a:bodyPr>
          <a:lstStyle/>
          <a:p>
            <a:pPr algn="l">
              <a:spcBef>
                <a:spcPts val="0"/>
              </a:spcBef>
              <a:spcAft>
                <a:spcPts val="500"/>
              </a:spcAft>
              <a:defRPr sz="1800" b="0">
                <a:solidFill>
                  <a:srgbClr val="29353D"/>
                </a:solidFill>
                <a:latin typeface="Segoe UI"/>
              </a:defRPr>
            </a:pPr>
            <a:r>
              <a:t>Opaque user key drives RLS</a:t>
            </a:r>
          </a:p>
        </p:txBody>
      </p:sp>
      <p:sp>
        <p:nvSpPr>
          <p:cNvPr id="9" name="Panel"/>
          <p:cNvSpPr/>
          <p:nvPr/>
        </p:nvSpPr>
        <p:spPr>
          <a:xfrm>
            <a:off x="585216" y="2779776"/>
            <a:ext cx="11018520" cy="658368"/>
          </a:xfrm>
          <a:prstGeom prst="rect">
            <a:avLst/>
          </a:prstGeom>
          <a:solidFill>
            <a:srgbClr val="EC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
          <p:cNvSpPr txBox="1"/>
          <p:nvPr/>
        </p:nvSpPr>
        <p:spPr>
          <a:xfrm>
            <a:off x="777240" y="2935224"/>
            <a:ext cx="2496312" cy="365760"/>
          </a:xfrm>
          <a:prstGeom prst="rect">
            <a:avLst/>
          </a:prstGeom>
          <a:noFill/>
        </p:spPr>
        <p:txBody>
          <a:bodyPr wrap="square" lIns="0" rIns="0" tIns="0" bIns="0">
            <a:spAutoFit/>
          </a:bodyPr>
          <a:lstStyle/>
          <a:p>
            <a:pPr algn="l">
              <a:spcBef>
                <a:spcPts val="0"/>
              </a:spcBef>
              <a:spcAft>
                <a:spcPts val="500"/>
              </a:spcAft>
              <a:defRPr sz="1900" b="1">
                <a:solidFill>
                  <a:srgbClr val="29353D"/>
                </a:solidFill>
                <a:latin typeface="Segoe UI"/>
              </a:defRPr>
            </a:pPr>
            <a:r>
              <a:t>IQ metadata caller</a:t>
            </a:r>
          </a:p>
        </p:txBody>
      </p:sp>
      <p:sp>
        <p:nvSpPr>
          <p:cNvPr id="11" name="Text"/>
          <p:cNvSpPr txBox="1"/>
          <p:nvPr/>
        </p:nvSpPr>
        <p:spPr>
          <a:xfrm>
            <a:off x="3483864" y="2944368"/>
            <a:ext cx="3657600" cy="356616"/>
          </a:xfrm>
          <a:prstGeom prst="rect">
            <a:avLst/>
          </a:prstGeom>
          <a:noFill/>
        </p:spPr>
        <p:txBody>
          <a:bodyPr wrap="square" lIns="0" rIns="0" tIns="0" bIns="0">
            <a:spAutoFit/>
          </a:bodyPr>
          <a:lstStyle/>
          <a:p>
            <a:pPr algn="l">
              <a:spcBef>
                <a:spcPts val="0"/>
              </a:spcBef>
              <a:spcAft>
                <a:spcPts val="500"/>
              </a:spcAft>
              <a:defRPr sz="1800" b="0">
                <a:solidFill>
                  <a:srgbClr val="29353D"/>
                </a:solidFill>
                <a:latin typeface="Segoe UI"/>
              </a:defRPr>
            </a:pPr>
            <a:r>
              <a:t>Delegated Entra account</a:t>
            </a:r>
          </a:p>
        </p:txBody>
      </p:sp>
      <p:sp>
        <p:nvSpPr>
          <p:cNvPr id="12" name="Text"/>
          <p:cNvSpPr txBox="1"/>
          <p:nvPr/>
        </p:nvSpPr>
        <p:spPr>
          <a:xfrm>
            <a:off x="7333488" y="2944368"/>
            <a:ext cx="4023360" cy="356616"/>
          </a:xfrm>
          <a:prstGeom prst="rect">
            <a:avLst/>
          </a:prstGeom>
          <a:noFill/>
        </p:spPr>
        <p:txBody>
          <a:bodyPr wrap="square" lIns="0" rIns="0" tIns="0" bIns="0">
            <a:spAutoFit/>
          </a:bodyPr>
          <a:lstStyle/>
          <a:p>
            <a:pPr algn="l">
              <a:spcBef>
                <a:spcPts val="0"/>
              </a:spcBef>
              <a:spcAft>
                <a:spcPts val="500"/>
              </a:spcAft>
              <a:defRPr sz="1800" b="0">
                <a:solidFill>
                  <a:srgbClr val="29353D"/>
                </a:solidFill>
                <a:latin typeface="Segoe UI"/>
              </a:defRPr>
            </a:pPr>
            <a:r>
              <a:t>Reads approved model schema</a:t>
            </a:r>
          </a:p>
        </p:txBody>
      </p:sp>
      <p:sp>
        <p:nvSpPr>
          <p:cNvPr id="13" name="Panel"/>
          <p:cNvSpPr/>
          <p:nvPr/>
        </p:nvSpPr>
        <p:spPr>
          <a:xfrm>
            <a:off x="585216" y="3566160"/>
            <a:ext cx="11018520" cy="658368"/>
          </a:xfrm>
          <a:prstGeom prst="rect">
            <a:avLst/>
          </a:prstGeom>
          <a:solidFill>
            <a:srgbClr val="EEF6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
          <p:cNvSpPr txBox="1"/>
          <p:nvPr/>
        </p:nvSpPr>
        <p:spPr>
          <a:xfrm>
            <a:off x="777240" y="3721608"/>
            <a:ext cx="2496312" cy="365760"/>
          </a:xfrm>
          <a:prstGeom prst="rect">
            <a:avLst/>
          </a:prstGeom>
          <a:noFill/>
        </p:spPr>
        <p:txBody>
          <a:bodyPr wrap="square" lIns="0" rIns="0" tIns="0" bIns="0">
            <a:spAutoFit/>
          </a:bodyPr>
          <a:lstStyle/>
          <a:p>
            <a:pPr algn="l">
              <a:spcBef>
                <a:spcPts val="0"/>
              </a:spcBef>
              <a:spcAft>
                <a:spcPts val="500"/>
              </a:spcAft>
              <a:defRPr sz="1900" b="1">
                <a:solidFill>
                  <a:srgbClr val="29353D"/>
                </a:solidFill>
                <a:latin typeface="Segoe UI"/>
              </a:defRPr>
            </a:pPr>
            <a:r>
              <a:t>Query executor</a:t>
            </a:r>
          </a:p>
        </p:txBody>
      </p:sp>
      <p:sp>
        <p:nvSpPr>
          <p:cNvPr id="15" name="Text"/>
          <p:cNvSpPr txBox="1"/>
          <p:nvPr/>
        </p:nvSpPr>
        <p:spPr>
          <a:xfrm>
            <a:off x="3483864" y="3730752"/>
            <a:ext cx="3657600" cy="356616"/>
          </a:xfrm>
          <a:prstGeom prst="rect">
            <a:avLst/>
          </a:prstGeom>
          <a:noFill/>
        </p:spPr>
        <p:txBody>
          <a:bodyPr wrap="square" lIns="0" rIns="0" tIns="0" bIns="0">
            <a:spAutoFit/>
          </a:bodyPr>
          <a:lstStyle/>
          <a:p>
            <a:pPr algn="l">
              <a:spcBef>
                <a:spcPts val="0"/>
              </a:spcBef>
              <a:spcAft>
                <a:spcPts val="500"/>
              </a:spcAft>
              <a:defRPr sz="1800" b="0">
                <a:solidFill>
                  <a:srgbClr val="29353D"/>
                </a:solidFill>
                <a:latin typeface="Segoe UI"/>
              </a:defRPr>
            </a:pPr>
            <a:r>
              <a:t>Service principal + certificate</a:t>
            </a:r>
          </a:p>
        </p:txBody>
      </p:sp>
      <p:sp>
        <p:nvSpPr>
          <p:cNvPr id="16" name="Text"/>
          <p:cNvSpPr txBox="1"/>
          <p:nvPr/>
        </p:nvSpPr>
        <p:spPr>
          <a:xfrm>
            <a:off x="7333488" y="3730752"/>
            <a:ext cx="4023360" cy="356616"/>
          </a:xfrm>
          <a:prstGeom prst="rect">
            <a:avLst/>
          </a:prstGeom>
          <a:noFill/>
        </p:spPr>
        <p:txBody>
          <a:bodyPr wrap="square" lIns="0" rIns="0" tIns="0" bIns="0">
            <a:spAutoFit/>
          </a:bodyPr>
          <a:lstStyle/>
          <a:p>
            <a:pPr algn="l">
              <a:spcBef>
                <a:spcPts val="0"/>
              </a:spcBef>
              <a:spcAft>
                <a:spcPts val="500"/>
              </a:spcAft>
              <a:defRPr sz="1800" b="0">
                <a:solidFill>
                  <a:srgbClr val="29353D"/>
                </a:solidFill>
                <a:latin typeface="Segoe UI"/>
              </a:defRPr>
            </a:pPr>
            <a:r>
              <a:t>Submits DAX with role + key</a:t>
            </a:r>
          </a:p>
        </p:txBody>
      </p:sp>
      <p:sp>
        <p:nvSpPr>
          <p:cNvPr id="17" name="Panel"/>
          <p:cNvSpPr/>
          <p:nvPr/>
        </p:nvSpPr>
        <p:spPr>
          <a:xfrm>
            <a:off x="585216" y="4352544"/>
            <a:ext cx="11018520" cy="658368"/>
          </a:xfrm>
          <a:prstGeom prst="rect">
            <a:avLst/>
          </a:prstGeom>
          <a:solidFill>
            <a:srgbClr val="EC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
          <p:cNvSpPr txBox="1"/>
          <p:nvPr/>
        </p:nvSpPr>
        <p:spPr>
          <a:xfrm>
            <a:off x="777240" y="4507992"/>
            <a:ext cx="2496312" cy="365760"/>
          </a:xfrm>
          <a:prstGeom prst="rect">
            <a:avLst/>
          </a:prstGeom>
          <a:noFill/>
        </p:spPr>
        <p:txBody>
          <a:bodyPr wrap="square" lIns="0" rIns="0" tIns="0" bIns="0">
            <a:spAutoFit/>
          </a:bodyPr>
          <a:lstStyle/>
          <a:p>
            <a:pPr algn="l">
              <a:spcBef>
                <a:spcPts val="0"/>
              </a:spcBef>
              <a:spcAft>
                <a:spcPts val="500"/>
              </a:spcAft>
              <a:defRPr sz="1900" b="1">
                <a:solidFill>
                  <a:srgbClr val="29353D"/>
                </a:solidFill>
                <a:latin typeface="Segoe UI"/>
              </a:defRPr>
            </a:pPr>
            <a:r>
              <a:t>LLM service caller</a:t>
            </a:r>
          </a:p>
        </p:txBody>
      </p:sp>
      <p:sp>
        <p:nvSpPr>
          <p:cNvPr id="19" name="Text"/>
          <p:cNvSpPr txBox="1"/>
          <p:nvPr/>
        </p:nvSpPr>
        <p:spPr>
          <a:xfrm>
            <a:off x="3483864" y="4517136"/>
            <a:ext cx="3657600" cy="356616"/>
          </a:xfrm>
          <a:prstGeom prst="rect">
            <a:avLst/>
          </a:prstGeom>
          <a:noFill/>
        </p:spPr>
        <p:txBody>
          <a:bodyPr wrap="square" lIns="0" rIns="0" tIns="0" bIns="0">
            <a:spAutoFit/>
          </a:bodyPr>
          <a:lstStyle/>
          <a:p>
            <a:pPr algn="l">
              <a:spcBef>
                <a:spcPts val="0"/>
              </a:spcBef>
              <a:spcAft>
                <a:spcPts val="500"/>
              </a:spcAft>
              <a:defRPr sz="1800" b="0">
                <a:solidFill>
                  <a:srgbClr val="29353D"/>
                </a:solidFill>
                <a:latin typeface="Segoe UI"/>
              </a:defRPr>
            </a:pPr>
            <a:r>
              <a:t>Approved inference credential</a:t>
            </a:r>
          </a:p>
        </p:txBody>
      </p:sp>
      <p:sp>
        <p:nvSpPr>
          <p:cNvPr id="20" name="Text"/>
          <p:cNvSpPr txBox="1"/>
          <p:nvPr/>
        </p:nvSpPr>
        <p:spPr>
          <a:xfrm>
            <a:off x="7333488" y="4517136"/>
            <a:ext cx="4023360" cy="356616"/>
          </a:xfrm>
          <a:prstGeom prst="rect">
            <a:avLst/>
          </a:prstGeom>
          <a:noFill/>
        </p:spPr>
        <p:txBody>
          <a:bodyPr wrap="square" lIns="0" rIns="0" tIns="0" bIns="0">
            <a:spAutoFit/>
          </a:bodyPr>
          <a:lstStyle/>
          <a:p>
            <a:pPr algn="l">
              <a:spcBef>
                <a:spcPts val="0"/>
              </a:spcBef>
              <a:spcAft>
                <a:spcPts val="500"/>
              </a:spcAft>
              <a:defRPr sz="1800" b="0">
                <a:solidFill>
                  <a:srgbClr val="29353D"/>
                </a:solidFill>
                <a:latin typeface="Segoe UI"/>
              </a:defRPr>
            </a:pPr>
            <a:r>
              <a:t>Generates DAX; explains rows</a:t>
            </a:r>
          </a:p>
        </p:txBody>
      </p:sp>
      <p:sp>
        <p:nvSpPr>
          <p:cNvPr id="21" name="Panel"/>
          <p:cNvSpPr/>
          <p:nvPr/>
        </p:nvSpPr>
        <p:spPr>
          <a:xfrm>
            <a:off x="585216" y="5733288"/>
            <a:ext cx="11018520" cy="539496"/>
          </a:xfrm>
          <a:prstGeom prst="rect">
            <a:avLst/>
          </a:prstGeom>
          <a:solidFill>
            <a:srgbClr val="E8F6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
          <p:cNvSpPr txBox="1"/>
          <p:nvPr/>
        </p:nvSpPr>
        <p:spPr>
          <a:xfrm>
            <a:off x="768096" y="5824727"/>
            <a:ext cx="10652760" cy="384048"/>
          </a:xfrm>
          <a:prstGeom prst="rect">
            <a:avLst/>
          </a:prstGeom>
          <a:noFill/>
        </p:spPr>
        <p:txBody>
          <a:bodyPr wrap="square" lIns="0" rIns="0" tIns="0" bIns="0">
            <a:spAutoFit/>
          </a:bodyPr>
          <a:lstStyle/>
          <a:p>
            <a:pPr algn="l">
              <a:spcBef>
                <a:spcPts val="0"/>
              </a:spcBef>
              <a:spcAft>
                <a:spcPts val="500"/>
              </a:spcAft>
              <a:defRPr sz="2100" b="1">
                <a:solidFill>
                  <a:srgbClr val="29353D"/>
                </a:solidFill>
                <a:latin typeface="Segoe UI"/>
              </a:defRPr>
            </a:pPr>
            <a:r>
              <a:t>Keep cloud credentials in the backend; keep your users in your application.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lide title"/>
          <p:cNvSpPr txBox="1"/>
          <p:nvPr/>
        </p:nvSpPr>
        <p:spPr>
          <a:xfrm>
            <a:off x="585216" y="420624"/>
            <a:ext cx="11018520" cy="786384"/>
          </a:xfrm>
          <a:prstGeom prst="rect">
            <a:avLst/>
          </a:prstGeom>
          <a:noFill/>
        </p:spPr>
        <p:txBody>
          <a:bodyPr wrap="square" lIns="0" rIns="0" tIns="0" bIns="0">
            <a:spAutoFit/>
          </a:bodyPr>
          <a:lstStyle/>
          <a:p>
            <a:pPr algn="l">
              <a:spcBef>
                <a:spcPts val="0"/>
              </a:spcBef>
              <a:spcAft>
                <a:spcPts val="500"/>
              </a:spcAft>
              <a:defRPr sz="3000" b="0">
                <a:solidFill>
                  <a:srgbClr val="29353D"/>
                </a:solidFill>
                <a:latin typeface="Segoe UI Semibold"/>
              </a:defRPr>
            </a:pPr>
            <a:r>
              <a:t>IQ supplies context. Your broker controls execution.</a:t>
            </a:r>
          </a:p>
        </p:txBody>
      </p:sp>
      <p:sp>
        <p:nvSpPr>
          <p:cNvPr id="3" name="Text"/>
          <p:cNvSpPr txBox="1"/>
          <p:nvPr/>
        </p:nvSpPr>
        <p:spPr>
          <a:xfrm>
            <a:off x="603504" y="1225296"/>
            <a:ext cx="10881360" cy="548640"/>
          </a:xfrm>
          <a:prstGeom prst="rect">
            <a:avLst/>
          </a:prstGeom>
          <a:noFill/>
        </p:spPr>
        <p:txBody>
          <a:bodyPr wrap="square" lIns="0" rIns="0" tIns="0" bIns="0">
            <a:spAutoFit/>
          </a:bodyPr>
          <a:lstStyle/>
          <a:p>
            <a:pPr algn="l">
              <a:spcBef>
                <a:spcPts val="0"/>
              </a:spcBef>
              <a:spcAft>
                <a:spcPts val="500"/>
              </a:spcAft>
              <a:defRPr sz="1700" b="0">
                <a:solidFill>
                  <a:srgbClr val="6B7780"/>
                </a:solidFill>
                <a:latin typeface="Segoe UI"/>
              </a:defRPr>
            </a:pPr>
            <a:r>
              <a:t>Prepared questions still use live schema and real DAX generation.</a:t>
            </a:r>
          </a:p>
        </p:txBody>
      </p:sp>
      <p:sp>
        <p:nvSpPr>
          <p:cNvPr id="4" name="Text"/>
          <p:cNvSpPr txBox="1"/>
          <p:nvPr/>
        </p:nvSpPr>
        <p:spPr>
          <a:xfrm>
            <a:off x="603504" y="6483096"/>
            <a:ext cx="10972800" cy="201168"/>
          </a:xfrm>
          <a:prstGeom prst="rect">
            <a:avLst/>
          </a:prstGeom>
          <a:noFill/>
        </p:spPr>
        <p:txBody>
          <a:bodyPr wrap="square" lIns="0" rIns="0" tIns="0" bIns="0">
            <a:spAutoFit/>
          </a:bodyPr>
          <a:lstStyle/>
          <a:p>
            <a:pPr algn="l">
              <a:spcBef>
                <a:spcPts val="0"/>
              </a:spcBef>
              <a:spcAft>
                <a:spcPts val="500"/>
              </a:spcAft>
              <a:defRPr sz="900" b="0">
                <a:solidFill>
                  <a:srgbClr val="6B7780"/>
                </a:solidFill>
                <a:latin typeface="Segoe UI"/>
              </a:defRPr>
            </a:pPr>
            <a:r>
              <a:t>Sources: S1, S2, S6 | 28 September 2026</a:t>
            </a:r>
          </a:p>
        </p:txBody>
      </p:sp>
      <p:sp>
        <p:nvSpPr>
          <p:cNvPr id="5" name="Text"/>
          <p:cNvSpPr txBox="1"/>
          <p:nvPr/>
        </p:nvSpPr>
        <p:spPr>
          <a:xfrm>
            <a:off x="658368" y="2249424"/>
            <a:ext cx="1554480" cy="585216"/>
          </a:xfrm>
          <a:prstGeom prst="rect">
            <a:avLst/>
          </a:prstGeom>
          <a:noFill/>
        </p:spPr>
        <p:txBody>
          <a:bodyPr wrap="square" lIns="0" rIns="0" tIns="0" bIns="0">
            <a:spAutoFit/>
          </a:bodyPr>
          <a:lstStyle/>
          <a:p>
            <a:pPr algn="l">
              <a:spcBef>
                <a:spcPts val="0"/>
              </a:spcBef>
              <a:spcAft>
                <a:spcPts val="500"/>
              </a:spcAft>
              <a:defRPr sz="3700" b="0">
                <a:solidFill>
                  <a:srgbClr val="0078D4"/>
                </a:solidFill>
                <a:latin typeface="Segoe UI Light"/>
              </a:defRPr>
            </a:pPr>
            <a:r>
              <a:t>01</a:t>
            </a:r>
          </a:p>
        </p:txBody>
      </p:sp>
      <p:sp>
        <p:nvSpPr>
          <p:cNvPr id="6" name="Text"/>
          <p:cNvSpPr txBox="1"/>
          <p:nvPr/>
        </p:nvSpPr>
        <p:spPr>
          <a:xfrm>
            <a:off x="658368" y="3008376"/>
            <a:ext cx="1984248" cy="758952"/>
          </a:xfrm>
          <a:prstGeom prst="rect">
            <a:avLst/>
          </a:prstGeom>
          <a:noFill/>
        </p:spPr>
        <p:txBody>
          <a:bodyPr wrap="square" lIns="0" rIns="0" tIns="0" bIns="0">
            <a:spAutoFit/>
          </a:bodyPr>
          <a:lstStyle/>
          <a:p>
            <a:pPr algn="l">
              <a:spcBef>
                <a:spcPts val="0"/>
              </a:spcBef>
              <a:spcAft>
                <a:spcPts val="500"/>
              </a:spcAft>
              <a:defRPr sz="2500" b="1">
                <a:solidFill>
                  <a:srgbClr val="29353D"/>
                </a:solidFill>
                <a:latin typeface="Segoe UI"/>
              </a:defRPr>
            </a:pPr>
            <a:r>
              <a:t>Read schema</a:t>
            </a:r>
          </a:p>
        </p:txBody>
      </p:sp>
      <p:sp>
        <p:nvSpPr>
          <p:cNvPr id="7" name="Text"/>
          <p:cNvSpPr txBox="1"/>
          <p:nvPr/>
        </p:nvSpPr>
        <p:spPr>
          <a:xfrm>
            <a:off x="658368" y="4023360"/>
            <a:ext cx="1993392" cy="685800"/>
          </a:xfrm>
          <a:prstGeom prst="rect">
            <a:avLst/>
          </a:prstGeom>
          <a:noFill/>
        </p:spPr>
        <p:txBody>
          <a:bodyPr wrap="square" lIns="0" rIns="0" tIns="0" bIns="0">
            <a:spAutoFit/>
          </a:bodyPr>
          <a:lstStyle/>
          <a:p>
            <a:pPr algn="l">
              <a:spcBef>
                <a:spcPts val="0"/>
              </a:spcBef>
              <a:spcAft>
                <a:spcPts val="500"/>
              </a:spcAft>
              <a:defRPr sz="1800" b="0">
                <a:solidFill>
                  <a:srgbClr val="6B7780"/>
                </a:solidFill>
                <a:latin typeface="Segoe UI"/>
              </a:defRPr>
            </a:pPr>
            <a:r>
              <a:t>Fabric IQ MCP</a:t>
            </a:r>
          </a:p>
        </p:txBody>
      </p:sp>
      <p:sp>
        <p:nvSpPr>
          <p:cNvPr id="8" name="Text"/>
          <p:cNvSpPr txBox="1"/>
          <p:nvPr/>
        </p:nvSpPr>
        <p:spPr>
          <a:xfrm>
            <a:off x="2560320" y="2359152"/>
            <a:ext cx="256032" cy="457200"/>
          </a:xfrm>
          <a:prstGeom prst="rect">
            <a:avLst/>
          </a:prstGeom>
          <a:noFill/>
        </p:spPr>
        <p:txBody>
          <a:bodyPr wrap="square" lIns="0" rIns="0" tIns="0" bIns="0">
            <a:spAutoFit/>
          </a:bodyPr>
          <a:lstStyle/>
          <a:p>
            <a:pPr algn="l">
              <a:spcBef>
                <a:spcPts val="0"/>
              </a:spcBef>
              <a:spcAft>
                <a:spcPts val="500"/>
              </a:spcAft>
              <a:defRPr sz="2300" b="0">
                <a:solidFill>
                  <a:srgbClr val="6B7780"/>
                </a:solidFill>
                <a:latin typeface="Segoe UI"/>
              </a:defRPr>
            </a:pPr>
            <a:r>
              <a:t>&gt;</a:t>
            </a:r>
          </a:p>
        </p:txBody>
      </p:sp>
      <p:sp>
        <p:nvSpPr>
          <p:cNvPr id="9" name="Text"/>
          <p:cNvSpPr txBox="1"/>
          <p:nvPr/>
        </p:nvSpPr>
        <p:spPr>
          <a:xfrm>
            <a:off x="2889504" y="2249424"/>
            <a:ext cx="1554480" cy="585216"/>
          </a:xfrm>
          <a:prstGeom prst="rect">
            <a:avLst/>
          </a:prstGeom>
          <a:noFill/>
        </p:spPr>
        <p:txBody>
          <a:bodyPr wrap="square" lIns="0" rIns="0" tIns="0" bIns="0">
            <a:spAutoFit/>
          </a:bodyPr>
          <a:lstStyle/>
          <a:p>
            <a:pPr algn="l">
              <a:spcBef>
                <a:spcPts val="0"/>
              </a:spcBef>
              <a:spcAft>
                <a:spcPts val="500"/>
              </a:spcAft>
              <a:defRPr sz="3700" b="0">
                <a:solidFill>
                  <a:srgbClr val="0078D4"/>
                </a:solidFill>
                <a:latin typeface="Segoe UI Light"/>
              </a:defRPr>
            </a:pPr>
            <a:r>
              <a:t>02</a:t>
            </a:r>
          </a:p>
        </p:txBody>
      </p:sp>
      <p:sp>
        <p:nvSpPr>
          <p:cNvPr id="10" name="Text"/>
          <p:cNvSpPr txBox="1"/>
          <p:nvPr/>
        </p:nvSpPr>
        <p:spPr>
          <a:xfrm>
            <a:off x="2889504" y="3008376"/>
            <a:ext cx="1984248" cy="758952"/>
          </a:xfrm>
          <a:prstGeom prst="rect">
            <a:avLst/>
          </a:prstGeom>
          <a:noFill/>
        </p:spPr>
        <p:txBody>
          <a:bodyPr wrap="square" lIns="0" rIns="0" tIns="0" bIns="0">
            <a:spAutoFit/>
          </a:bodyPr>
          <a:lstStyle/>
          <a:p>
            <a:pPr algn="l">
              <a:spcBef>
                <a:spcPts val="0"/>
              </a:spcBef>
              <a:spcAft>
                <a:spcPts val="500"/>
              </a:spcAft>
              <a:defRPr sz="2500" b="1">
                <a:solidFill>
                  <a:srgbClr val="29353D"/>
                </a:solidFill>
                <a:latin typeface="Segoe UI"/>
              </a:defRPr>
            </a:pPr>
            <a:r>
              <a:t>Generate DAX</a:t>
            </a:r>
          </a:p>
        </p:txBody>
      </p:sp>
      <p:sp>
        <p:nvSpPr>
          <p:cNvPr id="11" name="Text"/>
          <p:cNvSpPr txBox="1"/>
          <p:nvPr/>
        </p:nvSpPr>
        <p:spPr>
          <a:xfrm>
            <a:off x="2889504" y="4023360"/>
            <a:ext cx="1993392" cy="685800"/>
          </a:xfrm>
          <a:prstGeom prst="rect">
            <a:avLst/>
          </a:prstGeom>
          <a:noFill/>
        </p:spPr>
        <p:txBody>
          <a:bodyPr wrap="square" lIns="0" rIns="0" tIns="0" bIns="0">
            <a:spAutoFit/>
          </a:bodyPr>
          <a:lstStyle/>
          <a:p>
            <a:pPr algn="l">
              <a:spcBef>
                <a:spcPts val="0"/>
              </a:spcBef>
              <a:spcAft>
                <a:spcPts val="500"/>
              </a:spcAft>
              <a:defRPr sz="1800" b="0">
                <a:solidFill>
                  <a:srgbClr val="6B7780"/>
                </a:solidFill>
                <a:latin typeface="Segoe UI"/>
              </a:defRPr>
            </a:pPr>
            <a:r>
              <a:t>Your LLM</a:t>
            </a:r>
          </a:p>
        </p:txBody>
      </p:sp>
      <p:sp>
        <p:nvSpPr>
          <p:cNvPr id="12" name="Text"/>
          <p:cNvSpPr txBox="1"/>
          <p:nvPr/>
        </p:nvSpPr>
        <p:spPr>
          <a:xfrm>
            <a:off x="4791456" y="2359152"/>
            <a:ext cx="256032" cy="457200"/>
          </a:xfrm>
          <a:prstGeom prst="rect">
            <a:avLst/>
          </a:prstGeom>
          <a:noFill/>
        </p:spPr>
        <p:txBody>
          <a:bodyPr wrap="square" lIns="0" rIns="0" tIns="0" bIns="0">
            <a:spAutoFit/>
          </a:bodyPr>
          <a:lstStyle/>
          <a:p>
            <a:pPr algn="l">
              <a:spcBef>
                <a:spcPts val="0"/>
              </a:spcBef>
              <a:spcAft>
                <a:spcPts val="500"/>
              </a:spcAft>
              <a:defRPr sz="2300" b="0">
                <a:solidFill>
                  <a:srgbClr val="6B7780"/>
                </a:solidFill>
                <a:latin typeface="Segoe UI"/>
              </a:defRPr>
            </a:pPr>
            <a:r>
              <a:t>&gt;</a:t>
            </a:r>
          </a:p>
        </p:txBody>
      </p:sp>
      <p:sp>
        <p:nvSpPr>
          <p:cNvPr id="13" name="Text"/>
          <p:cNvSpPr txBox="1"/>
          <p:nvPr/>
        </p:nvSpPr>
        <p:spPr>
          <a:xfrm>
            <a:off x="5120640" y="2249424"/>
            <a:ext cx="1554480" cy="585216"/>
          </a:xfrm>
          <a:prstGeom prst="rect">
            <a:avLst/>
          </a:prstGeom>
          <a:noFill/>
        </p:spPr>
        <p:txBody>
          <a:bodyPr wrap="square" lIns="0" rIns="0" tIns="0" bIns="0">
            <a:spAutoFit/>
          </a:bodyPr>
          <a:lstStyle/>
          <a:p>
            <a:pPr algn="l">
              <a:spcBef>
                <a:spcPts val="0"/>
              </a:spcBef>
              <a:spcAft>
                <a:spcPts val="500"/>
              </a:spcAft>
              <a:defRPr sz="3700" b="0">
                <a:solidFill>
                  <a:srgbClr val="00684A"/>
                </a:solidFill>
                <a:latin typeface="Segoe UI Light"/>
              </a:defRPr>
            </a:pPr>
            <a:r>
              <a:t>03</a:t>
            </a:r>
          </a:p>
        </p:txBody>
      </p:sp>
      <p:sp>
        <p:nvSpPr>
          <p:cNvPr id="14" name="Text"/>
          <p:cNvSpPr txBox="1"/>
          <p:nvPr/>
        </p:nvSpPr>
        <p:spPr>
          <a:xfrm>
            <a:off x="5120640" y="3008376"/>
            <a:ext cx="1984248" cy="758952"/>
          </a:xfrm>
          <a:prstGeom prst="rect">
            <a:avLst/>
          </a:prstGeom>
          <a:noFill/>
        </p:spPr>
        <p:txBody>
          <a:bodyPr wrap="square" lIns="0" rIns="0" tIns="0" bIns="0">
            <a:spAutoFit/>
          </a:bodyPr>
          <a:lstStyle/>
          <a:p>
            <a:pPr algn="l">
              <a:spcBef>
                <a:spcPts val="0"/>
              </a:spcBef>
              <a:spcAft>
                <a:spcPts val="500"/>
              </a:spcAft>
              <a:defRPr sz="2500" b="1">
                <a:solidFill>
                  <a:srgbClr val="29353D"/>
                </a:solidFill>
                <a:latin typeface="Segoe UI"/>
              </a:defRPr>
            </a:pPr>
            <a:r>
              <a:t>Bind access</a:t>
            </a:r>
          </a:p>
        </p:txBody>
      </p:sp>
      <p:sp>
        <p:nvSpPr>
          <p:cNvPr id="15" name="Text"/>
          <p:cNvSpPr txBox="1"/>
          <p:nvPr/>
        </p:nvSpPr>
        <p:spPr>
          <a:xfrm>
            <a:off x="5120640" y="4023360"/>
            <a:ext cx="1993392" cy="685800"/>
          </a:xfrm>
          <a:prstGeom prst="rect">
            <a:avLst/>
          </a:prstGeom>
          <a:noFill/>
        </p:spPr>
        <p:txBody>
          <a:bodyPr wrap="square" lIns="0" rIns="0" tIns="0" bIns="0">
            <a:spAutoFit/>
          </a:bodyPr>
          <a:lstStyle/>
          <a:p>
            <a:pPr algn="l">
              <a:spcBef>
                <a:spcPts val="0"/>
              </a:spcBef>
              <a:spcAft>
                <a:spcPts val="500"/>
              </a:spcAft>
              <a:defRPr sz="1800" b="0">
                <a:solidFill>
                  <a:srgbClr val="6B7780"/>
                </a:solidFill>
                <a:latin typeface="Segoe UI"/>
              </a:defRPr>
            </a:pPr>
            <a:r>
              <a:t>Trusted broker</a:t>
            </a:r>
          </a:p>
        </p:txBody>
      </p:sp>
      <p:sp>
        <p:nvSpPr>
          <p:cNvPr id="16" name="Text"/>
          <p:cNvSpPr txBox="1"/>
          <p:nvPr/>
        </p:nvSpPr>
        <p:spPr>
          <a:xfrm>
            <a:off x="7022592" y="2359152"/>
            <a:ext cx="256032" cy="457200"/>
          </a:xfrm>
          <a:prstGeom prst="rect">
            <a:avLst/>
          </a:prstGeom>
          <a:noFill/>
        </p:spPr>
        <p:txBody>
          <a:bodyPr wrap="square" lIns="0" rIns="0" tIns="0" bIns="0">
            <a:spAutoFit/>
          </a:bodyPr>
          <a:lstStyle/>
          <a:p>
            <a:pPr algn="l">
              <a:spcBef>
                <a:spcPts val="0"/>
              </a:spcBef>
              <a:spcAft>
                <a:spcPts val="500"/>
              </a:spcAft>
              <a:defRPr sz="2300" b="0">
                <a:solidFill>
                  <a:srgbClr val="6B7780"/>
                </a:solidFill>
                <a:latin typeface="Segoe UI"/>
              </a:defRPr>
            </a:pPr>
            <a:r>
              <a:t>&gt;</a:t>
            </a:r>
          </a:p>
        </p:txBody>
      </p:sp>
      <p:sp>
        <p:nvSpPr>
          <p:cNvPr id="17" name="Text"/>
          <p:cNvSpPr txBox="1"/>
          <p:nvPr/>
        </p:nvSpPr>
        <p:spPr>
          <a:xfrm>
            <a:off x="7351776" y="2249424"/>
            <a:ext cx="1554480" cy="585216"/>
          </a:xfrm>
          <a:prstGeom prst="rect">
            <a:avLst/>
          </a:prstGeom>
          <a:noFill/>
        </p:spPr>
        <p:txBody>
          <a:bodyPr wrap="square" lIns="0" rIns="0" tIns="0" bIns="0">
            <a:spAutoFit/>
          </a:bodyPr>
          <a:lstStyle/>
          <a:p>
            <a:pPr algn="l">
              <a:spcBef>
                <a:spcPts val="0"/>
              </a:spcBef>
              <a:spcAft>
                <a:spcPts val="500"/>
              </a:spcAft>
              <a:defRPr sz="3700" b="0">
                <a:solidFill>
                  <a:srgbClr val="00684A"/>
                </a:solidFill>
                <a:latin typeface="Segoe UI Light"/>
              </a:defRPr>
            </a:pPr>
            <a:r>
              <a:t>04</a:t>
            </a:r>
          </a:p>
        </p:txBody>
      </p:sp>
      <p:sp>
        <p:nvSpPr>
          <p:cNvPr id="18" name="Text"/>
          <p:cNvSpPr txBox="1"/>
          <p:nvPr/>
        </p:nvSpPr>
        <p:spPr>
          <a:xfrm>
            <a:off x="7351776" y="3008376"/>
            <a:ext cx="1984248" cy="758952"/>
          </a:xfrm>
          <a:prstGeom prst="rect">
            <a:avLst/>
          </a:prstGeom>
          <a:noFill/>
        </p:spPr>
        <p:txBody>
          <a:bodyPr wrap="square" lIns="0" rIns="0" tIns="0" bIns="0">
            <a:spAutoFit/>
          </a:bodyPr>
          <a:lstStyle/>
          <a:p>
            <a:pPr algn="l">
              <a:spcBef>
                <a:spcPts val="0"/>
              </a:spcBef>
              <a:spcAft>
                <a:spcPts val="500"/>
              </a:spcAft>
              <a:defRPr sz="2500" b="1">
                <a:solidFill>
                  <a:srgbClr val="29353D"/>
                </a:solidFill>
                <a:latin typeface="Segoe UI"/>
              </a:defRPr>
            </a:pPr>
            <a:r>
              <a:t>Enforce RLS</a:t>
            </a:r>
          </a:p>
        </p:txBody>
      </p:sp>
      <p:sp>
        <p:nvSpPr>
          <p:cNvPr id="19" name="Text"/>
          <p:cNvSpPr txBox="1"/>
          <p:nvPr/>
        </p:nvSpPr>
        <p:spPr>
          <a:xfrm>
            <a:off x="7351776" y="4023360"/>
            <a:ext cx="1993392" cy="685800"/>
          </a:xfrm>
          <a:prstGeom prst="rect">
            <a:avLst/>
          </a:prstGeom>
          <a:noFill/>
        </p:spPr>
        <p:txBody>
          <a:bodyPr wrap="square" lIns="0" rIns="0" tIns="0" bIns="0">
            <a:spAutoFit/>
          </a:bodyPr>
          <a:lstStyle/>
          <a:p>
            <a:pPr algn="l">
              <a:spcBef>
                <a:spcPts val="0"/>
              </a:spcBef>
              <a:spcAft>
                <a:spcPts val="500"/>
              </a:spcAft>
              <a:defRPr sz="1800" b="0">
                <a:solidFill>
                  <a:srgbClr val="6B7780"/>
                </a:solidFill>
                <a:latin typeface="Segoe UI"/>
              </a:defRPr>
            </a:pPr>
            <a:r>
              <a:t>Semantic model</a:t>
            </a:r>
          </a:p>
        </p:txBody>
      </p:sp>
      <p:sp>
        <p:nvSpPr>
          <p:cNvPr id="20" name="Text"/>
          <p:cNvSpPr txBox="1"/>
          <p:nvPr/>
        </p:nvSpPr>
        <p:spPr>
          <a:xfrm>
            <a:off x="9253728" y="2359152"/>
            <a:ext cx="256032" cy="457200"/>
          </a:xfrm>
          <a:prstGeom prst="rect">
            <a:avLst/>
          </a:prstGeom>
          <a:noFill/>
        </p:spPr>
        <p:txBody>
          <a:bodyPr wrap="square" lIns="0" rIns="0" tIns="0" bIns="0">
            <a:spAutoFit/>
          </a:bodyPr>
          <a:lstStyle/>
          <a:p>
            <a:pPr algn="l">
              <a:spcBef>
                <a:spcPts val="0"/>
              </a:spcBef>
              <a:spcAft>
                <a:spcPts val="500"/>
              </a:spcAft>
              <a:defRPr sz="2300" b="0">
                <a:solidFill>
                  <a:srgbClr val="6B7780"/>
                </a:solidFill>
                <a:latin typeface="Segoe UI"/>
              </a:defRPr>
            </a:pPr>
            <a:r>
              <a:t>&gt;</a:t>
            </a:r>
          </a:p>
        </p:txBody>
      </p:sp>
      <p:sp>
        <p:nvSpPr>
          <p:cNvPr id="21" name="Text"/>
          <p:cNvSpPr txBox="1"/>
          <p:nvPr/>
        </p:nvSpPr>
        <p:spPr>
          <a:xfrm>
            <a:off x="9582912" y="2249424"/>
            <a:ext cx="1554480" cy="585216"/>
          </a:xfrm>
          <a:prstGeom prst="rect">
            <a:avLst/>
          </a:prstGeom>
          <a:noFill/>
        </p:spPr>
        <p:txBody>
          <a:bodyPr wrap="square" lIns="0" rIns="0" tIns="0" bIns="0">
            <a:spAutoFit/>
          </a:bodyPr>
          <a:lstStyle/>
          <a:p>
            <a:pPr algn="l">
              <a:spcBef>
                <a:spcPts val="0"/>
              </a:spcBef>
              <a:spcAft>
                <a:spcPts val="500"/>
              </a:spcAft>
              <a:defRPr sz="3700" b="0">
                <a:solidFill>
                  <a:srgbClr val="00684A"/>
                </a:solidFill>
                <a:latin typeface="Segoe UI Light"/>
              </a:defRPr>
            </a:pPr>
            <a:r>
              <a:t>05</a:t>
            </a:r>
          </a:p>
        </p:txBody>
      </p:sp>
      <p:sp>
        <p:nvSpPr>
          <p:cNvPr id="22" name="Text"/>
          <p:cNvSpPr txBox="1"/>
          <p:nvPr/>
        </p:nvSpPr>
        <p:spPr>
          <a:xfrm>
            <a:off x="9582912" y="3008376"/>
            <a:ext cx="1984248" cy="758952"/>
          </a:xfrm>
          <a:prstGeom prst="rect">
            <a:avLst/>
          </a:prstGeom>
          <a:noFill/>
        </p:spPr>
        <p:txBody>
          <a:bodyPr wrap="square" lIns="0" rIns="0" tIns="0" bIns="0">
            <a:spAutoFit/>
          </a:bodyPr>
          <a:lstStyle/>
          <a:p>
            <a:pPr algn="l">
              <a:spcBef>
                <a:spcPts val="0"/>
              </a:spcBef>
              <a:spcAft>
                <a:spcPts val="500"/>
              </a:spcAft>
              <a:defRPr sz="2500" b="1">
                <a:solidFill>
                  <a:srgbClr val="29353D"/>
                </a:solidFill>
                <a:latin typeface="Segoe UI"/>
              </a:defRPr>
            </a:pPr>
            <a:r>
              <a:t>Explain rows</a:t>
            </a:r>
          </a:p>
        </p:txBody>
      </p:sp>
      <p:sp>
        <p:nvSpPr>
          <p:cNvPr id="23" name="Text"/>
          <p:cNvSpPr txBox="1"/>
          <p:nvPr/>
        </p:nvSpPr>
        <p:spPr>
          <a:xfrm>
            <a:off x="9582912" y="4023360"/>
            <a:ext cx="1993392" cy="685800"/>
          </a:xfrm>
          <a:prstGeom prst="rect">
            <a:avLst/>
          </a:prstGeom>
          <a:noFill/>
        </p:spPr>
        <p:txBody>
          <a:bodyPr wrap="square" lIns="0" rIns="0" tIns="0" bIns="0">
            <a:spAutoFit/>
          </a:bodyPr>
          <a:lstStyle/>
          <a:p>
            <a:pPr algn="l">
              <a:spcBef>
                <a:spcPts val="0"/>
              </a:spcBef>
              <a:spcAft>
                <a:spcPts val="500"/>
              </a:spcAft>
              <a:defRPr sz="1800" b="0">
                <a:solidFill>
                  <a:srgbClr val="6B7780"/>
                </a:solidFill>
                <a:latin typeface="Segoe UI"/>
              </a:defRPr>
            </a:pPr>
            <a:r>
              <a:t>Your LLM</a:t>
            </a:r>
          </a:p>
        </p:txBody>
      </p:sp>
      <p:sp>
        <p:nvSpPr>
          <p:cNvPr id="24" name="Panel"/>
          <p:cNvSpPr/>
          <p:nvPr/>
        </p:nvSpPr>
        <p:spPr>
          <a:xfrm>
            <a:off x="585216" y="5733288"/>
            <a:ext cx="11018520" cy="539496"/>
          </a:xfrm>
          <a:prstGeom prst="rect">
            <a:avLst/>
          </a:prstGeom>
          <a:solidFill>
            <a:srgbClr val="E8F6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
          <p:cNvSpPr txBox="1"/>
          <p:nvPr/>
        </p:nvSpPr>
        <p:spPr>
          <a:xfrm>
            <a:off x="768096" y="5824727"/>
            <a:ext cx="10652760" cy="384048"/>
          </a:xfrm>
          <a:prstGeom prst="rect">
            <a:avLst/>
          </a:prstGeom>
          <a:noFill/>
        </p:spPr>
        <p:txBody>
          <a:bodyPr wrap="square" lIns="0" rIns="0" tIns="0" bIns="0">
            <a:spAutoFit/>
          </a:bodyPr>
          <a:lstStyle/>
          <a:p>
            <a:pPr algn="l">
              <a:spcBef>
                <a:spcPts val="0"/>
              </a:spcBef>
              <a:spcAft>
                <a:spcPts val="500"/>
              </a:spcAft>
              <a:defRPr sz="1900" b="1">
                <a:solidFill>
                  <a:srgbClr val="29353D"/>
                </a:solidFill>
                <a:latin typeface="Segoe UI"/>
              </a:defRPr>
            </a:pPr>
            <a:r>
              <a:t>Native IQ ExecuteQuery and ValueSearch are excluded from this application's path.</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lide title"/>
          <p:cNvSpPr txBox="1"/>
          <p:nvPr/>
        </p:nvSpPr>
        <p:spPr>
          <a:xfrm>
            <a:off x="585216" y="420624"/>
            <a:ext cx="11018520" cy="786384"/>
          </a:xfrm>
          <a:prstGeom prst="rect">
            <a:avLst/>
          </a:prstGeom>
          <a:noFill/>
        </p:spPr>
        <p:txBody>
          <a:bodyPr wrap="square" lIns="0" rIns="0" tIns="0" bIns="0">
            <a:spAutoFit/>
          </a:bodyPr>
          <a:lstStyle/>
          <a:p>
            <a:pPr algn="l">
              <a:spcBef>
                <a:spcPts val="0"/>
              </a:spcBef>
              <a:spcAft>
                <a:spcPts val="500"/>
              </a:spcAft>
              <a:defRPr sz="3000" b="0">
                <a:solidFill>
                  <a:srgbClr val="29353D"/>
                </a:solidFill>
                <a:latin typeface="Segoe UI Semibold"/>
              </a:defRPr>
            </a:pPr>
            <a:r>
              <a:t>A user key selects entitlements, not a prompt filter.</a:t>
            </a:r>
          </a:p>
        </p:txBody>
      </p:sp>
      <p:sp>
        <p:nvSpPr>
          <p:cNvPr id="3" name="Text"/>
          <p:cNvSpPr txBox="1"/>
          <p:nvPr/>
        </p:nvSpPr>
        <p:spPr>
          <a:xfrm>
            <a:off x="603504" y="1225296"/>
            <a:ext cx="10881360" cy="548640"/>
          </a:xfrm>
          <a:prstGeom prst="rect">
            <a:avLst/>
          </a:prstGeom>
          <a:noFill/>
        </p:spPr>
        <p:txBody>
          <a:bodyPr wrap="square" lIns="0" rIns="0" tIns="0" bIns="0">
            <a:spAutoFit/>
          </a:bodyPr>
          <a:lstStyle/>
          <a:p>
            <a:pPr algn="l">
              <a:spcBef>
                <a:spcPts val="0"/>
              </a:spcBef>
              <a:spcAft>
                <a:spcPts val="500"/>
              </a:spcAft>
              <a:defRPr sz="1700" b="0">
                <a:solidFill>
                  <a:srgbClr val="6B7780"/>
                </a:solidFill>
                <a:latin typeface="Segoe UI"/>
              </a:defRPr>
            </a:pPr>
            <a:r>
              <a:t>Inside the synthetic model: exact customer / product pairs, enforced by RLS.</a:t>
            </a:r>
          </a:p>
        </p:txBody>
      </p:sp>
      <p:sp>
        <p:nvSpPr>
          <p:cNvPr id="4" name="Text"/>
          <p:cNvSpPr txBox="1"/>
          <p:nvPr/>
        </p:nvSpPr>
        <p:spPr>
          <a:xfrm>
            <a:off x="603504" y="6483096"/>
            <a:ext cx="10972800" cy="201168"/>
          </a:xfrm>
          <a:prstGeom prst="rect">
            <a:avLst/>
          </a:prstGeom>
          <a:noFill/>
        </p:spPr>
        <p:txBody>
          <a:bodyPr wrap="square" lIns="0" rIns="0" tIns="0" bIns="0">
            <a:spAutoFit/>
          </a:bodyPr>
          <a:lstStyle/>
          <a:p>
            <a:pPr algn="l">
              <a:spcBef>
                <a:spcPts val="0"/>
              </a:spcBef>
              <a:spcAft>
                <a:spcPts val="500"/>
              </a:spcAft>
              <a:defRPr sz="900" b="0">
                <a:solidFill>
                  <a:srgbClr val="6B7780"/>
                </a:solidFill>
                <a:latin typeface="Segoe UI"/>
              </a:defRPr>
            </a:pPr>
            <a:r>
              <a:t>Sources: S2, E1 | 28 September 2026</a:t>
            </a:r>
          </a:p>
        </p:txBody>
      </p:sp>
      <p:sp>
        <p:nvSpPr>
          <p:cNvPr id="5" name="Text"/>
          <p:cNvSpPr txBox="1"/>
          <p:nvPr/>
        </p:nvSpPr>
        <p:spPr>
          <a:xfrm>
            <a:off x="676656" y="2148840"/>
            <a:ext cx="4663440" cy="640080"/>
          </a:xfrm>
          <a:prstGeom prst="rect">
            <a:avLst/>
          </a:prstGeom>
          <a:noFill/>
        </p:spPr>
        <p:txBody>
          <a:bodyPr wrap="square" lIns="0" rIns="0" tIns="0" bIns="0">
            <a:spAutoFit/>
          </a:bodyPr>
          <a:lstStyle/>
          <a:p>
            <a:pPr algn="l">
              <a:spcBef>
                <a:spcPts val="0"/>
              </a:spcBef>
              <a:spcAft>
                <a:spcPts val="500"/>
              </a:spcAft>
              <a:defRPr sz="2900" b="1">
                <a:solidFill>
                  <a:srgbClr val="0078D4"/>
                </a:solidFill>
                <a:latin typeface="Cascadia Mono"/>
              </a:defRPr>
            </a:pPr>
            <a:r>
              <a:t>app-user-pairs</a:t>
            </a:r>
          </a:p>
        </p:txBody>
      </p:sp>
      <p:sp>
        <p:nvSpPr>
          <p:cNvPr id="6" name="Text"/>
          <p:cNvSpPr txBox="1"/>
          <p:nvPr/>
        </p:nvSpPr>
        <p:spPr>
          <a:xfrm>
            <a:off x="685800" y="2971800"/>
            <a:ext cx="4069080" cy="1170432"/>
          </a:xfrm>
          <a:prstGeom prst="rect">
            <a:avLst/>
          </a:prstGeom>
          <a:noFill/>
        </p:spPr>
        <p:txBody>
          <a:bodyPr wrap="square" lIns="0" rIns="0" tIns="0" bIns="0">
            <a:spAutoFit/>
          </a:bodyPr>
          <a:lstStyle/>
          <a:p>
            <a:pPr algn="l">
              <a:spcBef>
                <a:spcPts val="0"/>
              </a:spcBef>
              <a:spcAft>
                <a:spcPts val="500"/>
              </a:spcAft>
              <a:defRPr sz="2500" b="0">
                <a:solidFill>
                  <a:srgbClr val="29353D"/>
                </a:solidFill>
                <a:latin typeface="Segoe UI"/>
              </a:defRPr>
            </a:pPr>
            <a:r>
              <a:t>CUSTOMDATA() resolves</a:t>
            </a:r>
          </a:p>
          <a:p>
            <a:pPr algn="l">
              <a:spcBef>
                <a:spcPts val="0"/>
              </a:spcBef>
              <a:spcAft>
                <a:spcPts val="500"/>
              </a:spcAft>
              <a:defRPr sz="2500" b="0">
                <a:solidFill>
                  <a:srgbClr val="29353D"/>
                </a:solidFill>
                <a:latin typeface="Segoe UI"/>
              </a:defRPr>
            </a:pPr>
            <a:r>
              <a:t>the approved scope set.</a:t>
            </a:r>
          </a:p>
        </p:txBody>
      </p:sp>
      <p:sp>
        <p:nvSpPr>
          <p:cNvPr id="7" name="Text"/>
          <p:cNvSpPr txBox="1"/>
          <p:nvPr/>
        </p:nvSpPr>
        <p:spPr>
          <a:xfrm>
            <a:off x="685800" y="4617720"/>
            <a:ext cx="4279392" cy="731520"/>
          </a:xfrm>
          <a:prstGeom prst="rect">
            <a:avLst/>
          </a:prstGeom>
          <a:noFill/>
        </p:spPr>
        <p:txBody>
          <a:bodyPr wrap="square" lIns="0" rIns="0" tIns="0" bIns="0">
            <a:spAutoFit/>
          </a:bodyPr>
          <a:lstStyle/>
          <a:p>
            <a:pPr algn="l">
              <a:spcBef>
                <a:spcPts val="0"/>
              </a:spcBef>
              <a:spcAft>
                <a:spcPts val="500"/>
              </a:spcAft>
              <a:defRPr sz="2100" b="1">
                <a:solidFill>
                  <a:srgbClr val="00684A"/>
                </a:solidFill>
                <a:latin typeface="Segoe UI"/>
              </a:defRPr>
            </a:pPr>
            <a:r>
              <a:t>The LLM cannot add an entitlement.</a:t>
            </a:r>
          </a:p>
        </p:txBody>
      </p:sp>
      <p:sp>
        <p:nvSpPr>
          <p:cNvPr id="8" name="Panel"/>
          <p:cNvSpPr/>
          <p:nvPr/>
        </p:nvSpPr>
        <p:spPr>
          <a:xfrm>
            <a:off x="5532120" y="1947672"/>
            <a:ext cx="5916168" cy="612648"/>
          </a:xfrm>
          <a:prstGeom prst="rect">
            <a:avLst/>
          </a:prstGeom>
          <a:solidFill>
            <a:srgbClr val="2935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
          <p:cNvSpPr txBox="1"/>
          <p:nvPr/>
        </p:nvSpPr>
        <p:spPr>
          <a:xfrm>
            <a:off x="5715000" y="2084831"/>
            <a:ext cx="1581912" cy="320040"/>
          </a:xfrm>
          <a:prstGeom prst="rect">
            <a:avLst/>
          </a:prstGeom>
          <a:noFill/>
        </p:spPr>
        <p:txBody>
          <a:bodyPr wrap="square" lIns="0" rIns="0" tIns="0" bIns="0">
            <a:spAutoFit/>
          </a:bodyPr>
          <a:lstStyle/>
          <a:p>
            <a:pPr algn="l">
              <a:spcBef>
                <a:spcPts val="0"/>
              </a:spcBef>
              <a:spcAft>
                <a:spcPts val="500"/>
              </a:spcAft>
              <a:defRPr sz="1800" b="1">
                <a:solidFill>
                  <a:srgbClr val="FFFFFF"/>
                </a:solidFill>
                <a:latin typeface="Segoe UI"/>
              </a:defRPr>
            </a:pPr>
            <a:r>
              <a:t>Customer</a:t>
            </a:r>
          </a:p>
        </p:txBody>
      </p:sp>
      <p:sp>
        <p:nvSpPr>
          <p:cNvPr id="10" name="Text"/>
          <p:cNvSpPr txBox="1"/>
          <p:nvPr/>
        </p:nvSpPr>
        <p:spPr>
          <a:xfrm>
            <a:off x="7552944" y="2084831"/>
            <a:ext cx="1536192" cy="320040"/>
          </a:xfrm>
          <a:prstGeom prst="rect">
            <a:avLst/>
          </a:prstGeom>
          <a:noFill/>
        </p:spPr>
        <p:txBody>
          <a:bodyPr wrap="square" lIns="0" rIns="0" tIns="0" bIns="0">
            <a:spAutoFit/>
          </a:bodyPr>
          <a:lstStyle/>
          <a:p>
            <a:pPr algn="l">
              <a:spcBef>
                <a:spcPts val="0"/>
              </a:spcBef>
              <a:spcAft>
                <a:spcPts val="500"/>
              </a:spcAft>
              <a:defRPr sz="1800" b="1">
                <a:solidFill>
                  <a:srgbClr val="FFFFFF"/>
                </a:solidFill>
                <a:latin typeface="Segoe UI"/>
              </a:defRPr>
            </a:pPr>
            <a:r>
              <a:t>Product</a:t>
            </a:r>
          </a:p>
        </p:txBody>
      </p:sp>
      <p:sp>
        <p:nvSpPr>
          <p:cNvPr id="11" name="Text"/>
          <p:cNvSpPr txBox="1"/>
          <p:nvPr/>
        </p:nvSpPr>
        <p:spPr>
          <a:xfrm>
            <a:off x="9354312" y="2084831"/>
            <a:ext cx="1837943" cy="320040"/>
          </a:xfrm>
          <a:prstGeom prst="rect">
            <a:avLst/>
          </a:prstGeom>
          <a:noFill/>
        </p:spPr>
        <p:txBody>
          <a:bodyPr wrap="square" lIns="0" rIns="0" tIns="0" bIns="0">
            <a:spAutoFit/>
          </a:bodyPr>
          <a:lstStyle/>
          <a:p>
            <a:pPr algn="l">
              <a:spcBef>
                <a:spcPts val="0"/>
              </a:spcBef>
              <a:spcAft>
                <a:spcPts val="500"/>
              </a:spcAft>
              <a:defRPr sz="1800" b="1">
                <a:solidFill>
                  <a:srgbClr val="FFFFFF"/>
                </a:solidFill>
                <a:latin typeface="Segoe UI"/>
              </a:defRPr>
            </a:pPr>
            <a:r>
              <a:t>This user</a:t>
            </a:r>
          </a:p>
        </p:txBody>
      </p:sp>
      <p:sp>
        <p:nvSpPr>
          <p:cNvPr id="12" name="Panel"/>
          <p:cNvSpPr/>
          <p:nvPr/>
        </p:nvSpPr>
        <p:spPr>
          <a:xfrm>
            <a:off x="5532120" y="2596896"/>
            <a:ext cx="5916168" cy="612648"/>
          </a:xfrm>
          <a:prstGeom prst="rect">
            <a:avLst/>
          </a:prstGeom>
          <a:solidFill>
            <a:srgbClr val="E8F6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
          <p:cNvSpPr txBox="1"/>
          <p:nvPr/>
        </p:nvSpPr>
        <p:spPr>
          <a:xfrm>
            <a:off x="5715000" y="2734056"/>
            <a:ext cx="1581912" cy="320040"/>
          </a:xfrm>
          <a:prstGeom prst="rect">
            <a:avLst/>
          </a:prstGeom>
          <a:noFill/>
        </p:spPr>
        <p:txBody>
          <a:bodyPr wrap="square" lIns="0" rIns="0" tIns="0" bIns="0">
            <a:spAutoFit/>
          </a:bodyPr>
          <a:lstStyle/>
          <a:p>
            <a:pPr algn="l">
              <a:spcBef>
                <a:spcPts val="0"/>
              </a:spcBef>
              <a:spcAft>
                <a:spcPts val="500"/>
              </a:spcAft>
              <a:defRPr sz="1800" b="0">
                <a:solidFill>
                  <a:srgbClr val="29353D"/>
                </a:solidFill>
                <a:latin typeface="Segoe UI"/>
              </a:defRPr>
            </a:pPr>
            <a:r>
              <a:t>A</a:t>
            </a:r>
          </a:p>
        </p:txBody>
      </p:sp>
      <p:sp>
        <p:nvSpPr>
          <p:cNvPr id="14" name="Text"/>
          <p:cNvSpPr txBox="1"/>
          <p:nvPr/>
        </p:nvSpPr>
        <p:spPr>
          <a:xfrm>
            <a:off x="7552944" y="2734056"/>
            <a:ext cx="1536192" cy="320040"/>
          </a:xfrm>
          <a:prstGeom prst="rect">
            <a:avLst/>
          </a:prstGeom>
          <a:noFill/>
        </p:spPr>
        <p:txBody>
          <a:bodyPr wrap="square" lIns="0" rIns="0" tIns="0" bIns="0">
            <a:spAutoFit/>
          </a:bodyPr>
          <a:lstStyle/>
          <a:p>
            <a:pPr algn="l">
              <a:spcBef>
                <a:spcPts val="0"/>
              </a:spcBef>
              <a:spcAft>
                <a:spcPts val="500"/>
              </a:spcAft>
              <a:defRPr sz="1800" b="0">
                <a:solidFill>
                  <a:srgbClr val="29353D"/>
                </a:solidFill>
                <a:latin typeface="Segoe UI"/>
              </a:defRPr>
            </a:pPr>
            <a:r>
              <a:t>Home</a:t>
            </a:r>
          </a:p>
        </p:txBody>
      </p:sp>
      <p:sp>
        <p:nvSpPr>
          <p:cNvPr id="15" name="Text"/>
          <p:cNvSpPr txBox="1"/>
          <p:nvPr/>
        </p:nvSpPr>
        <p:spPr>
          <a:xfrm>
            <a:off x="9354312" y="2734056"/>
            <a:ext cx="1837943" cy="320040"/>
          </a:xfrm>
          <a:prstGeom prst="rect">
            <a:avLst/>
          </a:prstGeom>
          <a:noFill/>
        </p:spPr>
        <p:txBody>
          <a:bodyPr wrap="square" lIns="0" rIns="0" tIns="0" bIns="0">
            <a:spAutoFit/>
          </a:bodyPr>
          <a:lstStyle/>
          <a:p>
            <a:pPr algn="l">
              <a:spcBef>
                <a:spcPts val="0"/>
              </a:spcBef>
              <a:spcAft>
                <a:spcPts val="500"/>
              </a:spcAft>
              <a:defRPr sz="1800" b="0">
                <a:solidFill>
                  <a:srgbClr val="29353D"/>
                </a:solidFill>
                <a:latin typeface="Segoe UI"/>
              </a:defRPr>
            </a:pPr>
            <a:r>
              <a:t>Allowed</a:t>
            </a:r>
          </a:p>
        </p:txBody>
      </p:sp>
      <p:sp>
        <p:nvSpPr>
          <p:cNvPr id="16" name="Panel"/>
          <p:cNvSpPr/>
          <p:nvPr/>
        </p:nvSpPr>
        <p:spPr>
          <a:xfrm>
            <a:off x="5532120" y="3246120"/>
            <a:ext cx="5916168" cy="612648"/>
          </a:xfrm>
          <a:prstGeom prst="rect">
            <a:avLst/>
          </a:prstGeom>
          <a:solidFill>
            <a:srgbClr val="E8F6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
          <p:cNvSpPr txBox="1"/>
          <p:nvPr/>
        </p:nvSpPr>
        <p:spPr>
          <a:xfrm>
            <a:off x="5715000" y="3383279"/>
            <a:ext cx="1581912" cy="320040"/>
          </a:xfrm>
          <a:prstGeom prst="rect">
            <a:avLst/>
          </a:prstGeom>
          <a:noFill/>
        </p:spPr>
        <p:txBody>
          <a:bodyPr wrap="square" lIns="0" rIns="0" tIns="0" bIns="0">
            <a:spAutoFit/>
          </a:bodyPr>
          <a:lstStyle/>
          <a:p>
            <a:pPr algn="l">
              <a:spcBef>
                <a:spcPts val="0"/>
              </a:spcBef>
              <a:spcAft>
                <a:spcPts val="500"/>
              </a:spcAft>
              <a:defRPr sz="1800" b="0">
                <a:solidFill>
                  <a:srgbClr val="29353D"/>
                </a:solidFill>
                <a:latin typeface="Segoe UI"/>
              </a:defRPr>
            </a:pPr>
            <a:r>
              <a:t>B</a:t>
            </a:r>
          </a:p>
        </p:txBody>
      </p:sp>
      <p:sp>
        <p:nvSpPr>
          <p:cNvPr id="18" name="Text"/>
          <p:cNvSpPr txBox="1"/>
          <p:nvPr/>
        </p:nvSpPr>
        <p:spPr>
          <a:xfrm>
            <a:off x="7552944" y="3383279"/>
            <a:ext cx="1536192" cy="320040"/>
          </a:xfrm>
          <a:prstGeom prst="rect">
            <a:avLst/>
          </a:prstGeom>
          <a:noFill/>
        </p:spPr>
        <p:txBody>
          <a:bodyPr wrap="square" lIns="0" rIns="0" tIns="0" bIns="0">
            <a:spAutoFit/>
          </a:bodyPr>
          <a:lstStyle/>
          <a:p>
            <a:pPr algn="l">
              <a:spcBef>
                <a:spcPts val="0"/>
              </a:spcBef>
              <a:spcAft>
                <a:spcPts val="500"/>
              </a:spcAft>
              <a:defRPr sz="1800" b="0">
                <a:solidFill>
                  <a:srgbClr val="29353D"/>
                </a:solidFill>
                <a:latin typeface="Segoe UI"/>
              </a:defRPr>
            </a:pPr>
            <a:r>
              <a:t>Auto</a:t>
            </a:r>
          </a:p>
        </p:txBody>
      </p:sp>
      <p:sp>
        <p:nvSpPr>
          <p:cNvPr id="19" name="Text"/>
          <p:cNvSpPr txBox="1"/>
          <p:nvPr/>
        </p:nvSpPr>
        <p:spPr>
          <a:xfrm>
            <a:off x="9354312" y="3383279"/>
            <a:ext cx="1837943" cy="320040"/>
          </a:xfrm>
          <a:prstGeom prst="rect">
            <a:avLst/>
          </a:prstGeom>
          <a:noFill/>
        </p:spPr>
        <p:txBody>
          <a:bodyPr wrap="square" lIns="0" rIns="0" tIns="0" bIns="0">
            <a:spAutoFit/>
          </a:bodyPr>
          <a:lstStyle/>
          <a:p>
            <a:pPr algn="l">
              <a:spcBef>
                <a:spcPts val="0"/>
              </a:spcBef>
              <a:spcAft>
                <a:spcPts val="500"/>
              </a:spcAft>
              <a:defRPr sz="1800" b="0">
                <a:solidFill>
                  <a:srgbClr val="29353D"/>
                </a:solidFill>
                <a:latin typeface="Segoe UI"/>
              </a:defRPr>
            </a:pPr>
            <a:r>
              <a:t>Allowed</a:t>
            </a:r>
          </a:p>
        </p:txBody>
      </p:sp>
      <p:sp>
        <p:nvSpPr>
          <p:cNvPr id="20" name="Panel"/>
          <p:cNvSpPr/>
          <p:nvPr/>
        </p:nvSpPr>
        <p:spPr>
          <a:xfrm>
            <a:off x="5532120" y="3895344"/>
            <a:ext cx="5916168" cy="612648"/>
          </a:xfrm>
          <a:prstGeom prst="rect">
            <a:avLst/>
          </a:prstGeom>
          <a:solidFill>
            <a:srgbClr val="EC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
          <p:cNvSpPr txBox="1"/>
          <p:nvPr/>
        </p:nvSpPr>
        <p:spPr>
          <a:xfrm>
            <a:off x="5715000" y="4032504"/>
            <a:ext cx="1581912" cy="320040"/>
          </a:xfrm>
          <a:prstGeom prst="rect">
            <a:avLst/>
          </a:prstGeom>
          <a:noFill/>
        </p:spPr>
        <p:txBody>
          <a:bodyPr wrap="square" lIns="0" rIns="0" tIns="0" bIns="0">
            <a:spAutoFit/>
          </a:bodyPr>
          <a:lstStyle/>
          <a:p>
            <a:pPr algn="l">
              <a:spcBef>
                <a:spcPts val="0"/>
              </a:spcBef>
              <a:spcAft>
                <a:spcPts val="500"/>
              </a:spcAft>
              <a:defRPr sz="1800" b="0">
                <a:solidFill>
                  <a:srgbClr val="29353D"/>
                </a:solidFill>
                <a:latin typeface="Segoe UI"/>
              </a:defRPr>
            </a:pPr>
            <a:r>
              <a:t>A</a:t>
            </a:r>
          </a:p>
        </p:txBody>
      </p:sp>
      <p:sp>
        <p:nvSpPr>
          <p:cNvPr id="22" name="Text"/>
          <p:cNvSpPr txBox="1"/>
          <p:nvPr/>
        </p:nvSpPr>
        <p:spPr>
          <a:xfrm>
            <a:off x="7552944" y="4032504"/>
            <a:ext cx="1536192" cy="320040"/>
          </a:xfrm>
          <a:prstGeom prst="rect">
            <a:avLst/>
          </a:prstGeom>
          <a:noFill/>
        </p:spPr>
        <p:txBody>
          <a:bodyPr wrap="square" lIns="0" rIns="0" tIns="0" bIns="0">
            <a:spAutoFit/>
          </a:bodyPr>
          <a:lstStyle/>
          <a:p>
            <a:pPr algn="l">
              <a:spcBef>
                <a:spcPts val="0"/>
              </a:spcBef>
              <a:spcAft>
                <a:spcPts val="500"/>
              </a:spcAft>
              <a:defRPr sz="1800" b="0">
                <a:solidFill>
                  <a:srgbClr val="29353D"/>
                </a:solidFill>
                <a:latin typeface="Segoe UI"/>
              </a:defRPr>
            </a:pPr>
            <a:r>
              <a:t>Auto</a:t>
            </a:r>
          </a:p>
        </p:txBody>
      </p:sp>
      <p:sp>
        <p:nvSpPr>
          <p:cNvPr id="23" name="Text"/>
          <p:cNvSpPr txBox="1"/>
          <p:nvPr/>
        </p:nvSpPr>
        <p:spPr>
          <a:xfrm>
            <a:off x="9354312" y="4032504"/>
            <a:ext cx="1837943" cy="320040"/>
          </a:xfrm>
          <a:prstGeom prst="rect">
            <a:avLst/>
          </a:prstGeom>
          <a:noFill/>
        </p:spPr>
        <p:txBody>
          <a:bodyPr wrap="square" lIns="0" rIns="0" tIns="0" bIns="0">
            <a:spAutoFit/>
          </a:bodyPr>
          <a:lstStyle/>
          <a:p>
            <a:pPr algn="l">
              <a:spcBef>
                <a:spcPts val="0"/>
              </a:spcBef>
              <a:spcAft>
                <a:spcPts val="500"/>
              </a:spcAft>
              <a:defRPr sz="1800" b="0">
                <a:solidFill>
                  <a:srgbClr val="29353D"/>
                </a:solidFill>
                <a:latin typeface="Segoe UI"/>
              </a:defRPr>
            </a:pPr>
            <a:r>
              <a:t>Not granted</a:t>
            </a:r>
          </a:p>
        </p:txBody>
      </p:sp>
      <p:sp>
        <p:nvSpPr>
          <p:cNvPr id="24" name="Panel"/>
          <p:cNvSpPr/>
          <p:nvPr/>
        </p:nvSpPr>
        <p:spPr>
          <a:xfrm>
            <a:off x="5532120" y="4544568"/>
            <a:ext cx="5916168" cy="612648"/>
          </a:xfrm>
          <a:prstGeom prst="rect">
            <a:avLst/>
          </a:prstGeom>
          <a:solidFill>
            <a:srgbClr val="EC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
          <p:cNvSpPr txBox="1"/>
          <p:nvPr/>
        </p:nvSpPr>
        <p:spPr>
          <a:xfrm>
            <a:off x="5715000" y="4681728"/>
            <a:ext cx="1581912" cy="320040"/>
          </a:xfrm>
          <a:prstGeom prst="rect">
            <a:avLst/>
          </a:prstGeom>
          <a:noFill/>
        </p:spPr>
        <p:txBody>
          <a:bodyPr wrap="square" lIns="0" rIns="0" tIns="0" bIns="0">
            <a:spAutoFit/>
          </a:bodyPr>
          <a:lstStyle/>
          <a:p>
            <a:pPr algn="l">
              <a:spcBef>
                <a:spcPts val="0"/>
              </a:spcBef>
              <a:spcAft>
                <a:spcPts val="500"/>
              </a:spcAft>
              <a:defRPr sz="1800" b="0">
                <a:solidFill>
                  <a:srgbClr val="29353D"/>
                </a:solidFill>
                <a:latin typeface="Segoe UI"/>
              </a:defRPr>
            </a:pPr>
            <a:r>
              <a:t>B</a:t>
            </a:r>
          </a:p>
        </p:txBody>
      </p:sp>
      <p:sp>
        <p:nvSpPr>
          <p:cNvPr id="26" name="Text"/>
          <p:cNvSpPr txBox="1"/>
          <p:nvPr/>
        </p:nvSpPr>
        <p:spPr>
          <a:xfrm>
            <a:off x="7552944" y="4681728"/>
            <a:ext cx="1536192" cy="320040"/>
          </a:xfrm>
          <a:prstGeom prst="rect">
            <a:avLst/>
          </a:prstGeom>
          <a:noFill/>
        </p:spPr>
        <p:txBody>
          <a:bodyPr wrap="square" lIns="0" rIns="0" tIns="0" bIns="0">
            <a:spAutoFit/>
          </a:bodyPr>
          <a:lstStyle/>
          <a:p>
            <a:pPr algn="l">
              <a:spcBef>
                <a:spcPts val="0"/>
              </a:spcBef>
              <a:spcAft>
                <a:spcPts val="500"/>
              </a:spcAft>
              <a:defRPr sz="1800" b="0">
                <a:solidFill>
                  <a:srgbClr val="29353D"/>
                </a:solidFill>
                <a:latin typeface="Segoe UI"/>
              </a:defRPr>
            </a:pPr>
            <a:r>
              <a:t>Home</a:t>
            </a:r>
          </a:p>
        </p:txBody>
      </p:sp>
      <p:sp>
        <p:nvSpPr>
          <p:cNvPr id="27" name="Text"/>
          <p:cNvSpPr txBox="1"/>
          <p:nvPr/>
        </p:nvSpPr>
        <p:spPr>
          <a:xfrm>
            <a:off x="9354312" y="4681728"/>
            <a:ext cx="1837943" cy="320040"/>
          </a:xfrm>
          <a:prstGeom prst="rect">
            <a:avLst/>
          </a:prstGeom>
          <a:noFill/>
        </p:spPr>
        <p:txBody>
          <a:bodyPr wrap="square" lIns="0" rIns="0" tIns="0" bIns="0">
            <a:spAutoFit/>
          </a:bodyPr>
          <a:lstStyle/>
          <a:p>
            <a:pPr algn="l">
              <a:spcBef>
                <a:spcPts val="0"/>
              </a:spcBef>
              <a:spcAft>
                <a:spcPts val="500"/>
              </a:spcAft>
              <a:defRPr sz="1800" b="0">
                <a:solidFill>
                  <a:srgbClr val="29353D"/>
                </a:solidFill>
                <a:latin typeface="Segoe UI"/>
              </a:defRPr>
            </a:pPr>
            <a:r>
              <a:t>Not granted</a:t>
            </a:r>
          </a:p>
        </p:txBody>
      </p:sp>
      <p:sp>
        <p:nvSpPr>
          <p:cNvPr id="28" name="Panel"/>
          <p:cNvSpPr/>
          <p:nvPr/>
        </p:nvSpPr>
        <p:spPr>
          <a:xfrm>
            <a:off x="585216" y="5733288"/>
            <a:ext cx="11018520" cy="539496"/>
          </a:xfrm>
          <a:prstGeom prst="rect">
            <a:avLst/>
          </a:prstGeom>
          <a:solidFill>
            <a:srgbClr val="E8F6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
          <p:cNvSpPr txBox="1"/>
          <p:nvPr/>
        </p:nvSpPr>
        <p:spPr>
          <a:xfrm>
            <a:off x="768096" y="5824727"/>
            <a:ext cx="10652760" cy="384048"/>
          </a:xfrm>
          <a:prstGeom prst="rect">
            <a:avLst/>
          </a:prstGeom>
          <a:noFill/>
        </p:spPr>
        <p:txBody>
          <a:bodyPr wrap="square" lIns="0" rIns="0" tIns="0" bIns="0">
            <a:spAutoFit/>
          </a:bodyPr>
          <a:lstStyle/>
          <a:p>
            <a:pPr algn="l">
              <a:spcBef>
                <a:spcPts val="0"/>
              </a:spcBef>
              <a:spcAft>
                <a:spcPts val="500"/>
              </a:spcAft>
              <a:defRPr sz="1900" b="1">
                <a:solidFill>
                  <a:srgbClr val="29353D"/>
                </a:solidFill>
                <a:latin typeface="Segoe UI"/>
              </a:defRPr>
            </a:pPr>
            <a:r>
              <a:t>Security is evaluated by the semantic engine, even when the DAX has no user filter.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29353D"/>
        </a:solidFill>
        <a:effectLst/>
      </p:bgPr>
    </p:bg>
    <p:spTree>
      <p:nvGrpSpPr>
        <p:cNvPr id="1" name=""/>
        <p:cNvGrpSpPr/>
        <p:nvPr/>
      </p:nvGrpSpPr>
      <p:grpSpPr/>
      <p:sp>
        <p:nvSpPr>
          <p:cNvPr id="2" name="Slide title"/>
          <p:cNvSpPr txBox="1"/>
          <p:nvPr/>
        </p:nvSpPr>
        <p:spPr>
          <a:xfrm>
            <a:off x="585216" y="420624"/>
            <a:ext cx="11018520" cy="786384"/>
          </a:xfrm>
          <a:prstGeom prst="rect">
            <a:avLst/>
          </a:prstGeom>
          <a:noFill/>
        </p:spPr>
        <p:txBody>
          <a:bodyPr wrap="square" lIns="0" rIns="0" tIns="0" bIns="0">
            <a:spAutoFit/>
          </a:bodyPr>
          <a:lstStyle/>
          <a:p>
            <a:pPr algn="l">
              <a:spcBef>
                <a:spcPts val="0"/>
              </a:spcBef>
              <a:spcAft>
                <a:spcPts val="500"/>
              </a:spcAft>
              <a:defRPr sz="3000" b="0">
                <a:solidFill>
                  <a:srgbClr val="FFFFFF"/>
                </a:solidFill>
                <a:latin typeface="Segoe UI Semibold"/>
              </a:defRPr>
            </a:pPr>
            <a:r>
              <a:t>One entitlement decision can serve reports and chat.</a:t>
            </a:r>
          </a:p>
        </p:txBody>
      </p:sp>
      <p:sp>
        <p:nvSpPr>
          <p:cNvPr id="3" name="Text"/>
          <p:cNvSpPr txBox="1"/>
          <p:nvPr/>
        </p:nvSpPr>
        <p:spPr>
          <a:xfrm>
            <a:off x="603504" y="1225296"/>
            <a:ext cx="10881360" cy="548640"/>
          </a:xfrm>
          <a:prstGeom prst="rect">
            <a:avLst/>
          </a:prstGeom>
          <a:noFill/>
        </p:spPr>
        <p:txBody>
          <a:bodyPr wrap="square" lIns="0" rIns="0" tIns="0" bIns="0">
            <a:spAutoFit/>
          </a:bodyPr>
          <a:lstStyle/>
          <a:p>
            <a:pPr algn="l">
              <a:spcBef>
                <a:spcPts val="0"/>
              </a:spcBef>
              <a:spcAft>
                <a:spcPts val="500"/>
              </a:spcAft>
              <a:defRPr sz="1700" b="0">
                <a:solidFill>
                  <a:srgbClr val="A9B8C0"/>
                </a:solidFill>
                <a:latin typeface="Segoe UI"/>
              </a:defRPr>
            </a:pPr>
            <a:r>
              <a:t>Proposed alignment | Same business access intent, two different delivery contracts.</a:t>
            </a:r>
          </a:p>
        </p:txBody>
      </p:sp>
      <p:sp>
        <p:nvSpPr>
          <p:cNvPr id="4" name="Text"/>
          <p:cNvSpPr txBox="1"/>
          <p:nvPr/>
        </p:nvSpPr>
        <p:spPr>
          <a:xfrm>
            <a:off x="603504" y="6483096"/>
            <a:ext cx="10972800" cy="201168"/>
          </a:xfrm>
          <a:prstGeom prst="rect">
            <a:avLst/>
          </a:prstGeom>
          <a:noFill/>
        </p:spPr>
        <p:txBody>
          <a:bodyPr wrap="square" lIns="0" rIns="0" tIns="0" bIns="0">
            <a:spAutoFit/>
          </a:bodyPr>
          <a:lstStyle/>
          <a:p>
            <a:pPr algn="l">
              <a:spcBef>
                <a:spcPts val="0"/>
              </a:spcBef>
              <a:spcAft>
                <a:spcPts val="500"/>
              </a:spcAft>
              <a:defRPr sz="900" b="0">
                <a:solidFill>
                  <a:srgbClr val="A9B8C0"/>
                </a:solidFill>
                <a:latin typeface="Segoe UI"/>
              </a:defRPr>
            </a:pPr>
            <a:r>
              <a:t>Sources: S2, S3, S4, S5 | 28 September 2026</a:t>
            </a:r>
          </a:p>
        </p:txBody>
      </p:sp>
      <p:grpSp>
        <p:nvGrpSpPr>
          <p:cNvPr id="5" name="node-auth"/>
          <p:cNvGrpSpPr/>
          <p:nvPr/>
        </p:nvGrpSpPr>
        <p:grpSpPr>
          <a:xfrm>
            <a:off x="758952" y="2834640"/>
            <a:ext cx="2670048" cy="1463040"/>
            <a:chOff x="758952" y="2834640"/>
            <a:chExt cx="2670048" cy="1463040"/>
          </a:xfrm>
        </p:grpSpPr>
        <p:sp>
          <p:nvSpPr>
            <p:cNvPr id="6" name="Rounded Rectangle 5"/>
            <p:cNvSpPr/>
            <p:nvPr/>
          </p:nvSpPr>
          <p:spPr>
            <a:xfrm>
              <a:off x="758952" y="2834640"/>
              <a:ext cx="2670048" cy="1463040"/>
            </a:xfrm>
            <a:prstGeom prst="roundRect">
              <a:avLst>
                <a:gd name="adj" fmla="val 10000"/>
              </a:avLst>
            </a:prstGeom>
            <a:solidFill>
              <a:srgbClr val="35444E"/>
            </a:solidFill>
            <a:ln w="10160">
              <a:solidFill>
                <a:srgbClr val="A9B8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node-auth-label"/>
            <p:cNvSpPr txBox="1"/>
            <p:nvPr/>
          </p:nvSpPr>
          <p:spPr>
            <a:xfrm>
              <a:off x="868680" y="2999232"/>
              <a:ext cx="2450591" cy="384048"/>
            </a:xfrm>
            <a:prstGeom prst="rect">
              <a:avLst/>
            </a:prstGeom>
            <a:noFill/>
          </p:spPr>
          <p:txBody>
            <a:bodyPr wrap="square" lIns="0" rIns="0" tIns="0" bIns="0">
              <a:spAutoFit/>
            </a:bodyPr>
            <a:lstStyle/>
            <a:p>
              <a:pPr algn="ctr">
                <a:spcBef>
                  <a:spcPts val="0"/>
                </a:spcBef>
                <a:spcAft>
                  <a:spcPts val="500"/>
                </a:spcAft>
                <a:defRPr sz="1800" b="1">
                  <a:solidFill>
                    <a:srgbClr val="FFFFFF"/>
                  </a:solidFill>
                  <a:latin typeface="Segoe UI"/>
                </a:defRPr>
              </a:pPr>
              <a:r>
                <a:t>Authorization</a:t>
              </a:r>
            </a:p>
          </p:txBody>
        </p:sp>
        <p:sp>
          <p:nvSpPr>
            <p:cNvPr id="8" name="Text"/>
            <p:cNvSpPr txBox="1"/>
            <p:nvPr/>
          </p:nvSpPr>
          <p:spPr>
            <a:xfrm>
              <a:off x="868680" y="3429000"/>
              <a:ext cx="2450591" cy="813815"/>
            </a:xfrm>
            <a:prstGeom prst="rect">
              <a:avLst/>
            </a:prstGeom>
            <a:noFill/>
          </p:spPr>
          <p:txBody>
            <a:bodyPr wrap="square" lIns="0" rIns="0" tIns="0" bIns="0">
              <a:spAutoFit/>
            </a:bodyPr>
            <a:lstStyle/>
            <a:p>
              <a:pPr algn="ctr">
                <a:spcBef>
                  <a:spcPts val="0"/>
                </a:spcBef>
                <a:spcAft>
                  <a:spcPts val="500"/>
                </a:spcAft>
                <a:defRPr sz="1500" b="0">
                  <a:solidFill>
                    <a:srgbClr val="E6ECEF"/>
                  </a:solidFill>
                  <a:latin typeface="Segoe UI"/>
                </a:defRPr>
              </a:pPr>
              <a:r>
                <a:t>Existing login</a:t>
              </a:r>
            </a:p>
            <a:p>
              <a:pPr algn="ctr">
                <a:spcBef>
                  <a:spcPts val="0"/>
                </a:spcBef>
                <a:spcAft>
                  <a:spcPts val="500"/>
                </a:spcAft>
                <a:defRPr sz="1500" b="0">
                  <a:solidFill>
                    <a:srgbClr val="E6ECEF"/>
                  </a:solidFill>
                  <a:latin typeface="Segoe UI"/>
                </a:defRPr>
              </a:pPr>
              <a:r>
                <a:t>+ current entitlements</a:t>
              </a:r>
            </a:p>
          </p:txBody>
        </p:sp>
      </p:grpSp>
      <p:grpSp>
        <p:nvGrpSpPr>
          <p:cNvPr id="9" name="node-report"/>
          <p:cNvGrpSpPr/>
          <p:nvPr/>
        </p:nvGrpSpPr>
        <p:grpSpPr>
          <a:xfrm>
            <a:off x="4855464" y="1947672"/>
            <a:ext cx="2441448" cy="1719072"/>
            <a:chOff x="4855464" y="1947672"/>
            <a:chExt cx="2441448" cy="1719072"/>
          </a:xfrm>
        </p:grpSpPr>
        <p:sp>
          <p:nvSpPr>
            <p:cNvPr id="10" name="Rounded Rectangle 9"/>
            <p:cNvSpPr/>
            <p:nvPr/>
          </p:nvSpPr>
          <p:spPr>
            <a:xfrm>
              <a:off x="4855464" y="1947672"/>
              <a:ext cx="2441448" cy="1719072"/>
            </a:xfrm>
            <a:prstGeom prst="roundRect">
              <a:avLst>
                <a:gd name="adj" fmla="val 10000"/>
              </a:avLst>
            </a:prstGeom>
            <a:solidFill>
              <a:srgbClr val="35444E"/>
            </a:solidFill>
            <a:ln w="10160">
              <a:solidFill>
                <a:srgbClr val="A9B8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801868" y="2029967"/>
              <a:ext cx="548640" cy="54864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power_bi_48_regular.png"/>
            <p:cNvPicPr>
              <a:picLocks noChangeAspect="1"/>
            </p:cNvPicPr>
            <p:nvPr/>
          </p:nvPicPr>
          <p:blipFill>
            <a:blip r:embed="rId3"/>
            <a:stretch>
              <a:fillRect/>
            </a:stretch>
          </p:blipFill>
          <p:spPr>
            <a:xfrm>
              <a:off x="5847588" y="2075688"/>
              <a:ext cx="457200" cy="457200"/>
            </a:xfrm>
            <a:prstGeom prst="rect">
              <a:avLst/>
            </a:prstGeom>
          </p:spPr>
        </p:pic>
        <p:sp>
          <p:nvSpPr>
            <p:cNvPr id="13" name="node-report-label"/>
            <p:cNvSpPr txBox="1"/>
            <p:nvPr/>
          </p:nvSpPr>
          <p:spPr>
            <a:xfrm>
              <a:off x="4965192" y="2615184"/>
              <a:ext cx="2221991" cy="384048"/>
            </a:xfrm>
            <a:prstGeom prst="rect">
              <a:avLst/>
            </a:prstGeom>
            <a:noFill/>
          </p:spPr>
          <p:txBody>
            <a:bodyPr wrap="square" lIns="0" rIns="0" tIns="0" bIns="0">
              <a:spAutoFit/>
            </a:bodyPr>
            <a:lstStyle/>
            <a:p>
              <a:pPr algn="ctr">
                <a:spcBef>
                  <a:spcPts val="0"/>
                </a:spcBef>
                <a:spcAft>
                  <a:spcPts val="500"/>
                </a:spcAft>
                <a:defRPr sz="1800" b="1">
                  <a:solidFill>
                    <a:srgbClr val="FFFFFF"/>
                  </a:solidFill>
                  <a:latin typeface="Segoe UI"/>
                </a:defRPr>
              </a:pPr>
              <a:r>
                <a:t>Power BI</a:t>
              </a:r>
            </a:p>
          </p:txBody>
        </p:sp>
        <p:sp>
          <p:nvSpPr>
            <p:cNvPr id="14" name="Text"/>
            <p:cNvSpPr txBox="1"/>
            <p:nvPr/>
          </p:nvSpPr>
          <p:spPr>
            <a:xfrm>
              <a:off x="4965192" y="3044952"/>
              <a:ext cx="2221991" cy="566927"/>
            </a:xfrm>
            <a:prstGeom prst="rect">
              <a:avLst/>
            </a:prstGeom>
            <a:noFill/>
          </p:spPr>
          <p:txBody>
            <a:bodyPr wrap="square" lIns="0" rIns="0" tIns="0" bIns="0">
              <a:spAutoFit/>
            </a:bodyPr>
            <a:lstStyle/>
            <a:p>
              <a:pPr algn="ctr">
                <a:spcBef>
                  <a:spcPts val="0"/>
                </a:spcBef>
                <a:spcAft>
                  <a:spcPts val="500"/>
                </a:spcAft>
                <a:defRPr sz="1500" b="0">
                  <a:solidFill>
                    <a:srgbClr val="E6ECEF"/>
                  </a:solidFill>
                  <a:latin typeface="Segoe UI"/>
                </a:defRPr>
              </a:pPr>
              <a:r>
                <a:t>Embedded reports</a:t>
              </a:r>
            </a:p>
          </p:txBody>
        </p:sp>
      </p:grpSp>
      <p:grpSp>
        <p:nvGrpSpPr>
          <p:cNvPr id="15" name="node-broker"/>
          <p:cNvGrpSpPr/>
          <p:nvPr/>
        </p:nvGrpSpPr>
        <p:grpSpPr>
          <a:xfrm>
            <a:off x="4855464" y="4279392"/>
            <a:ext cx="2441448" cy="1207008"/>
            <a:chOff x="4855464" y="4279392"/>
            <a:chExt cx="2441448" cy="1207008"/>
          </a:xfrm>
        </p:grpSpPr>
        <p:sp>
          <p:nvSpPr>
            <p:cNvPr id="16" name="Rounded Rectangle 15"/>
            <p:cNvSpPr/>
            <p:nvPr/>
          </p:nvSpPr>
          <p:spPr>
            <a:xfrm>
              <a:off x="4855464" y="4279392"/>
              <a:ext cx="2441448" cy="1207008"/>
            </a:xfrm>
            <a:prstGeom prst="roundRect">
              <a:avLst>
                <a:gd name="adj" fmla="val 10000"/>
              </a:avLst>
            </a:prstGeom>
            <a:solidFill>
              <a:srgbClr val="35444E"/>
            </a:solidFill>
            <a:ln w="10160">
              <a:solidFill>
                <a:srgbClr val="A9B8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node-broker-label"/>
            <p:cNvSpPr txBox="1"/>
            <p:nvPr/>
          </p:nvSpPr>
          <p:spPr>
            <a:xfrm>
              <a:off x="4965192" y="4443983"/>
              <a:ext cx="2221991" cy="384048"/>
            </a:xfrm>
            <a:prstGeom prst="rect">
              <a:avLst/>
            </a:prstGeom>
            <a:noFill/>
          </p:spPr>
          <p:txBody>
            <a:bodyPr wrap="square" lIns="0" rIns="0" tIns="0" bIns="0">
              <a:spAutoFit/>
            </a:bodyPr>
            <a:lstStyle/>
            <a:p>
              <a:pPr algn="ctr">
                <a:spcBef>
                  <a:spcPts val="0"/>
                </a:spcBef>
                <a:spcAft>
                  <a:spcPts val="500"/>
                </a:spcAft>
                <a:defRPr sz="1800" b="1">
                  <a:solidFill>
                    <a:srgbClr val="FFFFFF"/>
                  </a:solidFill>
                  <a:latin typeface="Segoe UI"/>
                </a:defRPr>
              </a:pPr>
              <a:r>
                <a:t>Query broker</a:t>
              </a:r>
            </a:p>
          </p:txBody>
        </p:sp>
        <p:sp>
          <p:nvSpPr>
            <p:cNvPr id="18" name="Text"/>
            <p:cNvSpPr txBox="1"/>
            <p:nvPr/>
          </p:nvSpPr>
          <p:spPr>
            <a:xfrm>
              <a:off x="4965192" y="4873751"/>
              <a:ext cx="2221991" cy="557784"/>
            </a:xfrm>
            <a:prstGeom prst="rect">
              <a:avLst/>
            </a:prstGeom>
            <a:noFill/>
          </p:spPr>
          <p:txBody>
            <a:bodyPr wrap="square" lIns="0" rIns="0" tIns="0" bIns="0">
              <a:spAutoFit/>
            </a:bodyPr>
            <a:lstStyle/>
            <a:p>
              <a:pPr algn="ctr">
                <a:spcBef>
                  <a:spcPts val="0"/>
                </a:spcBef>
                <a:spcAft>
                  <a:spcPts val="500"/>
                </a:spcAft>
                <a:defRPr sz="1500" b="0">
                  <a:solidFill>
                    <a:srgbClr val="E6ECEF"/>
                  </a:solidFill>
                  <a:latin typeface="Segoe UI"/>
                </a:defRPr>
              </a:pPr>
              <a:r>
                <a:t>Conversational analytics</a:t>
              </a:r>
            </a:p>
          </p:txBody>
        </p:sp>
      </p:grpSp>
      <p:grpSp>
        <p:nvGrpSpPr>
          <p:cNvPr id="19" name="node-model"/>
          <p:cNvGrpSpPr/>
          <p:nvPr/>
        </p:nvGrpSpPr>
        <p:grpSpPr>
          <a:xfrm>
            <a:off x="8915400" y="2825496"/>
            <a:ext cx="2459736" cy="1810512"/>
            <a:chOff x="8915400" y="2825496"/>
            <a:chExt cx="2459736" cy="1810512"/>
          </a:xfrm>
        </p:grpSpPr>
        <p:sp>
          <p:nvSpPr>
            <p:cNvPr id="20" name="Rounded Rectangle 19"/>
            <p:cNvSpPr/>
            <p:nvPr/>
          </p:nvSpPr>
          <p:spPr>
            <a:xfrm>
              <a:off x="8915400" y="2825496"/>
              <a:ext cx="2459736" cy="1810512"/>
            </a:xfrm>
            <a:prstGeom prst="roundRect">
              <a:avLst>
                <a:gd name="adj" fmla="val 10000"/>
              </a:avLst>
            </a:prstGeom>
            <a:solidFill>
              <a:srgbClr val="35444E"/>
            </a:solidFill>
            <a:ln w="10160">
              <a:solidFill>
                <a:srgbClr val="A9B8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semantic_model_64_item.png"/>
            <p:cNvPicPr>
              <a:picLocks noChangeAspect="1"/>
            </p:cNvPicPr>
            <p:nvPr/>
          </p:nvPicPr>
          <p:blipFill>
            <a:blip r:embed="rId4"/>
            <a:stretch>
              <a:fillRect/>
            </a:stretch>
          </p:blipFill>
          <p:spPr>
            <a:xfrm>
              <a:off x="9916668" y="2953512"/>
              <a:ext cx="457200" cy="457200"/>
            </a:xfrm>
            <a:prstGeom prst="rect">
              <a:avLst/>
            </a:prstGeom>
          </p:spPr>
        </p:pic>
        <p:sp>
          <p:nvSpPr>
            <p:cNvPr id="22" name="node-model-label"/>
            <p:cNvSpPr txBox="1"/>
            <p:nvPr/>
          </p:nvSpPr>
          <p:spPr>
            <a:xfrm>
              <a:off x="9025128" y="3493008"/>
              <a:ext cx="2240280" cy="384048"/>
            </a:xfrm>
            <a:prstGeom prst="rect">
              <a:avLst/>
            </a:prstGeom>
            <a:noFill/>
          </p:spPr>
          <p:txBody>
            <a:bodyPr wrap="square" lIns="0" rIns="0" tIns="0" bIns="0">
              <a:spAutoFit/>
            </a:bodyPr>
            <a:lstStyle/>
            <a:p>
              <a:pPr algn="ctr">
                <a:spcBef>
                  <a:spcPts val="0"/>
                </a:spcBef>
                <a:spcAft>
                  <a:spcPts val="500"/>
                </a:spcAft>
                <a:defRPr sz="1800" b="1">
                  <a:solidFill>
                    <a:srgbClr val="FFFFFF"/>
                  </a:solidFill>
                  <a:latin typeface="Segoe UI"/>
                </a:defRPr>
              </a:pPr>
              <a:r>
                <a:t>Semantic Model</a:t>
              </a:r>
            </a:p>
          </p:txBody>
        </p:sp>
        <p:sp>
          <p:nvSpPr>
            <p:cNvPr id="23" name="Text"/>
            <p:cNvSpPr txBox="1"/>
            <p:nvPr/>
          </p:nvSpPr>
          <p:spPr>
            <a:xfrm>
              <a:off x="9025128" y="3922776"/>
              <a:ext cx="2240280" cy="658368"/>
            </a:xfrm>
            <a:prstGeom prst="rect">
              <a:avLst/>
            </a:prstGeom>
            <a:noFill/>
          </p:spPr>
          <p:txBody>
            <a:bodyPr wrap="square" lIns="0" rIns="0" tIns="0" bIns="0">
              <a:spAutoFit/>
            </a:bodyPr>
            <a:lstStyle/>
            <a:p>
              <a:pPr algn="ctr">
                <a:spcBef>
                  <a:spcPts val="0"/>
                </a:spcBef>
                <a:spcAft>
                  <a:spcPts val="500"/>
                </a:spcAft>
                <a:defRPr sz="1500" b="0">
                  <a:solidFill>
                    <a:srgbClr val="E6ECEF"/>
                  </a:solidFill>
                  <a:latin typeface="Segoe UI"/>
                </a:defRPr>
              </a:pPr>
              <a:r>
                <a:t>Measures + aligned RLS</a:t>
              </a:r>
            </a:p>
          </p:txBody>
        </p:sp>
      </p:grpSp>
      <p:cxnSp>
        <p:nvCxnSpPr>
          <p:cNvPr id="24" name="edge-embed"/>
          <p:cNvCxnSpPr>
            <a:stCxn id="5" idx="3"/>
            <a:endCxn id="9" idx="1"/>
          </p:cNvCxnSpPr>
          <p:nvPr/>
        </p:nvCxnSpPr>
        <p:spPr>
          <a:xfrm flipV="1">
            <a:off x="3429000" y="2807208"/>
            <a:ext cx="1426464" cy="758952"/>
          </a:xfrm>
          <a:prstGeom prst="bentConnector3">
            <a:avLst/>
          </a:prstGeom>
          <a:ln w="20320">
            <a:solidFill>
              <a:srgbClr val="A9B8C0"/>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25" name="edge-context"/>
          <p:cNvCxnSpPr>
            <a:stCxn id="5" idx="3"/>
            <a:endCxn id="15" idx="1"/>
          </p:cNvCxnSpPr>
          <p:nvPr/>
        </p:nvCxnSpPr>
        <p:spPr>
          <a:xfrm>
            <a:off x="3429000" y="3566160"/>
            <a:ext cx="1426464" cy="1316736"/>
          </a:xfrm>
          <a:prstGeom prst="bentConnector3">
            <a:avLst/>
          </a:prstGeom>
          <a:ln w="20320">
            <a:solidFill>
              <a:srgbClr val="A9B8C0"/>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26" name="edge-report-query"/>
          <p:cNvCxnSpPr>
            <a:stCxn id="9" idx="3"/>
            <a:endCxn id="19" idx="1"/>
          </p:cNvCxnSpPr>
          <p:nvPr/>
        </p:nvCxnSpPr>
        <p:spPr>
          <a:xfrm>
            <a:off x="7296912" y="2807208"/>
            <a:ext cx="1618488" cy="923544"/>
          </a:xfrm>
          <a:prstGeom prst="bentConnector3">
            <a:avLst/>
          </a:prstGeom>
          <a:ln w="20320">
            <a:solidFill>
              <a:srgbClr val="A9B8C0"/>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27" name="edge-chat-query"/>
          <p:cNvCxnSpPr>
            <a:stCxn id="15" idx="3"/>
            <a:endCxn id="19" idx="1"/>
          </p:cNvCxnSpPr>
          <p:nvPr/>
        </p:nvCxnSpPr>
        <p:spPr>
          <a:xfrm flipV="1">
            <a:off x="7296912" y="3730752"/>
            <a:ext cx="1618488" cy="1152144"/>
          </a:xfrm>
          <a:prstGeom prst="bentConnector3">
            <a:avLst/>
          </a:prstGeom>
          <a:ln w="20320">
            <a:solidFill>
              <a:srgbClr val="A9B8C0"/>
            </a:solidFill>
            <a:tailEnd type="triangle" w="sm" len="sm"/>
          </a:ln>
        </p:spPr>
        <p:style>
          <a:lnRef idx="2">
            <a:schemeClr val="accent1"/>
          </a:lnRef>
          <a:fillRef idx="0">
            <a:schemeClr val="accent1"/>
          </a:fillRef>
          <a:effectRef idx="1">
            <a:schemeClr val="accent1"/>
          </a:effectRef>
          <a:fontRef idx="minor">
            <a:schemeClr val="tx1"/>
          </a:fontRef>
        </p:style>
      </p:cxnSp>
      <p:sp>
        <p:nvSpPr>
          <p:cNvPr id="28" name="Text"/>
          <p:cNvSpPr txBox="1"/>
          <p:nvPr/>
        </p:nvSpPr>
        <p:spPr>
          <a:xfrm>
            <a:off x="3538728" y="1847088"/>
            <a:ext cx="1280160" cy="886968"/>
          </a:xfrm>
          <a:prstGeom prst="rect">
            <a:avLst/>
          </a:prstGeom>
          <a:noFill/>
        </p:spPr>
        <p:txBody>
          <a:bodyPr wrap="square" lIns="0" rIns="0" tIns="0" bIns="0">
            <a:spAutoFit/>
          </a:bodyPr>
          <a:lstStyle/>
          <a:p>
            <a:pPr algn="ctr">
              <a:spcBef>
                <a:spcPts val="0"/>
              </a:spcBef>
              <a:spcAft>
                <a:spcPts val="500"/>
              </a:spcAft>
              <a:defRPr sz="1400" b="0">
                <a:solidFill>
                  <a:srgbClr val="E6ECEF"/>
                </a:solidFill>
                <a:latin typeface="Segoe UI"/>
              </a:defRPr>
            </a:pPr>
            <a:r>
              <a:t>Embed token</a:t>
            </a:r>
          </a:p>
          <a:p>
            <a:pPr algn="ctr">
              <a:spcBef>
                <a:spcPts val="0"/>
              </a:spcBef>
              <a:spcAft>
                <a:spcPts val="500"/>
              </a:spcAft>
              <a:defRPr sz="1400" b="0">
                <a:solidFill>
                  <a:srgbClr val="E6ECEF"/>
                </a:solidFill>
                <a:latin typeface="Segoe UI"/>
              </a:defRPr>
            </a:pPr>
            <a:r>
              <a:t>+ effective</a:t>
            </a:r>
          </a:p>
          <a:p>
            <a:pPr algn="ctr">
              <a:spcBef>
                <a:spcPts val="0"/>
              </a:spcBef>
              <a:spcAft>
                <a:spcPts val="500"/>
              </a:spcAft>
              <a:defRPr sz="1400" b="0">
                <a:solidFill>
                  <a:srgbClr val="E6ECEF"/>
                </a:solidFill>
                <a:latin typeface="Segoe UI"/>
              </a:defRPr>
            </a:pPr>
            <a:r>
              <a:t>identity</a:t>
            </a:r>
          </a:p>
        </p:txBody>
      </p:sp>
      <p:sp>
        <p:nvSpPr>
          <p:cNvPr id="29" name="Text"/>
          <p:cNvSpPr txBox="1"/>
          <p:nvPr/>
        </p:nvSpPr>
        <p:spPr>
          <a:xfrm>
            <a:off x="3557016" y="5001768"/>
            <a:ext cx="1188720" cy="658368"/>
          </a:xfrm>
          <a:prstGeom prst="rect">
            <a:avLst/>
          </a:prstGeom>
          <a:noFill/>
        </p:spPr>
        <p:txBody>
          <a:bodyPr wrap="square" lIns="0" rIns="0" tIns="0" bIns="0">
            <a:spAutoFit/>
          </a:bodyPr>
          <a:lstStyle/>
          <a:p>
            <a:pPr algn="ctr">
              <a:spcBef>
                <a:spcPts val="0"/>
              </a:spcBef>
              <a:spcAft>
                <a:spcPts val="500"/>
              </a:spcAft>
              <a:defRPr sz="1400" b="0">
                <a:solidFill>
                  <a:srgbClr val="E6ECEF"/>
                </a:solidFill>
                <a:latin typeface="Segoe UI"/>
              </a:defRPr>
            </a:pPr>
            <a:r>
              <a:t>Trusted role</a:t>
            </a:r>
          </a:p>
          <a:p>
            <a:pPr algn="ctr">
              <a:spcBef>
                <a:spcPts val="0"/>
              </a:spcBef>
              <a:spcAft>
                <a:spcPts val="500"/>
              </a:spcAft>
              <a:defRPr sz="1400" b="0">
                <a:solidFill>
                  <a:srgbClr val="E6ECEF"/>
                </a:solidFill>
                <a:latin typeface="Segoe UI"/>
              </a:defRPr>
            </a:pPr>
            <a:r>
              <a:t>+ user key</a:t>
            </a:r>
          </a:p>
        </p:txBody>
      </p:sp>
      <p:sp>
        <p:nvSpPr>
          <p:cNvPr id="30" name="Text"/>
          <p:cNvSpPr txBox="1"/>
          <p:nvPr/>
        </p:nvSpPr>
        <p:spPr>
          <a:xfrm>
            <a:off x="7452360" y="1965960"/>
            <a:ext cx="1307592" cy="576072"/>
          </a:xfrm>
          <a:prstGeom prst="rect">
            <a:avLst/>
          </a:prstGeom>
          <a:noFill/>
        </p:spPr>
        <p:txBody>
          <a:bodyPr wrap="square" lIns="0" rIns="0" tIns="0" bIns="0">
            <a:spAutoFit/>
          </a:bodyPr>
          <a:lstStyle/>
          <a:p>
            <a:pPr algn="ctr">
              <a:spcBef>
                <a:spcPts val="0"/>
              </a:spcBef>
              <a:spcAft>
                <a:spcPts val="500"/>
              </a:spcAft>
              <a:defRPr sz="1500" b="0">
                <a:solidFill>
                  <a:srgbClr val="E6ECEF"/>
                </a:solidFill>
                <a:latin typeface="Segoe UI"/>
              </a:defRPr>
            </a:pPr>
            <a:r>
              <a:t>Report</a:t>
            </a:r>
          </a:p>
          <a:p>
            <a:pPr algn="ctr">
              <a:spcBef>
                <a:spcPts val="0"/>
              </a:spcBef>
              <a:spcAft>
                <a:spcPts val="500"/>
              </a:spcAft>
              <a:defRPr sz="1500" b="0">
                <a:solidFill>
                  <a:srgbClr val="E6ECEF"/>
                </a:solidFill>
                <a:latin typeface="Segoe UI"/>
              </a:defRPr>
            </a:pPr>
            <a:r>
              <a:t>queries</a:t>
            </a:r>
          </a:p>
        </p:txBody>
      </p:sp>
      <p:sp>
        <p:nvSpPr>
          <p:cNvPr id="31" name="Text"/>
          <p:cNvSpPr txBox="1"/>
          <p:nvPr/>
        </p:nvSpPr>
        <p:spPr>
          <a:xfrm>
            <a:off x="7360920" y="5010912"/>
            <a:ext cx="1508760" cy="338328"/>
          </a:xfrm>
          <a:prstGeom prst="rect">
            <a:avLst/>
          </a:prstGeom>
          <a:noFill/>
        </p:spPr>
        <p:txBody>
          <a:bodyPr wrap="square" lIns="0" rIns="0" tIns="0" bIns="0">
            <a:spAutoFit/>
          </a:bodyPr>
          <a:lstStyle/>
          <a:p>
            <a:pPr algn="ctr">
              <a:spcBef>
                <a:spcPts val="0"/>
              </a:spcBef>
              <a:spcAft>
                <a:spcPts val="500"/>
              </a:spcAft>
              <a:defRPr sz="1300" b="0">
                <a:solidFill>
                  <a:srgbClr val="E6ECEF"/>
                </a:solidFill>
                <a:latin typeface="Segoe UI"/>
              </a:defRPr>
            </a:pPr>
            <a:r>
              <a:t>executeDaxQueries</a:t>
            </a:r>
          </a:p>
        </p:txBody>
      </p:sp>
      <p:sp>
        <p:nvSpPr>
          <p:cNvPr id="32" name="Panel"/>
          <p:cNvSpPr/>
          <p:nvPr/>
        </p:nvSpPr>
        <p:spPr>
          <a:xfrm>
            <a:off x="585216" y="5733288"/>
            <a:ext cx="11018520" cy="539496"/>
          </a:xfrm>
          <a:prstGeom prst="rect">
            <a:avLst/>
          </a:prstGeom>
          <a:solidFill>
            <a:srgbClr val="3544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
          <p:cNvSpPr txBox="1"/>
          <p:nvPr/>
        </p:nvSpPr>
        <p:spPr>
          <a:xfrm>
            <a:off x="768096" y="5824727"/>
            <a:ext cx="10652760" cy="384048"/>
          </a:xfrm>
          <a:prstGeom prst="rect">
            <a:avLst/>
          </a:prstGeom>
          <a:noFill/>
        </p:spPr>
        <p:txBody>
          <a:bodyPr wrap="square" lIns="0" rIns="0" tIns="0" bIns="0">
            <a:spAutoFit/>
          </a:bodyPr>
          <a:lstStyle/>
          <a:p>
            <a:pPr algn="l">
              <a:spcBef>
                <a:spcPts val="0"/>
              </a:spcBef>
              <a:spcAft>
                <a:spcPts val="500"/>
              </a:spcAft>
              <a:defRPr sz="2000" b="1">
                <a:solidFill>
                  <a:srgbClr val="FFFFFF"/>
                </a:solidFill>
                <a:latin typeface="Segoe UI"/>
              </a:defRPr>
            </a:pPr>
            <a:r>
              <a:t>Reuse the authorization decision, not the embed token. Parity is the next proof.</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lide title"/>
          <p:cNvSpPr txBox="1"/>
          <p:nvPr/>
        </p:nvSpPr>
        <p:spPr>
          <a:xfrm>
            <a:off x="585216" y="420624"/>
            <a:ext cx="11018520" cy="786384"/>
          </a:xfrm>
          <a:prstGeom prst="rect">
            <a:avLst/>
          </a:prstGeom>
          <a:noFill/>
        </p:spPr>
        <p:txBody>
          <a:bodyPr wrap="square" lIns="0" rIns="0" tIns="0" bIns="0">
            <a:spAutoFit/>
          </a:bodyPr>
          <a:lstStyle/>
          <a:p>
            <a:pPr algn="l">
              <a:spcBef>
                <a:spcPts val="0"/>
              </a:spcBef>
              <a:spcAft>
                <a:spcPts val="500"/>
              </a:spcAft>
              <a:defRPr sz="3000" b="0">
                <a:solidFill>
                  <a:srgbClr val="29353D"/>
                </a:solidFill>
                <a:latin typeface="Segoe UI Semibold"/>
              </a:defRPr>
            </a:pPr>
            <a:r>
              <a:t>Reuse the trust pattern, not the embed token.</a:t>
            </a:r>
          </a:p>
        </p:txBody>
      </p:sp>
      <p:sp>
        <p:nvSpPr>
          <p:cNvPr id="3" name="Text"/>
          <p:cNvSpPr txBox="1"/>
          <p:nvPr/>
        </p:nvSpPr>
        <p:spPr>
          <a:xfrm>
            <a:off x="603504" y="1225296"/>
            <a:ext cx="10881360" cy="548640"/>
          </a:xfrm>
          <a:prstGeom prst="rect">
            <a:avLst/>
          </a:prstGeom>
          <a:noFill/>
        </p:spPr>
        <p:txBody>
          <a:bodyPr wrap="square" lIns="0" rIns="0" tIns="0" bIns="0">
            <a:spAutoFit/>
          </a:bodyPr>
          <a:lstStyle/>
          <a:p>
            <a:pPr algn="l">
              <a:spcBef>
                <a:spcPts val="0"/>
              </a:spcBef>
              <a:spcAft>
                <a:spcPts val="500"/>
              </a:spcAft>
              <a:defRPr sz="1700" b="0">
                <a:solidFill>
                  <a:srgbClr val="6B7780"/>
                </a:solidFill>
                <a:latin typeface="Segoe UI"/>
              </a:defRPr>
            </a:pPr>
            <a:r>
              <a:t>App-owns-data Embedded versus custom conversation.</a:t>
            </a:r>
          </a:p>
        </p:txBody>
      </p:sp>
      <p:sp>
        <p:nvSpPr>
          <p:cNvPr id="4" name="Text"/>
          <p:cNvSpPr txBox="1"/>
          <p:nvPr/>
        </p:nvSpPr>
        <p:spPr>
          <a:xfrm>
            <a:off x="603504" y="6483096"/>
            <a:ext cx="10972800" cy="201168"/>
          </a:xfrm>
          <a:prstGeom prst="rect">
            <a:avLst/>
          </a:prstGeom>
          <a:noFill/>
        </p:spPr>
        <p:txBody>
          <a:bodyPr wrap="square" lIns="0" rIns="0" tIns="0" bIns="0">
            <a:spAutoFit/>
          </a:bodyPr>
          <a:lstStyle/>
          <a:p>
            <a:pPr algn="l">
              <a:spcBef>
                <a:spcPts val="0"/>
              </a:spcBef>
              <a:spcAft>
                <a:spcPts val="500"/>
              </a:spcAft>
              <a:defRPr sz="900" b="0">
                <a:solidFill>
                  <a:srgbClr val="6B7780"/>
                </a:solidFill>
                <a:latin typeface="Segoe UI"/>
              </a:defRPr>
            </a:pPr>
            <a:r>
              <a:t>Sources: S1, S2, S3, S4, S5 | 28 September 2026</a:t>
            </a:r>
          </a:p>
        </p:txBody>
      </p:sp>
      <p:sp>
        <p:nvSpPr>
          <p:cNvPr id="5" name="Panel"/>
          <p:cNvSpPr/>
          <p:nvPr/>
        </p:nvSpPr>
        <p:spPr>
          <a:xfrm>
            <a:off x="585216" y="1828800"/>
            <a:ext cx="11018520" cy="580644"/>
          </a:xfrm>
          <a:prstGeom prst="rect">
            <a:avLst/>
          </a:prstGeom>
          <a:solidFill>
            <a:srgbClr val="2935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
          <p:cNvSpPr txBox="1"/>
          <p:nvPr/>
        </p:nvSpPr>
        <p:spPr>
          <a:xfrm>
            <a:off x="731519" y="1956816"/>
            <a:ext cx="2743200" cy="402336"/>
          </a:xfrm>
          <a:prstGeom prst="rect">
            <a:avLst/>
          </a:prstGeom>
          <a:noFill/>
        </p:spPr>
        <p:txBody>
          <a:bodyPr wrap="square" lIns="0" rIns="0" tIns="0" bIns="0">
            <a:spAutoFit/>
          </a:bodyPr>
          <a:lstStyle/>
          <a:p>
            <a:pPr algn="l">
              <a:spcBef>
                <a:spcPts val="0"/>
              </a:spcBef>
              <a:spcAft>
                <a:spcPts val="500"/>
              </a:spcAft>
              <a:defRPr sz="1800" b="1">
                <a:solidFill>
                  <a:srgbClr val="FFFFFF"/>
                </a:solidFill>
                <a:latin typeface="Segoe UI"/>
              </a:defRPr>
            </a:pPr>
          </a:p>
        </p:txBody>
      </p:sp>
      <p:sp>
        <p:nvSpPr>
          <p:cNvPr id="7" name="Text"/>
          <p:cNvSpPr txBox="1"/>
          <p:nvPr/>
        </p:nvSpPr>
        <p:spPr>
          <a:xfrm>
            <a:off x="3831336" y="1956816"/>
            <a:ext cx="3566160" cy="402336"/>
          </a:xfrm>
          <a:prstGeom prst="rect">
            <a:avLst/>
          </a:prstGeom>
          <a:noFill/>
        </p:spPr>
        <p:txBody>
          <a:bodyPr wrap="square" lIns="0" rIns="0" tIns="0" bIns="0">
            <a:spAutoFit/>
          </a:bodyPr>
          <a:lstStyle/>
          <a:p>
            <a:pPr algn="l">
              <a:spcBef>
                <a:spcPts val="0"/>
              </a:spcBef>
              <a:spcAft>
                <a:spcPts val="500"/>
              </a:spcAft>
              <a:defRPr sz="1800" b="1">
                <a:solidFill>
                  <a:srgbClr val="FFFFFF"/>
                </a:solidFill>
                <a:latin typeface="Segoe UI"/>
              </a:defRPr>
            </a:pPr>
            <a:r>
              <a:t>Power BI Embedded</a:t>
            </a:r>
          </a:p>
        </p:txBody>
      </p:sp>
      <p:sp>
        <p:nvSpPr>
          <p:cNvPr id="8" name="Text"/>
          <p:cNvSpPr txBox="1"/>
          <p:nvPr/>
        </p:nvSpPr>
        <p:spPr>
          <a:xfrm>
            <a:off x="7763256" y="1956816"/>
            <a:ext cx="3538727" cy="402336"/>
          </a:xfrm>
          <a:prstGeom prst="rect">
            <a:avLst/>
          </a:prstGeom>
          <a:noFill/>
        </p:spPr>
        <p:txBody>
          <a:bodyPr wrap="square" lIns="0" rIns="0" tIns="0" bIns="0">
            <a:spAutoFit/>
          </a:bodyPr>
          <a:lstStyle/>
          <a:p>
            <a:pPr algn="l">
              <a:spcBef>
                <a:spcPts val="0"/>
              </a:spcBef>
              <a:spcAft>
                <a:spcPts val="500"/>
              </a:spcAft>
              <a:defRPr sz="1800" b="1">
                <a:solidFill>
                  <a:srgbClr val="FFFFFF"/>
                </a:solidFill>
                <a:latin typeface="Segoe UI"/>
              </a:defRPr>
            </a:pPr>
            <a:r>
              <a:t>Custom conversational path</a:t>
            </a:r>
          </a:p>
        </p:txBody>
      </p:sp>
      <p:sp>
        <p:nvSpPr>
          <p:cNvPr id="9" name="Panel"/>
          <p:cNvSpPr/>
          <p:nvPr/>
        </p:nvSpPr>
        <p:spPr>
          <a:xfrm>
            <a:off x="585216" y="2436876"/>
            <a:ext cx="11018520" cy="580644"/>
          </a:xfrm>
          <a:prstGeom prst="rect">
            <a:avLst/>
          </a:prstGeom>
          <a:solidFill>
            <a:srgbClr val="EC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
          <p:cNvSpPr txBox="1"/>
          <p:nvPr/>
        </p:nvSpPr>
        <p:spPr>
          <a:xfrm>
            <a:off x="731519" y="2564892"/>
            <a:ext cx="2743200" cy="402336"/>
          </a:xfrm>
          <a:prstGeom prst="rect">
            <a:avLst/>
          </a:prstGeom>
          <a:noFill/>
        </p:spPr>
        <p:txBody>
          <a:bodyPr wrap="square" lIns="0" rIns="0" tIns="0" bIns="0">
            <a:spAutoFit/>
          </a:bodyPr>
          <a:lstStyle/>
          <a:p>
            <a:pPr algn="l">
              <a:spcBef>
                <a:spcPts val="0"/>
              </a:spcBef>
              <a:spcAft>
                <a:spcPts val="500"/>
              </a:spcAft>
              <a:defRPr sz="1600" b="0">
                <a:solidFill>
                  <a:srgbClr val="29353D"/>
                </a:solidFill>
                <a:latin typeface="Segoe UI"/>
              </a:defRPr>
            </a:pPr>
            <a:r>
              <a:t>Customer sign-in</a:t>
            </a:r>
          </a:p>
        </p:txBody>
      </p:sp>
      <p:sp>
        <p:nvSpPr>
          <p:cNvPr id="11" name="Text"/>
          <p:cNvSpPr txBox="1"/>
          <p:nvPr/>
        </p:nvSpPr>
        <p:spPr>
          <a:xfrm>
            <a:off x="3831336" y="2564892"/>
            <a:ext cx="3566160" cy="402336"/>
          </a:xfrm>
          <a:prstGeom prst="rect">
            <a:avLst/>
          </a:prstGeom>
          <a:noFill/>
        </p:spPr>
        <p:txBody>
          <a:bodyPr wrap="square" lIns="0" rIns="0" tIns="0" bIns="0">
            <a:spAutoFit/>
          </a:bodyPr>
          <a:lstStyle/>
          <a:p>
            <a:pPr algn="l">
              <a:spcBef>
                <a:spcPts val="0"/>
              </a:spcBef>
              <a:spcAft>
                <a:spcPts val="500"/>
              </a:spcAft>
              <a:defRPr sz="1600" b="0">
                <a:solidFill>
                  <a:srgbClr val="29353D"/>
                </a:solidFill>
                <a:latin typeface="Segoe UI"/>
              </a:defRPr>
            </a:pPr>
            <a:r>
              <a:t>Existing app login</a:t>
            </a:r>
          </a:p>
        </p:txBody>
      </p:sp>
      <p:sp>
        <p:nvSpPr>
          <p:cNvPr id="12" name="Text"/>
          <p:cNvSpPr txBox="1"/>
          <p:nvPr/>
        </p:nvSpPr>
        <p:spPr>
          <a:xfrm>
            <a:off x="7763256" y="2564892"/>
            <a:ext cx="3538727" cy="402336"/>
          </a:xfrm>
          <a:prstGeom prst="rect">
            <a:avLst/>
          </a:prstGeom>
          <a:noFill/>
        </p:spPr>
        <p:txBody>
          <a:bodyPr wrap="square" lIns="0" rIns="0" tIns="0" bIns="0">
            <a:spAutoFit/>
          </a:bodyPr>
          <a:lstStyle/>
          <a:p>
            <a:pPr algn="l">
              <a:spcBef>
                <a:spcPts val="0"/>
              </a:spcBef>
              <a:spcAft>
                <a:spcPts val="500"/>
              </a:spcAft>
              <a:defRPr sz="1600" b="0">
                <a:solidFill>
                  <a:srgbClr val="29353D"/>
                </a:solidFill>
                <a:latin typeface="Segoe UI"/>
              </a:defRPr>
            </a:pPr>
            <a:r>
              <a:t>Existing app login</a:t>
            </a:r>
          </a:p>
        </p:txBody>
      </p:sp>
      <p:sp>
        <p:nvSpPr>
          <p:cNvPr id="13" name="Panel"/>
          <p:cNvSpPr/>
          <p:nvPr/>
        </p:nvSpPr>
        <p:spPr>
          <a:xfrm>
            <a:off x="585216" y="3044952"/>
            <a:ext cx="11018520" cy="580644"/>
          </a:xfrm>
          <a:prstGeom prst="rect">
            <a:avLst/>
          </a:prstGeom>
          <a:solidFill>
            <a:srgbClr val="EEF6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
          <p:cNvSpPr txBox="1"/>
          <p:nvPr/>
        </p:nvSpPr>
        <p:spPr>
          <a:xfrm>
            <a:off x="731519" y="3172968"/>
            <a:ext cx="2743200" cy="402336"/>
          </a:xfrm>
          <a:prstGeom prst="rect">
            <a:avLst/>
          </a:prstGeom>
          <a:noFill/>
        </p:spPr>
        <p:txBody>
          <a:bodyPr wrap="square" lIns="0" rIns="0" tIns="0" bIns="0">
            <a:spAutoFit/>
          </a:bodyPr>
          <a:lstStyle/>
          <a:p>
            <a:pPr algn="l">
              <a:spcBef>
                <a:spcPts val="0"/>
              </a:spcBef>
              <a:spcAft>
                <a:spcPts val="500"/>
              </a:spcAft>
              <a:defRPr sz="1600" b="0">
                <a:solidFill>
                  <a:srgbClr val="29353D"/>
                </a:solidFill>
                <a:latin typeface="Segoe UI"/>
              </a:defRPr>
            </a:pPr>
            <a:r>
              <a:t>Authorization carrier</a:t>
            </a:r>
          </a:p>
        </p:txBody>
      </p:sp>
      <p:sp>
        <p:nvSpPr>
          <p:cNvPr id="15" name="Text"/>
          <p:cNvSpPr txBox="1"/>
          <p:nvPr/>
        </p:nvSpPr>
        <p:spPr>
          <a:xfrm>
            <a:off x="3831336" y="3172968"/>
            <a:ext cx="3566160" cy="402336"/>
          </a:xfrm>
          <a:prstGeom prst="rect">
            <a:avLst/>
          </a:prstGeom>
          <a:noFill/>
        </p:spPr>
        <p:txBody>
          <a:bodyPr wrap="square" lIns="0" rIns="0" tIns="0" bIns="0">
            <a:spAutoFit/>
          </a:bodyPr>
          <a:lstStyle/>
          <a:p>
            <a:pPr algn="l">
              <a:spcBef>
                <a:spcPts val="0"/>
              </a:spcBef>
              <a:spcAft>
                <a:spcPts val="500"/>
              </a:spcAft>
              <a:defRPr sz="1600" b="0">
                <a:solidFill>
                  <a:srgbClr val="29353D"/>
                </a:solidFill>
                <a:latin typeface="Segoe UI"/>
              </a:defRPr>
            </a:pPr>
            <a:r>
              <a:t>Embed-token effective identity</a:t>
            </a:r>
          </a:p>
        </p:txBody>
      </p:sp>
      <p:sp>
        <p:nvSpPr>
          <p:cNvPr id="16" name="Text"/>
          <p:cNvSpPr txBox="1"/>
          <p:nvPr/>
        </p:nvSpPr>
        <p:spPr>
          <a:xfrm>
            <a:off x="7763256" y="3172968"/>
            <a:ext cx="3538727" cy="402336"/>
          </a:xfrm>
          <a:prstGeom prst="rect">
            <a:avLst/>
          </a:prstGeom>
          <a:noFill/>
        </p:spPr>
        <p:txBody>
          <a:bodyPr wrap="square" lIns="0" rIns="0" tIns="0" bIns="0">
            <a:spAutoFit/>
          </a:bodyPr>
          <a:lstStyle/>
          <a:p>
            <a:pPr algn="l">
              <a:spcBef>
                <a:spcPts val="0"/>
              </a:spcBef>
              <a:spcAft>
                <a:spcPts val="500"/>
              </a:spcAft>
              <a:defRPr sz="1600" b="0">
                <a:solidFill>
                  <a:srgbClr val="29353D"/>
                </a:solidFill>
                <a:latin typeface="Segoe UI"/>
              </a:defRPr>
            </a:pPr>
            <a:r>
              <a:t>Per-query roles + customData</a:t>
            </a:r>
          </a:p>
        </p:txBody>
      </p:sp>
      <p:sp>
        <p:nvSpPr>
          <p:cNvPr id="17" name="Panel"/>
          <p:cNvSpPr/>
          <p:nvPr/>
        </p:nvSpPr>
        <p:spPr>
          <a:xfrm>
            <a:off x="585216" y="3653028"/>
            <a:ext cx="11018520" cy="580644"/>
          </a:xfrm>
          <a:prstGeom prst="rect">
            <a:avLst/>
          </a:prstGeom>
          <a:solidFill>
            <a:srgbClr val="EC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
          <p:cNvSpPr txBox="1"/>
          <p:nvPr/>
        </p:nvSpPr>
        <p:spPr>
          <a:xfrm>
            <a:off x="731519" y="3781044"/>
            <a:ext cx="2743200" cy="402336"/>
          </a:xfrm>
          <a:prstGeom prst="rect">
            <a:avLst/>
          </a:prstGeom>
          <a:noFill/>
        </p:spPr>
        <p:txBody>
          <a:bodyPr wrap="square" lIns="0" rIns="0" tIns="0" bIns="0">
            <a:spAutoFit/>
          </a:bodyPr>
          <a:lstStyle/>
          <a:p>
            <a:pPr algn="l">
              <a:spcBef>
                <a:spcPts val="0"/>
              </a:spcBef>
              <a:spcAft>
                <a:spcPts val="500"/>
              </a:spcAft>
              <a:defRPr sz="1600" b="0">
                <a:solidFill>
                  <a:srgbClr val="29353D"/>
                </a:solidFill>
                <a:latin typeface="Segoe UI"/>
              </a:defRPr>
            </a:pPr>
            <a:r>
              <a:t>API authentication</a:t>
            </a:r>
          </a:p>
        </p:txBody>
      </p:sp>
      <p:sp>
        <p:nvSpPr>
          <p:cNvPr id="19" name="Text"/>
          <p:cNvSpPr txBox="1"/>
          <p:nvPr/>
        </p:nvSpPr>
        <p:spPr>
          <a:xfrm>
            <a:off x="3831336" y="3781044"/>
            <a:ext cx="3566160" cy="402336"/>
          </a:xfrm>
          <a:prstGeom prst="rect">
            <a:avLst/>
          </a:prstGeom>
          <a:noFill/>
        </p:spPr>
        <p:txBody>
          <a:bodyPr wrap="square" lIns="0" rIns="0" tIns="0" bIns="0">
            <a:spAutoFit/>
          </a:bodyPr>
          <a:lstStyle/>
          <a:p>
            <a:pPr algn="l">
              <a:spcBef>
                <a:spcPts val="0"/>
              </a:spcBef>
              <a:spcAft>
                <a:spcPts val="500"/>
              </a:spcAft>
              <a:defRPr sz="1600" b="0">
                <a:solidFill>
                  <a:srgbClr val="29353D"/>
                </a:solidFill>
                <a:latin typeface="Segoe UI"/>
              </a:defRPr>
            </a:pPr>
            <a:r>
              <a:t>Entra token -&gt; GenerateToken</a:t>
            </a:r>
          </a:p>
        </p:txBody>
      </p:sp>
      <p:sp>
        <p:nvSpPr>
          <p:cNvPr id="20" name="Text"/>
          <p:cNvSpPr txBox="1"/>
          <p:nvPr/>
        </p:nvSpPr>
        <p:spPr>
          <a:xfrm>
            <a:off x="7763256" y="3781044"/>
            <a:ext cx="3538727" cy="402336"/>
          </a:xfrm>
          <a:prstGeom prst="rect">
            <a:avLst/>
          </a:prstGeom>
          <a:noFill/>
        </p:spPr>
        <p:txBody>
          <a:bodyPr wrap="square" lIns="0" rIns="0" tIns="0" bIns="0">
            <a:spAutoFit/>
          </a:bodyPr>
          <a:lstStyle/>
          <a:p>
            <a:pPr algn="l">
              <a:spcBef>
                <a:spcPts val="0"/>
              </a:spcBef>
              <a:spcAft>
                <a:spcPts val="500"/>
              </a:spcAft>
              <a:defRPr sz="1600" b="0">
                <a:solidFill>
                  <a:srgbClr val="29353D"/>
                </a:solidFill>
                <a:latin typeface="Segoe UI"/>
              </a:defRPr>
            </a:pPr>
            <a:r>
              <a:t>Entra token -&gt; executeDaxQueries</a:t>
            </a:r>
          </a:p>
        </p:txBody>
      </p:sp>
      <p:sp>
        <p:nvSpPr>
          <p:cNvPr id="21" name="Panel"/>
          <p:cNvSpPr/>
          <p:nvPr/>
        </p:nvSpPr>
        <p:spPr>
          <a:xfrm>
            <a:off x="585216" y="4261104"/>
            <a:ext cx="11018520" cy="580644"/>
          </a:xfrm>
          <a:prstGeom prst="rect">
            <a:avLst/>
          </a:prstGeom>
          <a:solidFill>
            <a:srgbClr val="EEF6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
          <p:cNvSpPr txBox="1"/>
          <p:nvPr/>
        </p:nvSpPr>
        <p:spPr>
          <a:xfrm>
            <a:off x="731519" y="4389120"/>
            <a:ext cx="2743200" cy="402336"/>
          </a:xfrm>
          <a:prstGeom prst="rect">
            <a:avLst/>
          </a:prstGeom>
          <a:noFill/>
        </p:spPr>
        <p:txBody>
          <a:bodyPr wrap="square" lIns="0" rIns="0" tIns="0" bIns="0">
            <a:spAutoFit/>
          </a:bodyPr>
          <a:lstStyle/>
          <a:p>
            <a:pPr algn="l">
              <a:spcBef>
                <a:spcPts val="0"/>
              </a:spcBef>
              <a:spcAft>
                <a:spcPts val="500"/>
              </a:spcAft>
              <a:defRPr sz="1600" b="0">
                <a:solidFill>
                  <a:srgbClr val="29353D"/>
                </a:solidFill>
                <a:latin typeface="Segoe UI"/>
              </a:defRPr>
            </a:pPr>
            <a:r>
              <a:t>Delivery</a:t>
            </a:r>
          </a:p>
        </p:txBody>
      </p:sp>
      <p:sp>
        <p:nvSpPr>
          <p:cNvPr id="23" name="Text"/>
          <p:cNvSpPr txBox="1"/>
          <p:nvPr/>
        </p:nvSpPr>
        <p:spPr>
          <a:xfrm>
            <a:off x="3831336" y="4389120"/>
            <a:ext cx="3566160" cy="402336"/>
          </a:xfrm>
          <a:prstGeom prst="rect">
            <a:avLst/>
          </a:prstGeom>
          <a:noFill/>
        </p:spPr>
        <p:txBody>
          <a:bodyPr wrap="square" lIns="0" rIns="0" tIns="0" bIns="0">
            <a:spAutoFit/>
          </a:bodyPr>
          <a:lstStyle/>
          <a:p>
            <a:pPr algn="l">
              <a:spcBef>
                <a:spcPts val="0"/>
              </a:spcBef>
              <a:spcAft>
                <a:spcPts val="500"/>
              </a:spcAft>
              <a:defRPr sz="1600" b="0">
                <a:solidFill>
                  <a:srgbClr val="29353D"/>
                </a:solidFill>
                <a:latin typeface="Segoe UI"/>
              </a:defRPr>
            </a:pPr>
            <a:r>
              <a:t>Embedded report experience</a:t>
            </a:r>
          </a:p>
        </p:txBody>
      </p:sp>
      <p:sp>
        <p:nvSpPr>
          <p:cNvPr id="24" name="Text"/>
          <p:cNvSpPr txBox="1"/>
          <p:nvPr/>
        </p:nvSpPr>
        <p:spPr>
          <a:xfrm>
            <a:off x="7763256" y="4389120"/>
            <a:ext cx="3538727" cy="402336"/>
          </a:xfrm>
          <a:prstGeom prst="rect">
            <a:avLst/>
          </a:prstGeom>
          <a:noFill/>
        </p:spPr>
        <p:txBody>
          <a:bodyPr wrap="square" lIns="0" rIns="0" tIns="0" bIns="0">
            <a:spAutoFit/>
          </a:bodyPr>
          <a:lstStyle/>
          <a:p>
            <a:pPr algn="l">
              <a:spcBef>
                <a:spcPts val="0"/>
              </a:spcBef>
              <a:spcAft>
                <a:spcPts val="500"/>
              </a:spcAft>
              <a:defRPr sz="1600" b="0">
                <a:solidFill>
                  <a:srgbClr val="29353D"/>
                </a:solidFill>
                <a:latin typeface="Segoe UI"/>
              </a:defRPr>
            </a:pPr>
            <a:r>
              <a:t>Authorized rows + explanation</a:t>
            </a:r>
          </a:p>
        </p:txBody>
      </p:sp>
      <p:sp>
        <p:nvSpPr>
          <p:cNvPr id="25" name="Panel"/>
          <p:cNvSpPr/>
          <p:nvPr/>
        </p:nvSpPr>
        <p:spPr>
          <a:xfrm>
            <a:off x="585216" y="4869180"/>
            <a:ext cx="11018520" cy="580644"/>
          </a:xfrm>
          <a:prstGeom prst="rect">
            <a:avLst/>
          </a:prstGeom>
          <a:solidFill>
            <a:srgbClr val="EC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
          <p:cNvSpPr txBox="1"/>
          <p:nvPr/>
        </p:nvSpPr>
        <p:spPr>
          <a:xfrm>
            <a:off x="731519" y="4997196"/>
            <a:ext cx="2743200" cy="402336"/>
          </a:xfrm>
          <a:prstGeom prst="rect">
            <a:avLst/>
          </a:prstGeom>
          <a:noFill/>
        </p:spPr>
        <p:txBody>
          <a:bodyPr wrap="square" lIns="0" rIns="0" tIns="0" bIns="0">
            <a:spAutoFit/>
          </a:bodyPr>
          <a:lstStyle/>
          <a:p>
            <a:pPr algn="l">
              <a:spcBef>
                <a:spcPts val="0"/>
              </a:spcBef>
              <a:spcAft>
                <a:spcPts val="500"/>
              </a:spcAft>
              <a:defRPr sz="1600" b="0">
                <a:solidFill>
                  <a:srgbClr val="29353D"/>
                </a:solidFill>
                <a:latin typeface="Segoe UI"/>
              </a:defRPr>
            </a:pPr>
            <a:r>
              <a:t>Additional dependency</a:t>
            </a:r>
          </a:p>
        </p:txBody>
      </p:sp>
      <p:sp>
        <p:nvSpPr>
          <p:cNvPr id="27" name="Text"/>
          <p:cNvSpPr txBox="1"/>
          <p:nvPr/>
        </p:nvSpPr>
        <p:spPr>
          <a:xfrm>
            <a:off x="3831336" y="4997196"/>
            <a:ext cx="3566160" cy="402336"/>
          </a:xfrm>
          <a:prstGeom prst="rect">
            <a:avLst/>
          </a:prstGeom>
          <a:noFill/>
        </p:spPr>
        <p:txBody>
          <a:bodyPr wrap="square" lIns="0" rIns="0" tIns="0" bIns="0">
            <a:spAutoFit/>
          </a:bodyPr>
          <a:lstStyle/>
          <a:p>
            <a:pPr algn="l">
              <a:spcBef>
                <a:spcPts val="0"/>
              </a:spcBef>
              <a:spcAft>
                <a:spcPts val="500"/>
              </a:spcAft>
              <a:defRPr sz="1600" b="0">
                <a:solidFill>
                  <a:srgbClr val="29353D"/>
                </a:solidFill>
                <a:latin typeface="Segoe UI"/>
              </a:defRPr>
            </a:pPr>
            <a:r>
              <a:t>Report and embed-token lifecycle</a:t>
            </a:r>
          </a:p>
        </p:txBody>
      </p:sp>
      <p:sp>
        <p:nvSpPr>
          <p:cNvPr id="28" name="Text"/>
          <p:cNvSpPr txBox="1"/>
          <p:nvPr/>
        </p:nvSpPr>
        <p:spPr>
          <a:xfrm>
            <a:off x="7763256" y="4997196"/>
            <a:ext cx="3538727" cy="402336"/>
          </a:xfrm>
          <a:prstGeom prst="rect">
            <a:avLst/>
          </a:prstGeom>
          <a:noFill/>
        </p:spPr>
        <p:txBody>
          <a:bodyPr wrap="square" lIns="0" rIns="0" tIns="0" bIns="0">
            <a:spAutoFit/>
          </a:bodyPr>
          <a:lstStyle/>
          <a:p>
            <a:pPr algn="l">
              <a:spcBef>
                <a:spcPts val="0"/>
              </a:spcBef>
              <a:spcAft>
                <a:spcPts val="500"/>
              </a:spcAft>
              <a:defRPr sz="1600" b="0">
                <a:solidFill>
                  <a:srgbClr val="29353D"/>
                </a:solidFill>
                <a:latin typeface="Segoe UI"/>
              </a:defRPr>
            </a:pPr>
            <a:r>
              <a:t>Delegated IQ schema + LLM</a:t>
            </a:r>
          </a:p>
        </p:txBody>
      </p:sp>
      <p:sp>
        <p:nvSpPr>
          <p:cNvPr id="29" name="Panel"/>
          <p:cNvSpPr/>
          <p:nvPr/>
        </p:nvSpPr>
        <p:spPr>
          <a:xfrm>
            <a:off x="585216" y="5733288"/>
            <a:ext cx="11018520" cy="539496"/>
          </a:xfrm>
          <a:prstGeom prst="rect">
            <a:avLst/>
          </a:prstGeom>
          <a:solidFill>
            <a:srgbClr val="E8F6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
          <p:cNvSpPr txBox="1"/>
          <p:nvPr/>
        </p:nvSpPr>
        <p:spPr>
          <a:xfrm>
            <a:off x="768096" y="5824727"/>
            <a:ext cx="10652760" cy="384048"/>
          </a:xfrm>
          <a:prstGeom prst="rect">
            <a:avLst/>
          </a:prstGeom>
          <a:noFill/>
        </p:spPr>
        <p:txBody>
          <a:bodyPr wrap="square" lIns="0" rIns="0" tIns="0" bIns="0">
            <a:spAutoFit/>
          </a:bodyPr>
          <a:lstStyle/>
          <a:p>
            <a:pPr algn="l">
              <a:spcBef>
                <a:spcPts val="0"/>
              </a:spcBef>
              <a:spcAft>
                <a:spcPts val="500"/>
              </a:spcAft>
              <a:defRPr sz="2000" b="1">
                <a:solidFill>
                  <a:srgbClr val="29353D"/>
                </a:solidFill>
                <a:latin typeface="Segoe UI"/>
              </a:defRPr>
            </a:pPr>
            <a:r>
              <a:t>An embed token does not authenticate Fabric IQ or the query REST API.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lide title"/>
          <p:cNvSpPr txBox="1"/>
          <p:nvPr/>
        </p:nvSpPr>
        <p:spPr>
          <a:xfrm>
            <a:off x="585216" y="420624"/>
            <a:ext cx="11018520" cy="786384"/>
          </a:xfrm>
          <a:prstGeom prst="rect">
            <a:avLst/>
          </a:prstGeom>
          <a:noFill/>
        </p:spPr>
        <p:txBody>
          <a:bodyPr wrap="square" lIns="0" rIns="0" tIns="0" bIns="0">
            <a:spAutoFit/>
          </a:bodyPr>
          <a:lstStyle/>
          <a:p>
            <a:pPr algn="l">
              <a:spcBef>
                <a:spcPts val="0"/>
              </a:spcBef>
              <a:spcAft>
                <a:spcPts val="500"/>
              </a:spcAft>
              <a:defRPr sz="3000" b="0">
                <a:solidFill>
                  <a:srgbClr val="29353D"/>
                </a:solidFill>
                <a:latin typeface="Segoe UI Semibold"/>
              </a:defRPr>
            </a:pPr>
            <a:r>
              <a:t>Align the identity contract before claiming shared RLS.</a:t>
            </a:r>
          </a:p>
        </p:txBody>
      </p:sp>
      <p:sp>
        <p:nvSpPr>
          <p:cNvPr id="3" name="Text"/>
          <p:cNvSpPr txBox="1"/>
          <p:nvPr/>
        </p:nvSpPr>
        <p:spPr>
          <a:xfrm>
            <a:off x="603504" y="1225296"/>
            <a:ext cx="10881360" cy="548640"/>
          </a:xfrm>
          <a:prstGeom prst="rect">
            <a:avLst/>
          </a:prstGeom>
          <a:noFill/>
        </p:spPr>
        <p:txBody>
          <a:bodyPr wrap="square" lIns="0" rIns="0" tIns="0" bIns="0">
            <a:spAutoFit/>
          </a:bodyPr>
          <a:lstStyle/>
          <a:p>
            <a:pPr algn="l">
              <a:spcBef>
                <a:spcPts val="0"/>
              </a:spcBef>
              <a:spcAft>
                <a:spcPts val="500"/>
              </a:spcAft>
              <a:defRPr sz="1700" b="0">
                <a:solidFill>
                  <a:srgbClr val="6B7780"/>
                </a:solidFill>
                <a:latin typeface="Segoe UI"/>
              </a:defRPr>
            </a:pPr>
            <a:r>
              <a:t>Proposed cloud-model alignment | Same opaque key; different request envelopes.</a:t>
            </a:r>
          </a:p>
        </p:txBody>
      </p:sp>
      <p:sp>
        <p:nvSpPr>
          <p:cNvPr id="4" name="Text"/>
          <p:cNvSpPr txBox="1"/>
          <p:nvPr/>
        </p:nvSpPr>
        <p:spPr>
          <a:xfrm>
            <a:off x="603504" y="6483096"/>
            <a:ext cx="10972800" cy="201168"/>
          </a:xfrm>
          <a:prstGeom prst="rect">
            <a:avLst/>
          </a:prstGeom>
          <a:noFill/>
        </p:spPr>
        <p:txBody>
          <a:bodyPr wrap="square" lIns="0" rIns="0" tIns="0" bIns="0">
            <a:spAutoFit/>
          </a:bodyPr>
          <a:lstStyle/>
          <a:p>
            <a:pPr algn="l">
              <a:spcBef>
                <a:spcPts val="0"/>
              </a:spcBef>
              <a:spcAft>
                <a:spcPts val="500"/>
              </a:spcAft>
              <a:defRPr sz="900" b="0">
                <a:solidFill>
                  <a:srgbClr val="6B7780"/>
                </a:solidFill>
                <a:latin typeface="Segoe UI"/>
              </a:defRPr>
            </a:pPr>
            <a:r>
              <a:t>Sources: S2, S4, S5 | 28 September 2026</a:t>
            </a:r>
          </a:p>
        </p:txBody>
      </p:sp>
      <p:sp>
        <p:nvSpPr>
          <p:cNvPr id="5" name="Text"/>
          <p:cNvSpPr txBox="1"/>
          <p:nvPr/>
        </p:nvSpPr>
        <p:spPr>
          <a:xfrm>
            <a:off x="658368" y="1920240"/>
            <a:ext cx="5056632" cy="484632"/>
          </a:xfrm>
          <a:prstGeom prst="rect">
            <a:avLst/>
          </a:prstGeom>
          <a:noFill/>
        </p:spPr>
        <p:txBody>
          <a:bodyPr wrap="square" lIns="0" rIns="0" tIns="0" bIns="0">
            <a:spAutoFit/>
          </a:bodyPr>
          <a:lstStyle/>
          <a:p>
            <a:pPr algn="l">
              <a:spcBef>
                <a:spcPts val="0"/>
              </a:spcBef>
              <a:spcAft>
                <a:spcPts val="500"/>
              </a:spcAft>
              <a:defRPr sz="2200" b="1">
                <a:solidFill>
                  <a:srgbClr val="29353D"/>
                </a:solidFill>
                <a:latin typeface="Segoe UI"/>
              </a:defRPr>
            </a:pPr>
            <a:r>
              <a:t>Embedded: effective identity</a:t>
            </a:r>
          </a:p>
        </p:txBody>
      </p:sp>
      <p:sp>
        <p:nvSpPr>
          <p:cNvPr id="6" name="Panel"/>
          <p:cNvSpPr/>
          <p:nvPr/>
        </p:nvSpPr>
        <p:spPr>
          <a:xfrm>
            <a:off x="658368" y="2724912"/>
            <a:ext cx="5084064" cy="1865376"/>
          </a:xfrm>
          <a:prstGeom prst="roundRect">
            <a:avLst>
              <a:gd name="adj" fmla="val 10000"/>
            </a:avLst>
          </a:prstGeom>
          <a:solidFill>
            <a:srgbClr val="2935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
          <p:cNvSpPr txBox="1"/>
          <p:nvPr/>
        </p:nvSpPr>
        <p:spPr>
          <a:xfrm>
            <a:off x="822959" y="2944368"/>
            <a:ext cx="4745736" cy="1463040"/>
          </a:xfrm>
          <a:prstGeom prst="rect">
            <a:avLst/>
          </a:prstGeom>
          <a:noFill/>
        </p:spPr>
        <p:txBody>
          <a:bodyPr wrap="square" lIns="0" rIns="0" tIns="0" bIns="0">
            <a:spAutoFit/>
          </a:bodyPr>
          <a:lstStyle/>
          <a:p>
            <a:pPr algn="l">
              <a:spcBef>
                <a:spcPts val="0"/>
              </a:spcBef>
              <a:spcAft>
                <a:spcPts val="500"/>
              </a:spcAft>
              <a:defRPr sz="1600" b="0">
                <a:solidFill>
                  <a:srgbClr val="E6ECEF"/>
                </a:solidFill>
                <a:latin typeface="Cascadia Mono"/>
              </a:defRPr>
            </a:pPr>
            <a:r>
              <a:t>username: "app-user-A1"</a:t>
            </a:r>
          </a:p>
          <a:p>
            <a:pPr algn="l">
              <a:spcBef>
                <a:spcPts val="0"/>
              </a:spcBef>
              <a:spcAft>
                <a:spcPts val="500"/>
              </a:spcAft>
              <a:defRPr sz="1600" b="0">
                <a:solidFill>
                  <a:srgbClr val="E6ECEF"/>
                </a:solidFill>
                <a:latin typeface="Cascadia Mono"/>
              </a:defRPr>
            </a:pPr>
            <a:r>
              <a:t>roles: ["ExternalAppScope"]</a:t>
            </a:r>
          </a:p>
          <a:p>
            <a:pPr algn="l">
              <a:spcBef>
                <a:spcPts val="0"/>
              </a:spcBef>
              <a:spcAft>
                <a:spcPts val="500"/>
              </a:spcAft>
              <a:defRPr sz="1600" b="0">
                <a:solidFill>
                  <a:srgbClr val="E6ECEF"/>
                </a:solidFill>
                <a:latin typeface="Cascadia Mono"/>
              </a:defRPr>
            </a:pPr>
            <a:r>
              <a:t>customData: "app-user-A1"</a:t>
            </a:r>
          </a:p>
          <a:p>
            <a:pPr algn="l">
              <a:spcBef>
                <a:spcPts val="0"/>
              </a:spcBef>
              <a:spcAft>
                <a:spcPts val="500"/>
              </a:spcAft>
              <a:defRPr sz="1600" b="0">
                <a:solidFill>
                  <a:srgbClr val="E6ECEF"/>
                </a:solidFill>
                <a:latin typeface="Cascadia Mono"/>
              </a:defRPr>
            </a:pPr>
            <a:r>
              <a:t>datasets: [approvedModel]</a:t>
            </a:r>
          </a:p>
        </p:txBody>
      </p:sp>
      <p:sp>
        <p:nvSpPr>
          <p:cNvPr id="8" name="Text"/>
          <p:cNvSpPr txBox="1"/>
          <p:nvPr/>
        </p:nvSpPr>
        <p:spPr>
          <a:xfrm>
            <a:off x="6455664" y="1920240"/>
            <a:ext cx="5056632" cy="484632"/>
          </a:xfrm>
          <a:prstGeom prst="rect">
            <a:avLst/>
          </a:prstGeom>
          <a:noFill/>
        </p:spPr>
        <p:txBody>
          <a:bodyPr wrap="square" lIns="0" rIns="0" tIns="0" bIns="0">
            <a:spAutoFit/>
          </a:bodyPr>
          <a:lstStyle/>
          <a:p>
            <a:pPr algn="l">
              <a:spcBef>
                <a:spcPts val="0"/>
              </a:spcBef>
              <a:spcAft>
                <a:spcPts val="500"/>
              </a:spcAft>
              <a:defRPr sz="2200" b="1">
                <a:solidFill>
                  <a:srgbClr val="29353D"/>
                </a:solidFill>
                <a:latin typeface="Segoe UI"/>
              </a:defRPr>
            </a:pPr>
            <a:r>
              <a:t>Query: server-built request</a:t>
            </a:r>
          </a:p>
        </p:txBody>
      </p:sp>
      <p:sp>
        <p:nvSpPr>
          <p:cNvPr id="9" name="Panel"/>
          <p:cNvSpPr/>
          <p:nvPr/>
        </p:nvSpPr>
        <p:spPr>
          <a:xfrm>
            <a:off x="6455664" y="2724912"/>
            <a:ext cx="5084064" cy="1865376"/>
          </a:xfrm>
          <a:prstGeom prst="roundRect">
            <a:avLst>
              <a:gd name="adj" fmla="val 10000"/>
            </a:avLst>
          </a:prstGeom>
          <a:solidFill>
            <a:srgbClr val="2935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
          <p:cNvSpPr txBox="1"/>
          <p:nvPr/>
        </p:nvSpPr>
        <p:spPr>
          <a:xfrm>
            <a:off x="6620255" y="2944368"/>
            <a:ext cx="4745736" cy="1463040"/>
          </a:xfrm>
          <a:prstGeom prst="rect">
            <a:avLst/>
          </a:prstGeom>
          <a:noFill/>
        </p:spPr>
        <p:txBody>
          <a:bodyPr wrap="square" lIns="0" rIns="0" tIns="0" bIns="0">
            <a:spAutoFit/>
          </a:bodyPr>
          <a:lstStyle/>
          <a:p>
            <a:pPr algn="l">
              <a:spcBef>
                <a:spcPts val="0"/>
              </a:spcBef>
              <a:spcAft>
                <a:spcPts val="500"/>
              </a:spcAft>
              <a:defRPr sz="1600" b="0">
                <a:solidFill>
                  <a:srgbClr val="E6ECEF"/>
                </a:solidFill>
                <a:latin typeface="Cascadia Mono"/>
              </a:defRPr>
            </a:pPr>
            <a:r>
              <a:t>query: generatedDax</a:t>
            </a:r>
          </a:p>
          <a:p>
            <a:pPr algn="l">
              <a:spcBef>
                <a:spcPts val="0"/>
              </a:spcBef>
              <a:spcAft>
                <a:spcPts val="500"/>
              </a:spcAft>
              <a:defRPr sz="1600" b="0">
                <a:solidFill>
                  <a:srgbClr val="E6ECEF"/>
                </a:solidFill>
                <a:latin typeface="Cascadia Mono"/>
              </a:defRPr>
            </a:pPr>
            <a:r>
              <a:t>roles: ["ExternalAppScope"]</a:t>
            </a:r>
          </a:p>
          <a:p>
            <a:pPr algn="l">
              <a:spcBef>
                <a:spcPts val="0"/>
              </a:spcBef>
              <a:spcAft>
                <a:spcPts val="500"/>
              </a:spcAft>
              <a:defRPr sz="1600" b="0">
                <a:solidFill>
                  <a:srgbClr val="E6ECEF"/>
                </a:solidFill>
                <a:latin typeface="Cascadia Mono"/>
              </a:defRPr>
            </a:pPr>
            <a:r>
              <a:t>customData: "app-user-A1"</a:t>
            </a:r>
          </a:p>
        </p:txBody>
      </p:sp>
      <p:sp>
        <p:nvSpPr>
          <p:cNvPr id="11" name="Text"/>
          <p:cNvSpPr txBox="1"/>
          <p:nvPr/>
        </p:nvSpPr>
        <p:spPr>
          <a:xfrm>
            <a:off x="694944" y="4974336"/>
            <a:ext cx="10881360" cy="521207"/>
          </a:xfrm>
          <a:prstGeom prst="rect">
            <a:avLst/>
          </a:prstGeom>
          <a:noFill/>
        </p:spPr>
        <p:txBody>
          <a:bodyPr wrap="square" lIns="0" rIns="0" tIns="0" bIns="0">
            <a:spAutoFit/>
          </a:bodyPr>
          <a:lstStyle/>
          <a:p>
            <a:pPr algn="l">
              <a:spcBef>
                <a:spcPts val="0"/>
              </a:spcBef>
              <a:spcAft>
                <a:spcPts val="500"/>
              </a:spcAft>
              <a:defRPr sz="2000" b="0">
                <a:solidFill>
                  <a:srgbClr val="29353D"/>
                </a:solidFill>
                <a:latin typeface="Segoe UI"/>
              </a:defRPr>
            </a:pPr>
            <a:r>
              <a:t>Existing USERNAME() roles may need adaptation to the CUSTOMDATA() contract.</a:t>
            </a:r>
          </a:p>
        </p:txBody>
      </p:sp>
      <p:sp>
        <p:nvSpPr>
          <p:cNvPr id="12" name="Panel"/>
          <p:cNvSpPr/>
          <p:nvPr/>
        </p:nvSpPr>
        <p:spPr>
          <a:xfrm>
            <a:off x="585216" y="5733288"/>
            <a:ext cx="11018520" cy="539496"/>
          </a:xfrm>
          <a:prstGeom prst="rect">
            <a:avLst/>
          </a:prstGeom>
          <a:solidFill>
            <a:srgbClr val="E8F6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
          <p:cNvSpPr txBox="1"/>
          <p:nvPr/>
        </p:nvSpPr>
        <p:spPr>
          <a:xfrm>
            <a:off x="768096" y="5824727"/>
            <a:ext cx="10652760" cy="384048"/>
          </a:xfrm>
          <a:prstGeom prst="rect">
            <a:avLst/>
          </a:prstGeom>
          <a:noFill/>
        </p:spPr>
        <p:txBody>
          <a:bodyPr wrap="square" lIns="0" rIns="0" tIns="0" bIns="0">
            <a:spAutoFit/>
          </a:bodyPr>
          <a:lstStyle/>
          <a:p>
            <a:pPr algn="l">
              <a:spcBef>
                <a:spcPts val="0"/>
              </a:spcBef>
              <a:spcAft>
                <a:spcPts val="500"/>
              </a:spcAft>
              <a:defRPr sz="1900" b="1">
                <a:solidFill>
                  <a:srgbClr val="29353D"/>
                </a:solidFill>
                <a:latin typeface="Segoe UI"/>
              </a:defRPr>
            </a:pPr>
            <a:r>
              <a:t>Reuse the access policy deliberately. Prove equivalent rows through both experiences.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29353D"/>
        </a:solidFill>
        <a:effectLst/>
      </p:bgPr>
    </p:bg>
    <p:spTree>
      <p:nvGrpSpPr>
        <p:cNvPr id="1" name=""/>
        <p:cNvGrpSpPr/>
        <p:nvPr/>
      </p:nvGrpSpPr>
      <p:grpSpPr/>
      <p:sp>
        <p:nvSpPr>
          <p:cNvPr id="2" name="Slide title"/>
          <p:cNvSpPr txBox="1"/>
          <p:nvPr/>
        </p:nvSpPr>
        <p:spPr>
          <a:xfrm>
            <a:off x="585216" y="420624"/>
            <a:ext cx="11018520" cy="786384"/>
          </a:xfrm>
          <a:prstGeom prst="rect">
            <a:avLst/>
          </a:prstGeom>
          <a:noFill/>
        </p:spPr>
        <p:txBody>
          <a:bodyPr wrap="square" lIns="0" rIns="0" tIns="0" bIns="0">
            <a:spAutoFit/>
          </a:bodyPr>
          <a:lstStyle/>
          <a:p>
            <a:pPr algn="l">
              <a:spcBef>
                <a:spcPts val="0"/>
              </a:spcBef>
              <a:spcAft>
                <a:spcPts val="500"/>
              </a:spcAft>
              <a:defRPr sz="3000" b="0">
                <a:solidFill>
                  <a:srgbClr val="FFFFFF"/>
                </a:solidFill>
                <a:latin typeface="Segoe UI Semibold"/>
              </a:defRPr>
            </a:pPr>
            <a:r>
              <a:t>The query path already passed the engine-RLS proof.</a:t>
            </a:r>
          </a:p>
        </p:txBody>
      </p:sp>
      <p:sp>
        <p:nvSpPr>
          <p:cNvPr id="3" name="Text"/>
          <p:cNvSpPr txBox="1"/>
          <p:nvPr/>
        </p:nvSpPr>
        <p:spPr>
          <a:xfrm>
            <a:off x="603504" y="1225296"/>
            <a:ext cx="10881360" cy="548640"/>
          </a:xfrm>
          <a:prstGeom prst="rect">
            <a:avLst/>
          </a:prstGeom>
          <a:noFill/>
        </p:spPr>
        <p:txBody>
          <a:bodyPr wrap="square" lIns="0" rIns="0" tIns="0" bIns="0">
            <a:spAutoFit/>
          </a:bodyPr>
          <a:lstStyle/>
          <a:p>
            <a:pPr algn="l">
              <a:spcBef>
                <a:spcPts val="0"/>
              </a:spcBef>
              <a:spcAft>
                <a:spcPts val="500"/>
              </a:spcAft>
              <a:defRPr sz="1700" b="0">
                <a:solidFill>
                  <a:srgbClr val="A9B8C0"/>
                </a:solidFill>
                <a:latin typeface="Segoe UI"/>
              </a:defRPr>
            </a:pPr>
            <a:r>
              <a:t>Observed 28 September 2026 | Synthetic Import model | Same unfiltered DAX</a:t>
            </a:r>
          </a:p>
        </p:txBody>
      </p:sp>
      <p:sp>
        <p:nvSpPr>
          <p:cNvPr id="4" name="Text"/>
          <p:cNvSpPr txBox="1"/>
          <p:nvPr/>
        </p:nvSpPr>
        <p:spPr>
          <a:xfrm>
            <a:off x="603504" y="6483096"/>
            <a:ext cx="10972800" cy="201168"/>
          </a:xfrm>
          <a:prstGeom prst="rect">
            <a:avLst/>
          </a:prstGeom>
          <a:noFill/>
        </p:spPr>
        <p:txBody>
          <a:bodyPr wrap="square" lIns="0" rIns="0" tIns="0" bIns="0">
            <a:spAutoFit/>
          </a:bodyPr>
          <a:lstStyle/>
          <a:p>
            <a:pPr algn="l">
              <a:spcBef>
                <a:spcPts val="0"/>
              </a:spcBef>
              <a:spcAft>
                <a:spcPts val="500"/>
              </a:spcAft>
              <a:defRPr sz="900" b="0">
                <a:solidFill>
                  <a:srgbClr val="A9B8C0"/>
                </a:solidFill>
                <a:latin typeface="Segoe UI"/>
              </a:defRPr>
            </a:pPr>
            <a:r>
              <a:t>Sources: E1, S2 | 28 September 2026</a:t>
            </a:r>
          </a:p>
        </p:txBody>
      </p:sp>
      <p:sp>
        <p:nvSpPr>
          <p:cNvPr id="5" name="Text"/>
          <p:cNvSpPr txBox="1"/>
          <p:nvPr/>
        </p:nvSpPr>
        <p:spPr>
          <a:xfrm>
            <a:off x="704088" y="1856231"/>
            <a:ext cx="3557016" cy="1188720"/>
          </a:xfrm>
          <a:prstGeom prst="rect">
            <a:avLst/>
          </a:prstGeom>
          <a:noFill/>
        </p:spPr>
        <p:txBody>
          <a:bodyPr wrap="square" lIns="0" rIns="0" tIns="0" bIns="0">
            <a:spAutoFit/>
          </a:bodyPr>
          <a:lstStyle/>
          <a:p>
            <a:pPr algn="l">
              <a:spcBef>
                <a:spcPts val="0"/>
              </a:spcBef>
              <a:spcAft>
                <a:spcPts val="500"/>
              </a:spcAft>
              <a:defRPr sz="6600" b="0">
                <a:solidFill>
                  <a:srgbClr val="49C5B1"/>
                </a:solidFill>
                <a:latin typeface="Segoe UI Light"/>
              </a:defRPr>
            </a:pPr>
            <a:r>
              <a:t>42/42</a:t>
            </a:r>
          </a:p>
        </p:txBody>
      </p:sp>
      <p:sp>
        <p:nvSpPr>
          <p:cNvPr id="6" name="Text"/>
          <p:cNvSpPr txBox="1"/>
          <p:nvPr/>
        </p:nvSpPr>
        <p:spPr>
          <a:xfrm>
            <a:off x="740664" y="3136392"/>
            <a:ext cx="3337560" cy="868680"/>
          </a:xfrm>
          <a:prstGeom prst="rect">
            <a:avLst/>
          </a:prstGeom>
          <a:noFill/>
        </p:spPr>
        <p:txBody>
          <a:bodyPr wrap="square" lIns="0" rIns="0" tIns="0" bIns="0">
            <a:spAutoFit/>
          </a:bodyPr>
          <a:lstStyle/>
          <a:p>
            <a:pPr algn="l">
              <a:spcBef>
                <a:spcPts val="0"/>
              </a:spcBef>
              <a:spcAft>
                <a:spcPts val="500"/>
              </a:spcAft>
              <a:defRPr sz="2500" b="0">
                <a:solidFill>
                  <a:srgbClr val="E6ECEF"/>
                </a:solidFill>
                <a:latin typeface="Segoe UI"/>
              </a:defRPr>
            </a:pPr>
            <a:r>
              <a:t>Live RLS</a:t>
            </a:r>
          </a:p>
          <a:p>
            <a:pPr algn="l">
              <a:spcBef>
                <a:spcPts val="0"/>
              </a:spcBef>
              <a:spcAft>
                <a:spcPts val="500"/>
              </a:spcAft>
              <a:defRPr sz="2500" b="0">
                <a:solidFill>
                  <a:srgbClr val="E6ECEF"/>
                </a:solidFill>
                <a:latin typeface="Segoe UI"/>
              </a:defRPr>
            </a:pPr>
            <a:r>
              <a:t>acceptance checks</a:t>
            </a:r>
          </a:p>
        </p:txBody>
      </p:sp>
      <p:sp>
        <p:nvSpPr>
          <p:cNvPr id="7" name="Text"/>
          <p:cNvSpPr txBox="1"/>
          <p:nvPr/>
        </p:nvSpPr>
        <p:spPr>
          <a:xfrm>
            <a:off x="740664" y="4636008"/>
            <a:ext cx="3429000" cy="777240"/>
          </a:xfrm>
          <a:prstGeom prst="rect">
            <a:avLst/>
          </a:prstGeom>
          <a:noFill/>
        </p:spPr>
        <p:txBody>
          <a:bodyPr wrap="square" lIns="0" rIns="0" tIns="0" bIns="0">
            <a:spAutoFit/>
          </a:bodyPr>
          <a:lstStyle/>
          <a:p>
            <a:pPr algn="l">
              <a:spcBef>
                <a:spcPts val="0"/>
              </a:spcBef>
              <a:spcAft>
                <a:spcPts val="500"/>
              </a:spcAft>
              <a:defRPr sz="1800" b="0">
                <a:solidFill>
                  <a:srgbClr val="A9B8C0"/>
                </a:solidFill>
                <a:latin typeface="Segoe UI"/>
              </a:defRPr>
            </a:pPr>
            <a:r>
              <a:t>ALL / REMOVEFILTERS</a:t>
            </a:r>
          </a:p>
          <a:p>
            <a:pPr algn="l">
              <a:spcBef>
                <a:spcPts val="0"/>
              </a:spcBef>
              <a:spcAft>
                <a:spcPts val="500"/>
              </a:spcAft>
              <a:defRPr sz="1800" b="0">
                <a:solidFill>
                  <a:srgbClr val="A9B8C0"/>
                </a:solidFill>
                <a:latin typeface="Segoe UI"/>
              </a:defRPr>
            </a:pPr>
            <a:r>
              <a:t>did not expand access.</a:t>
            </a:r>
          </a:p>
        </p:txBody>
      </p:sp>
      <p:sp>
        <p:nvSpPr>
          <p:cNvPr id="8" name="Text"/>
          <p:cNvSpPr txBox="1"/>
          <p:nvPr/>
        </p:nvSpPr>
        <p:spPr>
          <a:xfrm>
            <a:off x="4645152" y="1865376"/>
            <a:ext cx="2084831" cy="283464"/>
          </a:xfrm>
          <a:prstGeom prst="rect">
            <a:avLst/>
          </a:prstGeom>
          <a:noFill/>
        </p:spPr>
        <p:txBody>
          <a:bodyPr wrap="square" lIns="0" rIns="0" tIns="0" bIns="0">
            <a:spAutoFit/>
          </a:bodyPr>
          <a:lstStyle/>
          <a:p>
            <a:pPr algn="l">
              <a:spcBef>
                <a:spcPts val="0"/>
              </a:spcBef>
              <a:spcAft>
                <a:spcPts val="500"/>
              </a:spcAft>
              <a:defRPr sz="1500" b="0">
                <a:solidFill>
                  <a:srgbClr val="A9B8C0"/>
                </a:solidFill>
                <a:latin typeface="Segoe UI"/>
              </a:defRPr>
            </a:pPr>
            <a:r>
              <a:t>Application scope</a:t>
            </a:r>
          </a:p>
        </p:txBody>
      </p:sp>
      <p:sp>
        <p:nvSpPr>
          <p:cNvPr id="9" name="Text"/>
          <p:cNvSpPr txBox="1"/>
          <p:nvPr/>
        </p:nvSpPr>
        <p:spPr>
          <a:xfrm>
            <a:off x="9619488" y="1865376"/>
            <a:ext cx="1207008" cy="283464"/>
          </a:xfrm>
          <a:prstGeom prst="rect">
            <a:avLst/>
          </a:prstGeom>
          <a:noFill/>
        </p:spPr>
        <p:txBody>
          <a:bodyPr wrap="square" lIns="0" rIns="0" tIns="0" bIns="0">
            <a:spAutoFit/>
          </a:bodyPr>
          <a:lstStyle/>
          <a:p>
            <a:pPr algn="r">
              <a:spcBef>
                <a:spcPts val="0"/>
              </a:spcBef>
              <a:spcAft>
                <a:spcPts val="500"/>
              </a:spcAft>
              <a:defRPr sz="1500" b="0">
                <a:solidFill>
                  <a:srgbClr val="A9B8C0"/>
                </a:solidFill>
                <a:latin typeface="Segoe UI"/>
              </a:defRPr>
            </a:pPr>
            <a:r>
              <a:t>Amount</a:t>
            </a:r>
          </a:p>
        </p:txBody>
      </p:sp>
      <p:sp>
        <p:nvSpPr>
          <p:cNvPr id="10" name="Text"/>
          <p:cNvSpPr txBox="1"/>
          <p:nvPr/>
        </p:nvSpPr>
        <p:spPr>
          <a:xfrm>
            <a:off x="10835640" y="1865376"/>
            <a:ext cx="758952" cy="283464"/>
          </a:xfrm>
          <a:prstGeom prst="rect">
            <a:avLst/>
          </a:prstGeom>
          <a:noFill/>
        </p:spPr>
        <p:txBody>
          <a:bodyPr wrap="square" lIns="0" rIns="0" tIns="0" bIns="0">
            <a:spAutoFit/>
          </a:bodyPr>
          <a:lstStyle/>
          <a:p>
            <a:pPr algn="r">
              <a:spcBef>
                <a:spcPts val="0"/>
              </a:spcBef>
              <a:spcAft>
                <a:spcPts val="500"/>
              </a:spcAft>
              <a:defRPr sz="1300" b="0">
                <a:solidFill>
                  <a:srgbClr val="A9B8C0"/>
                </a:solidFill>
                <a:latin typeface="Segoe UI"/>
              </a:defRPr>
            </a:pPr>
            <a:r>
              <a:t>Records</a:t>
            </a:r>
          </a:p>
        </p:txBody>
      </p:sp>
      <p:sp>
        <p:nvSpPr>
          <p:cNvPr id="11" name="Text"/>
          <p:cNvSpPr txBox="1"/>
          <p:nvPr/>
        </p:nvSpPr>
        <p:spPr>
          <a:xfrm>
            <a:off x="4636008" y="2414016"/>
            <a:ext cx="2084831" cy="274320"/>
          </a:xfrm>
          <a:prstGeom prst="rect">
            <a:avLst/>
          </a:prstGeom>
          <a:noFill/>
        </p:spPr>
        <p:txBody>
          <a:bodyPr wrap="square" lIns="0" rIns="0" tIns="0" bIns="0">
            <a:spAutoFit/>
          </a:bodyPr>
          <a:lstStyle/>
          <a:p>
            <a:pPr algn="l">
              <a:spcBef>
                <a:spcPts val="0"/>
              </a:spcBef>
              <a:spcAft>
                <a:spcPts val="500"/>
              </a:spcAft>
              <a:defRPr sz="1600" b="0">
                <a:solidFill>
                  <a:srgbClr val="E6ECEF"/>
                </a:solidFill>
                <a:latin typeface="Segoe UI"/>
              </a:defRPr>
            </a:pPr>
            <a:r>
              <a:t>A / Home</a:t>
            </a:r>
          </a:p>
        </p:txBody>
      </p:sp>
      <p:sp>
        <p:nvSpPr>
          <p:cNvPr id="12" name="Panel"/>
          <p:cNvSpPr/>
          <p:nvPr/>
        </p:nvSpPr>
        <p:spPr>
          <a:xfrm>
            <a:off x="6912864" y="2468880"/>
            <a:ext cx="596347" cy="192024"/>
          </a:xfrm>
          <a:prstGeom prst="rect">
            <a:avLst/>
          </a:prstGeom>
          <a:solidFill>
            <a:srgbClr val="49C5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
          <p:cNvSpPr txBox="1"/>
          <p:nvPr/>
        </p:nvSpPr>
        <p:spPr>
          <a:xfrm>
            <a:off x="9848088" y="2414016"/>
            <a:ext cx="969264" cy="283464"/>
          </a:xfrm>
          <a:prstGeom prst="rect">
            <a:avLst/>
          </a:prstGeom>
          <a:noFill/>
        </p:spPr>
        <p:txBody>
          <a:bodyPr wrap="square" lIns="0" rIns="0" tIns="0" bIns="0">
            <a:spAutoFit/>
          </a:bodyPr>
          <a:lstStyle/>
          <a:p>
            <a:pPr algn="r">
              <a:spcBef>
                <a:spcPts val="0"/>
              </a:spcBef>
              <a:spcAft>
                <a:spcPts val="500"/>
              </a:spcAft>
              <a:defRPr sz="1700" b="0">
                <a:solidFill>
                  <a:srgbClr val="E6ECEF"/>
                </a:solidFill>
                <a:latin typeface="Segoe UI"/>
              </a:defRPr>
            </a:pPr>
            <a:r>
              <a:t>250</a:t>
            </a:r>
          </a:p>
        </p:txBody>
      </p:sp>
      <p:sp>
        <p:nvSpPr>
          <p:cNvPr id="14" name="Text"/>
          <p:cNvSpPr txBox="1"/>
          <p:nvPr/>
        </p:nvSpPr>
        <p:spPr>
          <a:xfrm>
            <a:off x="11018520" y="2414016"/>
            <a:ext cx="393192" cy="283464"/>
          </a:xfrm>
          <a:prstGeom prst="rect">
            <a:avLst/>
          </a:prstGeom>
          <a:noFill/>
        </p:spPr>
        <p:txBody>
          <a:bodyPr wrap="square" lIns="0" rIns="0" tIns="0" bIns="0">
            <a:spAutoFit/>
          </a:bodyPr>
          <a:lstStyle/>
          <a:p>
            <a:pPr algn="r">
              <a:spcBef>
                <a:spcPts val="0"/>
              </a:spcBef>
              <a:spcAft>
                <a:spcPts val="500"/>
              </a:spcAft>
              <a:defRPr sz="1700" b="0">
                <a:solidFill>
                  <a:srgbClr val="E6ECEF"/>
                </a:solidFill>
                <a:latin typeface="Segoe UI"/>
              </a:defRPr>
            </a:pPr>
            <a:r>
              <a:t>2</a:t>
            </a:r>
          </a:p>
        </p:txBody>
      </p:sp>
      <p:sp>
        <p:nvSpPr>
          <p:cNvPr id="15" name="Text"/>
          <p:cNvSpPr txBox="1"/>
          <p:nvPr/>
        </p:nvSpPr>
        <p:spPr>
          <a:xfrm>
            <a:off x="4636008" y="2862072"/>
            <a:ext cx="2084831" cy="274320"/>
          </a:xfrm>
          <a:prstGeom prst="rect">
            <a:avLst/>
          </a:prstGeom>
          <a:noFill/>
        </p:spPr>
        <p:txBody>
          <a:bodyPr wrap="square" lIns="0" rIns="0" tIns="0" bIns="0">
            <a:spAutoFit/>
          </a:bodyPr>
          <a:lstStyle/>
          <a:p>
            <a:pPr algn="l">
              <a:spcBef>
                <a:spcPts val="0"/>
              </a:spcBef>
              <a:spcAft>
                <a:spcPts val="500"/>
              </a:spcAft>
              <a:defRPr sz="1600" b="0">
                <a:solidFill>
                  <a:srgbClr val="E6ECEF"/>
                </a:solidFill>
                <a:latin typeface="Segoe UI"/>
              </a:defRPr>
            </a:pPr>
            <a:r>
              <a:t>A / Auto</a:t>
            </a:r>
          </a:p>
        </p:txBody>
      </p:sp>
      <p:sp>
        <p:nvSpPr>
          <p:cNvPr id="16" name="Panel"/>
          <p:cNvSpPr/>
          <p:nvPr/>
        </p:nvSpPr>
        <p:spPr>
          <a:xfrm>
            <a:off x="6912864" y="2916936"/>
            <a:ext cx="238539" cy="192024"/>
          </a:xfrm>
          <a:prstGeom prst="rect">
            <a:avLst/>
          </a:prstGeom>
          <a:solidFill>
            <a:srgbClr val="49C5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
          <p:cNvSpPr txBox="1"/>
          <p:nvPr/>
        </p:nvSpPr>
        <p:spPr>
          <a:xfrm>
            <a:off x="9848088" y="2862072"/>
            <a:ext cx="969264" cy="283464"/>
          </a:xfrm>
          <a:prstGeom prst="rect">
            <a:avLst/>
          </a:prstGeom>
          <a:noFill/>
        </p:spPr>
        <p:txBody>
          <a:bodyPr wrap="square" lIns="0" rIns="0" tIns="0" bIns="0">
            <a:spAutoFit/>
          </a:bodyPr>
          <a:lstStyle/>
          <a:p>
            <a:pPr algn="r">
              <a:spcBef>
                <a:spcPts val="0"/>
              </a:spcBef>
              <a:spcAft>
                <a:spcPts val="500"/>
              </a:spcAft>
              <a:defRPr sz="1700" b="0">
                <a:solidFill>
                  <a:srgbClr val="E6ECEF"/>
                </a:solidFill>
                <a:latin typeface="Segoe UI"/>
              </a:defRPr>
            </a:pPr>
            <a:r>
              <a:t>100</a:t>
            </a:r>
          </a:p>
        </p:txBody>
      </p:sp>
      <p:sp>
        <p:nvSpPr>
          <p:cNvPr id="18" name="Text"/>
          <p:cNvSpPr txBox="1"/>
          <p:nvPr/>
        </p:nvSpPr>
        <p:spPr>
          <a:xfrm>
            <a:off x="11018520" y="2862072"/>
            <a:ext cx="393192" cy="283464"/>
          </a:xfrm>
          <a:prstGeom prst="rect">
            <a:avLst/>
          </a:prstGeom>
          <a:noFill/>
        </p:spPr>
        <p:txBody>
          <a:bodyPr wrap="square" lIns="0" rIns="0" tIns="0" bIns="0">
            <a:spAutoFit/>
          </a:bodyPr>
          <a:lstStyle/>
          <a:p>
            <a:pPr algn="r">
              <a:spcBef>
                <a:spcPts val="0"/>
              </a:spcBef>
              <a:spcAft>
                <a:spcPts val="500"/>
              </a:spcAft>
              <a:defRPr sz="1700" b="0">
                <a:solidFill>
                  <a:srgbClr val="E6ECEF"/>
                </a:solidFill>
                <a:latin typeface="Segoe UI"/>
              </a:defRPr>
            </a:pPr>
            <a:r>
              <a:t>2</a:t>
            </a:r>
          </a:p>
        </p:txBody>
      </p:sp>
      <p:sp>
        <p:nvSpPr>
          <p:cNvPr id="19" name="Text"/>
          <p:cNvSpPr txBox="1"/>
          <p:nvPr/>
        </p:nvSpPr>
        <p:spPr>
          <a:xfrm>
            <a:off x="4636008" y="3310128"/>
            <a:ext cx="2084831" cy="274320"/>
          </a:xfrm>
          <a:prstGeom prst="rect">
            <a:avLst/>
          </a:prstGeom>
          <a:noFill/>
        </p:spPr>
        <p:txBody>
          <a:bodyPr wrap="square" lIns="0" rIns="0" tIns="0" bIns="0">
            <a:spAutoFit/>
          </a:bodyPr>
          <a:lstStyle/>
          <a:p>
            <a:pPr algn="l">
              <a:spcBef>
                <a:spcPts val="0"/>
              </a:spcBef>
              <a:spcAft>
                <a:spcPts val="500"/>
              </a:spcAft>
              <a:defRPr sz="1600" b="0">
                <a:solidFill>
                  <a:srgbClr val="E6ECEF"/>
                </a:solidFill>
                <a:latin typeface="Segoe UI"/>
              </a:defRPr>
            </a:pPr>
            <a:r>
              <a:t>A / All</a:t>
            </a:r>
          </a:p>
        </p:txBody>
      </p:sp>
      <p:sp>
        <p:nvSpPr>
          <p:cNvPr id="20" name="Panel"/>
          <p:cNvSpPr/>
          <p:nvPr/>
        </p:nvSpPr>
        <p:spPr>
          <a:xfrm>
            <a:off x="6912864" y="3364992"/>
            <a:ext cx="834886" cy="192024"/>
          </a:xfrm>
          <a:prstGeom prst="rect">
            <a:avLst/>
          </a:prstGeom>
          <a:solidFill>
            <a:srgbClr val="49C5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
          <p:cNvSpPr txBox="1"/>
          <p:nvPr/>
        </p:nvSpPr>
        <p:spPr>
          <a:xfrm>
            <a:off x="9848088" y="3310128"/>
            <a:ext cx="969264" cy="283464"/>
          </a:xfrm>
          <a:prstGeom prst="rect">
            <a:avLst/>
          </a:prstGeom>
          <a:noFill/>
        </p:spPr>
        <p:txBody>
          <a:bodyPr wrap="square" lIns="0" rIns="0" tIns="0" bIns="0">
            <a:spAutoFit/>
          </a:bodyPr>
          <a:lstStyle/>
          <a:p>
            <a:pPr algn="r">
              <a:spcBef>
                <a:spcPts val="0"/>
              </a:spcBef>
              <a:spcAft>
                <a:spcPts val="500"/>
              </a:spcAft>
              <a:defRPr sz="1700" b="0">
                <a:solidFill>
                  <a:srgbClr val="E6ECEF"/>
                </a:solidFill>
                <a:latin typeface="Segoe UI"/>
              </a:defRPr>
            </a:pPr>
            <a:r>
              <a:t>350</a:t>
            </a:r>
          </a:p>
        </p:txBody>
      </p:sp>
      <p:sp>
        <p:nvSpPr>
          <p:cNvPr id="22" name="Text"/>
          <p:cNvSpPr txBox="1"/>
          <p:nvPr/>
        </p:nvSpPr>
        <p:spPr>
          <a:xfrm>
            <a:off x="11018520" y="3310128"/>
            <a:ext cx="393192" cy="283464"/>
          </a:xfrm>
          <a:prstGeom prst="rect">
            <a:avLst/>
          </a:prstGeom>
          <a:noFill/>
        </p:spPr>
        <p:txBody>
          <a:bodyPr wrap="square" lIns="0" rIns="0" tIns="0" bIns="0">
            <a:spAutoFit/>
          </a:bodyPr>
          <a:lstStyle/>
          <a:p>
            <a:pPr algn="r">
              <a:spcBef>
                <a:spcPts val="0"/>
              </a:spcBef>
              <a:spcAft>
                <a:spcPts val="500"/>
              </a:spcAft>
              <a:defRPr sz="1700" b="0">
                <a:solidFill>
                  <a:srgbClr val="E6ECEF"/>
                </a:solidFill>
                <a:latin typeface="Segoe UI"/>
              </a:defRPr>
            </a:pPr>
            <a:r>
              <a:t>4</a:t>
            </a:r>
          </a:p>
        </p:txBody>
      </p:sp>
      <p:sp>
        <p:nvSpPr>
          <p:cNvPr id="23" name="Text"/>
          <p:cNvSpPr txBox="1"/>
          <p:nvPr/>
        </p:nvSpPr>
        <p:spPr>
          <a:xfrm>
            <a:off x="4636008" y="3758184"/>
            <a:ext cx="2084831" cy="274320"/>
          </a:xfrm>
          <a:prstGeom prst="rect">
            <a:avLst/>
          </a:prstGeom>
          <a:noFill/>
        </p:spPr>
        <p:txBody>
          <a:bodyPr wrap="square" lIns="0" rIns="0" tIns="0" bIns="0">
            <a:spAutoFit/>
          </a:bodyPr>
          <a:lstStyle/>
          <a:p>
            <a:pPr algn="l">
              <a:spcBef>
                <a:spcPts val="0"/>
              </a:spcBef>
              <a:spcAft>
                <a:spcPts val="500"/>
              </a:spcAft>
              <a:defRPr sz="1600" b="0">
                <a:solidFill>
                  <a:srgbClr val="E6ECEF"/>
                </a:solidFill>
                <a:latin typeface="Segoe UI"/>
              </a:defRPr>
            </a:pPr>
            <a:r>
              <a:t>B / Home</a:t>
            </a:r>
          </a:p>
        </p:txBody>
      </p:sp>
      <p:sp>
        <p:nvSpPr>
          <p:cNvPr id="24" name="Panel"/>
          <p:cNvSpPr/>
          <p:nvPr/>
        </p:nvSpPr>
        <p:spPr>
          <a:xfrm>
            <a:off x="6912864" y="3813048"/>
            <a:ext cx="1669773" cy="192024"/>
          </a:xfrm>
          <a:prstGeom prst="rect">
            <a:avLst/>
          </a:prstGeom>
          <a:solidFill>
            <a:srgbClr val="49C5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
          <p:cNvSpPr txBox="1"/>
          <p:nvPr/>
        </p:nvSpPr>
        <p:spPr>
          <a:xfrm>
            <a:off x="9848088" y="3758184"/>
            <a:ext cx="969264" cy="283464"/>
          </a:xfrm>
          <a:prstGeom prst="rect">
            <a:avLst/>
          </a:prstGeom>
          <a:noFill/>
        </p:spPr>
        <p:txBody>
          <a:bodyPr wrap="square" lIns="0" rIns="0" tIns="0" bIns="0">
            <a:spAutoFit/>
          </a:bodyPr>
          <a:lstStyle/>
          <a:p>
            <a:pPr algn="r">
              <a:spcBef>
                <a:spcPts val="0"/>
              </a:spcBef>
              <a:spcAft>
                <a:spcPts val="500"/>
              </a:spcAft>
              <a:defRPr sz="1700" b="0">
                <a:solidFill>
                  <a:srgbClr val="E6ECEF"/>
                </a:solidFill>
                <a:latin typeface="Segoe UI"/>
              </a:defRPr>
            </a:pPr>
            <a:r>
              <a:t>700</a:t>
            </a:r>
          </a:p>
        </p:txBody>
      </p:sp>
      <p:sp>
        <p:nvSpPr>
          <p:cNvPr id="26" name="Text"/>
          <p:cNvSpPr txBox="1"/>
          <p:nvPr/>
        </p:nvSpPr>
        <p:spPr>
          <a:xfrm>
            <a:off x="11018520" y="3758184"/>
            <a:ext cx="393192" cy="283464"/>
          </a:xfrm>
          <a:prstGeom prst="rect">
            <a:avLst/>
          </a:prstGeom>
          <a:noFill/>
        </p:spPr>
        <p:txBody>
          <a:bodyPr wrap="square" lIns="0" rIns="0" tIns="0" bIns="0">
            <a:spAutoFit/>
          </a:bodyPr>
          <a:lstStyle/>
          <a:p>
            <a:pPr algn="r">
              <a:spcBef>
                <a:spcPts val="0"/>
              </a:spcBef>
              <a:spcAft>
                <a:spcPts val="500"/>
              </a:spcAft>
              <a:defRPr sz="1700" b="0">
                <a:solidFill>
                  <a:srgbClr val="E6ECEF"/>
                </a:solidFill>
                <a:latin typeface="Segoe UI"/>
              </a:defRPr>
            </a:pPr>
            <a:r>
              <a:t>1</a:t>
            </a:r>
          </a:p>
        </p:txBody>
      </p:sp>
      <p:sp>
        <p:nvSpPr>
          <p:cNvPr id="27" name="Text"/>
          <p:cNvSpPr txBox="1"/>
          <p:nvPr/>
        </p:nvSpPr>
        <p:spPr>
          <a:xfrm>
            <a:off x="4636008" y="4206240"/>
            <a:ext cx="2084831" cy="274320"/>
          </a:xfrm>
          <a:prstGeom prst="rect">
            <a:avLst/>
          </a:prstGeom>
          <a:noFill/>
        </p:spPr>
        <p:txBody>
          <a:bodyPr wrap="square" lIns="0" rIns="0" tIns="0" bIns="0">
            <a:spAutoFit/>
          </a:bodyPr>
          <a:lstStyle/>
          <a:p>
            <a:pPr algn="l">
              <a:spcBef>
                <a:spcPts val="0"/>
              </a:spcBef>
              <a:spcAft>
                <a:spcPts val="500"/>
              </a:spcAft>
              <a:defRPr sz="1600" b="0">
                <a:solidFill>
                  <a:srgbClr val="E6ECEF"/>
                </a:solidFill>
                <a:latin typeface="Segoe UI"/>
              </a:defRPr>
            </a:pPr>
            <a:r>
              <a:t>A/Home + B/Auto</a:t>
            </a:r>
          </a:p>
        </p:txBody>
      </p:sp>
      <p:sp>
        <p:nvSpPr>
          <p:cNvPr id="28" name="Panel"/>
          <p:cNvSpPr/>
          <p:nvPr/>
        </p:nvSpPr>
        <p:spPr>
          <a:xfrm>
            <a:off x="6912864" y="4261103"/>
            <a:ext cx="2743200" cy="192024"/>
          </a:xfrm>
          <a:prstGeom prst="rect">
            <a:avLst/>
          </a:prstGeom>
          <a:solidFill>
            <a:srgbClr val="49C5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
          <p:cNvSpPr txBox="1"/>
          <p:nvPr/>
        </p:nvSpPr>
        <p:spPr>
          <a:xfrm>
            <a:off x="9848088" y="4206240"/>
            <a:ext cx="969264" cy="283464"/>
          </a:xfrm>
          <a:prstGeom prst="rect">
            <a:avLst/>
          </a:prstGeom>
          <a:noFill/>
        </p:spPr>
        <p:txBody>
          <a:bodyPr wrap="square" lIns="0" rIns="0" tIns="0" bIns="0">
            <a:spAutoFit/>
          </a:bodyPr>
          <a:lstStyle/>
          <a:p>
            <a:pPr algn="r">
              <a:spcBef>
                <a:spcPts val="0"/>
              </a:spcBef>
              <a:spcAft>
                <a:spcPts val="500"/>
              </a:spcAft>
              <a:defRPr sz="1700" b="0">
                <a:solidFill>
                  <a:srgbClr val="E6ECEF"/>
                </a:solidFill>
                <a:latin typeface="Segoe UI"/>
              </a:defRPr>
            </a:pPr>
            <a:r>
              <a:t>1,150</a:t>
            </a:r>
          </a:p>
        </p:txBody>
      </p:sp>
      <p:sp>
        <p:nvSpPr>
          <p:cNvPr id="30" name="Text"/>
          <p:cNvSpPr txBox="1"/>
          <p:nvPr/>
        </p:nvSpPr>
        <p:spPr>
          <a:xfrm>
            <a:off x="11018520" y="4206240"/>
            <a:ext cx="393192" cy="283464"/>
          </a:xfrm>
          <a:prstGeom prst="rect">
            <a:avLst/>
          </a:prstGeom>
          <a:noFill/>
        </p:spPr>
        <p:txBody>
          <a:bodyPr wrap="square" lIns="0" rIns="0" tIns="0" bIns="0">
            <a:spAutoFit/>
          </a:bodyPr>
          <a:lstStyle/>
          <a:p>
            <a:pPr algn="r">
              <a:spcBef>
                <a:spcPts val="0"/>
              </a:spcBef>
              <a:spcAft>
                <a:spcPts val="500"/>
              </a:spcAft>
              <a:defRPr sz="1700" b="0">
                <a:solidFill>
                  <a:srgbClr val="E6ECEF"/>
                </a:solidFill>
                <a:latin typeface="Segoe UI"/>
              </a:defRPr>
            </a:pPr>
            <a:r>
              <a:t>3</a:t>
            </a:r>
          </a:p>
        </p:txBody>
      </p:sp>
      <p:sp>
        <p:nvSpPr>
          <p:cNvPr id="31" name="Text"/>
          <p:cNvSpPr txBox="1"/>
          <p:nvPr/>
        </p:nvSpPr>
        <p:spPr>
          <a:xfrm>
            <a:off x="4636008" y="4654296"/>
            <a:ext cx="2084831" cy="274320"/>
          </a:xfrm>
          <a:prstGeom prst="rect">
            <a:avLst/>
          </a:prstGeom>
          <a:noFill/>
        </p:spPr>
        <p:txBody>
          <a:bodyPr wrap="square" lIns="0" rIns="0" tIns="0" bIns="0">
            <a:spAutoFit/>
          </a:bodyPr>
          <a:lstStyle/>
          <a:p>
            <a:pPr algn="l">
              <a:spcBef>
                <a:spcPts val="0"/>
              </a:spcBef>
              <a:spcAft>
                <a:spcPts val="500"/>
              </a:spcAft>
              <a:defRPr sz="1600" b="0">
                <a:solidFill>
                  <a:srgbClr val="E6ECEF"/>
                </a:solidFill>
                <a:latin typeface="Segoe UI"/>
              </a:defRPr>
            </a:pPr>
            <a:r>
              <a:t>No access</a:t>
            </a:r>
          </a:p>
        </p:txBody>
      </p:sp>
      <p:sp>
        <p:nvSpPr>
          <p:cNvPr id="32" name="Text"/>
          <p:cNvSpPr txBox="1"/>
          <p:nvPr/>
        </p:nvSpPr>
        <p:spPr>
          <a:xfrm>
            <a:off x="9848088" y="4654296"/>
            <a:ext cx="969264" cy="283464"/>
          </a:xfrm>
          <a:prstGeom prst="rect">
            <a:avLst/>
          </a:prstGeom>
          <a:noFill/>
        </p:spPr>
        <p:txBody>
          <a:bodyPr wrap="square" lIns="0" rIns="0" tIns="0" bIns="0">
            <a:spAutoFit/>
          </a:bodyPr>
          <a:lstStyle/>
          <a:p>
            <a:pPr algn="r">
              <a:spcBef>
                <a:spcPts val="0"/>
              </a:spcBef>
              <a:spcAft>
                <a:spcPts val="500"/>
              </a:spcAft>
              <a:defRPr sz="1700" b="0">
                <a:solidFill>
                  <a:srgbClr val="E6ECEF"/>
                </a:solidFill>
                <a:latin typeface="Segoe UI"/>
              </a:defRPr>
            </a:pPr>
            <a:r>
              <a:t>0</a:t>
            </a:r>
          </a:p>
        </p:txBody>
      </p:sp>
      <p:sp>
        <p:nvSpPr>
          <p:cNvPr id="33" name="Text"/>
          <p:cNvSpPr txBox="1"/>
          <p:nvPr/>
        </p:nvSpPr>
        <p:spPr>
          <a:xfrm>
            <a:off x="11018520" y="4654296"/>
            <a:ext cx="393192" cy="283464"/>
          </a:xfrm>
          <a:prstGeom prst="rect">
            <a:avLst/>
          </a:prstGeom>
          <a:noFill/>
        </p:spPr>
        <p:txBody>
          <a:bodyPr wrap="square" lIns="0" rIns="0" tIns="0" bIns="0">
            <a:spAutoFit/>
          </a:bodyPr>
          <a:lstStyle/>
          <a:p>
            <a:pPr algn="r">
              <a:spcBef>
                <a:spcPts val="0"/>
              </a:spcBef>
              <a:spcAft>
                <a:spcPts val="500"/>
              </a:spcAft>
              <a:defRPr sz="1700" b="0">
                <a:solidFill>
                  <a:srgbClr val="E6ECEF"/>
                </a:solidFill>
                <a:latin typeface="Segoe UI"/>
              </a:defRPr>
            </a:pPr>
            <a:r>
              <a:t>0</a:t>
            </a:r>
          </a:p>
        </p:txBody>
      </p:sp>
      <p:sp>
        <p:nvSpPr>
          <p:cNvPr id="34" name="Panel"/>
          <p:cNvSpPr/>
          <p:nvPr/>
        </p:nvSpPr>
        <p:spPr>
          <a:xfrm>
            <a:off x="585216" y="5733288"/>
            <a:ext cx="11018520" cy="539496"/>
          </a:xfrm>
          <a:prstGeom prst="rect">
            <a:avLst/>
          </a:prstGeom>
          <a:solidFill>
            <a:srgbClr val="3544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
          <p:cNvSpPr txBox="1"/>
          <p:nvPr/>
        </p:nvSpPr>
        <p:spPr>
          <a:xfrm>
            <a:off x="768096" y="5824727"/>
            <a:ext cx="10652760" cy="384048"/>
          </a:xfrm>
          <a:prstGeom prst="rect">
            <a:avLst/>
          </a:prstGeom>
          <a:noFill/>
        </p:spPr>
        <p:txBody>
          <a:bodyPr wrap="square" lIns="0" rIns="0" tIns="0" bIns="0">
            <a:spAutoFit/>
          </a:bodyPr>
          <a:lstStyle/>
          <a:p>
            <a:pPr algn="l">
              <a:spcBef>
                <a:spcPts val="0"/>
              </a:spcBef>
              <a:spcAft>
                <a:spcPts val="500"/>
              </a:spcAft>
              <a:defRPr sz="1800" b="1">
                <a:solidFill>
                  <a:srgbClr val="FFFFFF"/>
                </a:solidFill>
                <a:latin typeface="Segoe UI"/>
              </a:defRPr>
            </a:pPr>
            <a:r>
              <a:t>Proven: scoped query execution. Not yet proven: the complete IQ conversational experience.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lide title"/>
          <p:cNvSpPr txBox="1"/>
          <p:nvPr/>
        </p:nvSpPr>
        <p:spPr>
          <a:xfrm>
            <a:off x="585216" y="420624"/>
            <a:ext cx="11018520" cy="786384"/>
          </a:xfrm>
          <a:prstGeom prst="rect">
            <a:avLst/>
          </a:prstGeom>
          <a:noFill/>
        </p:spPr>
        <p:txBody>
          <a:bodyPr wrap="square" lIns="0" rIns="0" tIns="0" bIns="0">
            <a:spAutoFit/>
          </a:bodyPr>
          <a:lstStyle/>
          <a:p>
            <a:pPr algn="l">
              <a:spcBef>
                <a:spcPts val="0"/>
              </a:spcBef>
              <a:spcAft>
                <a:spcPts val="500"/>
              </a:spcAft>
              <a:defRPr sz="3000" b="0">
                <a:solidFill>
                  <a:srgbClr val="29353D"/>
                </a:solidFill>
                <a:latin typeface="Segoe UI Semibold"/>
              </a:defRPr>
            </a:pPr>
            <a:r>
              <a:t>The remaining step is integration, not a new identity estate.</a:t>
            </a:r>
          </a:p>
        </p:txBody>
      </p:sp>
      <p:sp>
        <p:nvSpPr>
          <p:cNvPr id="3" name="Text"/>
          <p:cNvSpPr txBox="1"/>
          <p:nvPr/>
        </p:nvSpPr>
        <p:spPr>
          <a:xfrm>
            <a:off x="603504" y="1225296"/>
            <a:ext cx="10881360" cy="548640"/>
          </a:xfrm>
          <a:prstGeom prst="rect">
            <a:avLst/>
          </a:prstGeom>
          <a:noFill/>
        </p:spPr>
        <p:txBody>
          <a:bodyPr wrap="square" lIns="0" rIns="0" tIns="0" bIns="0">
            <a:spAutoFit/>
          </a:bodyPr>
          <a:lstStyle/>
          <a:p>
            <a:pPr algn="l">
              <a:spcBef>
                <a:spcPts val="0"/>
              </a:spcBef>
              <a:spcAft>
                <a:spcPts val="500"/>
              </a:spcAft>
              <a:defRPr sz="1700" b="0">
                <a:solidFill>
                  <a:srgbClr val="6B7780"/>
                </a:solidFill>
                <a:latin typeface="Segoe UI"/>
              </a:defRPr>
            </a:pPr>
            <a:r>
              <a:t>A working mechanism is a reason to proceed with a bounded proof, not skip it.</a:t>
            </a:r>
          </a:p>
        </p:txBody>
      </p:sp>
      <p:sp>
        <p:nvSpPr>
          <p:cNvPr id="4" name="Text"/>
          <p:cNvSpPr txBox="1"/>
          <p:nvPr/>
        </p:nvSpPr>
        <p:spPr>
          <a:xfrm>
            <a:off x="603504" y="6483096"/>
            <a:ext cx="10972800" cy="201168"/>
          </a:xfrm>
          <a:prstGeom prst="rect">
            <a:avLst/>
          </a:prstGeom>
          <a:noFill/>
        </p:spPr>
        <p:txBody>
          <a:bodyPr wrap="square" lIns="0" rIns="0" tIns="0" bIns="0">
            <a:spAutoFit/>
          </a:bodyPr>
          <a:lstStyle/>
          <a:p>
            <a:pPr algn="l">
              <a:spcBef>
                <a:spcPts val="0"/>
              </a:spcBef>
              <a:spcAft>
                <a:spcPts val="500"/>
              </a:spcAft>
              <a:defRPr sz="900" b="0">
                <a:solidFill>
                  <a:srgbClr val="6B7780"/>
                </a:solidFill>
                <a:latin typeface="Segoe UI"/>
              </a:defRPr>
            </a:pPr>
            <a:r>
              <a:t>Sources: S1, S2, E1 | 28 September 2026</a:t>
            </a:r>
          </a:p>
        </p:txBody>
      </p:sp>
      <p:sp>
        <p:nvSpPr>
          <p:cNvPr id="5" name="Text"/>
          <p:cNvSpPr txBox="1"/>
          <p:nvPr/>
        </p:nvSpPr>
        <p:spPr>
          <a:xfrm>
            <a:off x="676656" y="1938528"/>
            <a:ext cx="4416552" cy="502920"/>
          </a:xfrm>
          <a:prstGeom prst="rect">
            <a:avLst/>
          </a:prstGeom>
          <a:noFill/>
        </p:spPr>
        <p:txBody>
          <a:bodyPr wrap="square" lIns="0" rIns="0" tIns="0" bIns="0">
            <a:spAutoFit/>
          </a:bodyPr>
          <a:lstStyle/>
          <a:p>
            <a:pPr algn="l">
              <a:spcBef>
                <a:spcPts val="0"/>
              </a:spcBef>
              <a:spcAft>
                <a:spcPts val="500"/>
              </a:spcAft>
              <a:defRPr sz="2800" b="1">
                <a:solidFill>
                  <a:srgbClr val="00684A"/>
                </a:solidFill>
                <a:latin typeface="Segoe UI"/>
              </a:defRPr>
            </a:pPr>
            <a:r>
              <a:t>Already observed</a:t>
            </a:r>
          </a:p>
        </p:txBody>
      </p:sp>
      <p:sp>
        <p:nvSpPr>
          <p:cNvPr id="6" name="Text"/>
          <p:cNvSpPr txBox="1"/>
          <p:nvPr/>
        </p:nvSpPr>
        <p:spPr>
          <a:xfrm>
            <a:off x="685800" y="2807208"/>
            <a:ext cx="4389120" cy="1225296"/>
          </a:xfrm>
          <a:prstGeom prst="rect">
            <a:avLst/>
          </a:prstGeom>
          <a:noFill/>
        </p:spPr>
        <p:txBody>
          <a:bodyPr wrap="square" lIns="0" rIns="0" tIns="0" bIns="0">
            <a:spAutoFit/>
          </a:bodyPr>
          <a:lstStyle/>
          <a:p>
            <a:pPr algn="l">
              <a:spcBef>
                <a:spcPts val="0"/>
              </a:spcBef>
              <a:spcAft>
                <a:spcPts val="500"/>
              </a:spcAft>
              <a:defRPr sz="2300" b="0">
                <a:solidFill>
                  <a:srgbClr val="29353D"/>
                </a:solidFill>
                <a:latin typeface="Segoe UI"/>
              </a:defRPr>
            </a:pPr>
            <a:r>
              <a:t>App-only query execution</a:t>
            </a:r>
          </a:p>
          <a:p>
            <a:pPr algn="l">
              <a:spcBef>
                <a:spcPts val="0"/>
              </a:spcBef>
              <a:spcAft>
                <a:spcPts val="500"/>
              </a:spcAft>
              <a:defRPr sz="2300" b="0">
                <a:solidFill>
                  <a:srgbClr val="29353D"/>
                </a:solidFill>
                <a:latin typeface="Segoe UI"/>
              </a:defRPr>
            </a:pPr>
            <a:r>
              <a:t>Model-enforced user scope</a:t>
            </a:r>
          </a:p>
          <a:p>
            <a:pPr algn="l">
              <a:spcBef>
                <a:spcPts val="0"/>
              </a:spcBef>
              <a:spcAft>
                <a:spcPts val="500"/>
              </a:spcAft>
              <a:defRPr sz="2300" b="0">
                <a:solidFill>
                  <a:srgbClr val="29353D"/>
                </a:solidFill>
                <a:latin typeface="Segoe UI"/>
              </a:defRPr>
            </a:pPr>
            <a:r>
              <a:t>Paired grants and no-access</a:t>
            </a:r>
          </a:p>
        </p:txBody>
      </p:sp>
      <p:cxnSp>
        <p:nvCxnSpPr>
          <p:cNvPr id="7" name="Connector 6"/>
          <p:cNvCxnSpPr/>
          <p:nvPr/>
        </p:nvCxnSpPr>
        <p:spPr>
          <a:xfrm>
            <a:off x="5513832" y="1938528"/>
            <a:ext cx="0" cy="3374136"/>
          </a:xfrm>
          <a:prstGeom prst="line">
            <a:avLst/>
          </a:prstGeom>
          <a:ln w="12700">
            <a:solidFill>
              <a:srgbClr val="D2D2D2"/>
            </a:solidFill>
          </a:ln>
          <a:effectLst/>
        </p:spPr>
        <p:style>
          <a:lnRef idx="2">
            <a:schemeClr val="accent1"/>
          </a:lnRef>
          <a:fillRef idx="0">
            <a:schemeClr val="accent1"/>
          </a:fillRef>
          <a:effectRef idx="1">
            <a:schemeClr val="accent1"/>
          </a:effectRef>
          <a:fontRef idx="minor">
            <a:schemeClr val="tx1"/>
          </a:fontRef>
        </p:style>
      </p:cxnSp>
      <p:sp>
        <p:nvSpPr>
          <p:cNvPr id="8" name="Text"/>
          <p:cNvSpPr txBox="1"/>
          <p:nvPr/>
        </p:nvSpPr>
        <p:spPr>
          <a:xfrm>
            <a:off x="6044184" y="1938528"/>
            <a:ext cx="5175504" cy="502920"/>
          </a:xfrm>
          <a:prstGeom prst="rect">
            <a:avLst/>
          </a:prstGeom>
          <a:noFill/>
        </p:spPr>
        <p:txBody>
          <a:bodyPr wrap="square" lIns="0" rIns="0" tIns="0" bIns="0">
            <a:spAutoFit/>
          </a:bodyPr>
          <a:lstStyle/>
          <a:p>
            <a:pPr algn="l">
              <a:spcBef>
                <a:spcPts val="0"/>
              </a:spcBef>
              <a:spcAft>
                <a:spcPts val="500"/>
              </a:spcAft>
              <a:defRPr sz="2800" b="1">
                <a:solidFill>
                  <a:srgbClr val="0078D4"/>
                </a:solidFill>
                <a:latin typeface="Segoe UI"/>
              </a:defRPr>
            </a:pPr>
            <a:r>
              <a:t>Demonstrate next</a:t>
            </a:r>
          </a:p>
        </p:txBody>
      </p:sp>
      <p:sp>
        <p:nvSpPr>
          <p:cNvPr id="9" name="Text"/>
          <p:cNvSpPr txBox="1"/>
          <p:nvPr/>
        </p:nvSpPr>
        <p:spPr>
          <a:xfrm>
            <a:off x="6071616" y="2807208"/>
            <a:ext cx="4992624" cy="1847088"/>
          </a:xfrm>
          <a:prstGeom prst="rect">
            <a:avLst/>
          </a:prstGeom>
          <a:noFill/>
        </p:spPr>
        <p:txBody>
          <a:bodyPr wrap="square" lIns="0" rIns="0" tIns="0" bIns="0">
            <a:spAutoFit/>
          </a:bodyPr>
          <a:lstStyle/>
          <a:p>
            <a:pPr algn="l">
              <a:spcBef>
                <a:spcPts val="0"/>
              </a:spcBef>
              <a:spcAft>
                <a:spcPts val="500"/>
              </a:spcAft>
              <a:defRPr sz="2200" b="0">
                <a:solidFill>
                  <a:srgbClr val="29353D"/>
                </a:solidFill>
                <a:latin typeface="Segoe UI"/>
              </a:defRPr>
            </a:pPr>
            <a:r>
              <a:t>Live IQ -&gt; generated DAX -&gt; answer</a:t>
            </a:r>
          </a:p>
          <a:p>
            <a:pPr algn="l">
              <a:spcBef>
                <a:spcPts val="0"/>
              </a:spcBef>
              <a:spcAft>
                <a:spcPts val="500"/>
              </a:spcAft>
              <a:defRPr sz="2200" b="0">
                <a:solidFill>
                  <a:srgbClr val="29353D"/>
                </a:solidFill>
                <a:latin typeface="Segoe UI"/>
              </a:defRPr>
            </a:pPr>
            <a:r>
              <a:t>Embedded / chat row-level parity</a:t>
            </a:r>
          </a:p>
          <a:p>
            <a:pPr algn="l">
              <a:spcBef>
                <a:spcPts val="0"/>
              </a:spcBef>
              <a:spcAft>
                <a:spcPts val="500"/>
              </a:spcAft>
              <a:defRPr sz="2200" b="0">
                <a:solidFill>
                  <a:srgbClr val="29353D"/>
                </a:solidFill>
                <a:latin typeface="Segoe UI"/>
              </a:defRPr>
            </a:pPr>
            <a:r>
              <a:t>Customer-model compatibility</a:t>
            </a:r>
          </a:p>
          <a:p>
            <a:pPr algn="l">
              <a:spcBef>
                <a:spcPts val="0"/>
              </a:spcBef>
              <a:spcAft>
                <a:spcPts val="500"/>
              </a:spcAft>
              <a:defRPr sz="2200" b="0">
                <a:solidFill>
                  <a:srgbClr val="29353D"/>
                </a:solidFill>
                <a:latin typeface="Segoe UI"/>
              </a:defRPr>
            </a:pPr>
            <a:r>
              <a:t>Credential ownership and support</a:t>
            </a:r>
          </a:p>
        </p:txBody>
      </p:sp>
      <p:sp>
        <p:nvSpPr>
          <p:cNvPr id="10" name="Panel"/>
          <p:cNvSpPr/>
          <p:nvPr/>
        </p:nvSpPr>
        <p:spPr>
          <a:xfrm>
            <a:off x="585216" y="5733288"/>
            <a:ext cx="11018520" cy="539496"/>
          </a:xfrm>
          <a:prstGeom prst="rect">
            <a:avLst/>
          </a:prstGeom>
          <a:solidFill>
            <a:srgbClr val="E8F6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
          <p:cNvSpPr txBox="1"/>
          <p:nvPr/>
        </p:nvSpPr>
        <p:spPr>
          <a:xfrm>
            <a:off x="768096" y="5824727"/>
            <a:ext cx="10652760" cy="384048"/>
          </a:xfrm>
          <a:prstGeom prst="rect">
            <a:avLst/>
          </a:prstGeom>
          <a:noFill/>
        </p:spPr>
        <p:txBody>
          <a:bodyPr wrap="square" lIns="0" rIns="0" tIns="0" bIns="0">
            <a:spAutoFit/>
          </a:bodyPr>
          <a:lstStyle/>
          <a:p>
            <a:pPr algn="l">
              <a:spcBef>
                <a:spcPts val="0"/>
              </a:spcBef>
              <a:spcAft>
                <a:spcPts val="500"/>
              </a:spcAft>
              <a:defRPr sz="1800" b="1">
                <a:solidFill>
                  <a:srgbClr val="29353D"/>
                </a:solidFill>
                <a:latin typeface="Segoe UI"/>
              </a:defRPr>
            </a:pPr>
            <a:r>
              <a:t>IQ MCP is GA. This custom end-to-end design is a technical proof, not a GA product claim.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29353D"/>
        </a:solidFill>
        <a:effectLst/>
      </p:bgPr>
    </p:bg>
    <p:spTree>
      <p:nvGrpSpPr>
        <p:cNvPr id="1" name=""/>
        <p:cNvGrpSpPr/>
        <p:nvPr/>
      </p:nvGrpSpPr>
      <p:grpSpPr/>
      <p:sp>
        <p:nvSpPr>
          <p:cNvPr id="2" name="Slide title"/>
          <p:cNvSpPr txBox="1"/>
          <p:nvPr/>
        </p:nvSpPr>
        <p:spPr>
          <a:xfrm>
            <a:off x="585216" y="420624"/>
            <a:ext cx="11018520" cy="786384"/>
          </a:xfrm>
          <a:prstGeom prst="rect">
            <a:avLst/>
          </a:prstGeom>
          <a:noFill/>
        </p:spPr>
        <p:txBody>
          <a:bodyPr wrap="square" lIns="0" rIns="0" tIns="0" bIns="0">
            <a:spAutoFit/>
          </a:bodyPr>
          <a:lstStyle/>
          <a:p>
            <a:pPr algn="l">
              <a:spcBef>
                <a:spcPts val="0"/>
              </a:spcBef>
              <a:spcAft>
                <a:spcPts val="500"/>
              </a:spcAft>
              <a:defRPr sz="3000" b="0">
                <a:solidFill>
                  <a:srgbClr val="FFFFFF"/>
                </a:solidFill>
                <a:latin typeface="Segoe UI Semibold"/>
              </a:defRPr>
            </a:pPr>
            <a:r>
              <a:t>Move forward with one model and a measurable decision.</a:t>
            </a:r>
          </a:p>
        </p:txBody>
      </p:sp>
      <p:sp>
        <p:nvSpPr>
          <p:cNvPr id="3" name="Text"/>
          <p:cNvSpPr txBox="1"/>
          <p:nvPr/>
        </p:nvSpPr>
        <p:spPr>
          <a:xfrm>
            <a:off x="603504" y="1225296"/>
            <a:ext cx="10881360" cy="548640"/>
          </a:xfrm>
          <a:prstGeom prst="rect">
            <a:avLst/>
          </a:prstGeom>
          <a:noFill/>
        </p:spPr>
        <p:txBody>
          <a:bodyPr wrap="square" lIns="0" rIns="0" tIns="0" bIns="0">
            <a:spAutoFit/>
          </a:bodyPr>
          <a:lstStyle/>
          <a:p>
            <a:pPr algn="l">
              <a:spcBef>
                <a:spcPts val="0"/>
              </a:spcBef>
              <a:spcAft>
                <a:spcPts val="500"/>
              </a:spcAft>
              <a:defRPr sz="1700" b="0">
                <a:solidFill>
                  <a:srgbClr val="A9B8C0"/>
                </a:solidFill>
                <a:latin typeface="Segoe UI"/>
              </a:defRPr>
            </a:pPr>
            <a:r>
              <a:t>Keep the current portal. Complete a focused Fabric integration spike.</a:t>
            </a:r>
          </a:p>
        </p:txBody>
      </p:sp>
      <p:sp>
        <p:nvSpPr>
          <p:cNvPr id="4" name="Text"/>
          <p:cNvSpPr txBox="1"/>
          <p:nvPr/>
        </p:nvSpPr>
        <p:spPr>
          <a:xfrm>
            <a:off x="603504" y="6483096"/>
            <a:ext cx="10972800" cy="201168"/>
          </a:xfrm>
          <a:prstGeom prst="rect">
            <a:avLst/>
          </a:prstGeom>
          <a:noFill/>
        </p:spPr>
        <p:txBody>
          <a:bodyPr wrap="square" lIns="0" rIns="0" tIns="0" bIns="0">
            <a:spAutoFit/>
          </a:bodyPr>
          <a:lstStyle/>
          <a:p>
            <a:pPr algn="l">
              <a:spcBef>
                <a:spcPts val="0"/>
              </a:spcBef>
              <a:spcAft>
                <a:spcPts val="500"/>
              </a:spcAft>
              <a:defRPr sz="900" b="0">
                <a:solidFill>
                  <a:srgbClr val="A9B8C0"/>
                </a:solidFill>
                <a:latin typeface="Segoe UI"/>
              </a:defRPr>
            </a:pPr>
            <a:r>
              <a:t>Sources: S1, S2, S3 | 28 September 2026</a:t>
            </a:r>
          </a:p>
        </p:txBody>
      </p:sp>
      <p:sp>
        <p:nvSpPr>
          <p:cNvPr id="5" name="Text"/>
          <p:cNvSpPr txBox="1"/>
          <p:nvPr/>
        </p:nvSpPr>
        <p:spPr>
          <a:xfrm>
            <a:off x="722376" y="2011680"/>
            <a:ext cx="7159752" cy="1499616"/>
          </a:xfrm>
          <a:prstGeom prst="rect">
            <a:avLst/>
          </a:prstGeom>
          <a:noFill/>
        </p:spPr>
        <p:txBody>
          <a:bodyPr wrap="square" lIns="0" rIns="0" tIns="0" bIns="0">
            <a:spAutoFit/>
          </a:bodyPr>
          <a:lstStyle/>
          <a:p>
            <a:pPr algn="l">
              <a:spcBef>
                <a:spcPts val="0"/>
              </a:spcBef>
              <a:spcAft>
                <a:spcPts val="500"/>
              </a:spcAft>
              <a:defRPr sz="3800" b="0">
                <a:solidFill>
                  <a:srgbClr val="FFFFFF"/>
                </a:solidFill>
                <a:latin typeface="Segoe UI Light"/>
              </a:defRPr>
            </a:pPr>
            <a:r>
              <a:t>Reuse what works.</a:t>
            </a:r>
          </a:p>
          <a:p>
            <a:pPr algn="l">
              <a:spcBef>
                <a:spcPts val="0"/>
              </a:spcBef>
              <a:spcAft>
                <a:spcPts val="500"/>
              </a:spcAft>
              <a:defRPr sz="3800" b="0">
                <a:solidFill>
                  <a:srgbClr val="FFFFFF"/>
                </a:solidFill>
                <a:latin typeface="Segoe UI Light"/>
              </a:defRPr>
            </a:pPr>
            <a:r>
              <a:t>Prove only what is new.</a:t>
            </a:r>
          </a:p>
        </p:txBody>
      </p:sp>
      <p:sp>
        <p:nvSpPr>
          <p:cNvPr id="6" name="Text"/>
          <p:cNvSpPr txBox="1"/>
          <p:nvPr/>
        </p:nvSpPr>
        <p:spPr>
          <a:xfrm>
            <a:off x="740664" y="3922776"/>
            <a:ext cx="6601968" cy="1298448"/>
          </a:xfrm>
          <a:prstGeom prst="rect">
            <a:avLst/>
          </a:prstGeom>
          <a:noFill/>
        </p:spPr>
        <p:txBody>
          <a:bodyPr wrap="square" lIns="0" rIns="0" tIns="0" bIns="0">
            <a:spAutoFit/>
          </a:bodyPr>
          <a:lstStyle/>
          <a:p>
            <a:pPr algn="l">
              <a:spcBef>
                <a:spcPts val="0"/>
              </a:spcBef>
              <a:spcAft>
                <a:spcPts val="500"/>
              </a:spcAft>
              <a:defRPr sz="2500" b="0">
                <a:solidFill>
                  <a:srgbClr val="E6ECEF"/>
                </a:solidFill>
                <a:latin typeface="Segoe UI"/>
              </a:defRPr>
            </a:pPr>
            <a:r>
              <a:t>Existing login + entitlement resolver</a:t>
            </a:r>
          </a:p>
          <a:p>
            <a:pPr algn="l">
              <a:spcBef>
                <a:spcPts val="0"/>
              </a:spcBef>
              <a:spcAft>
                <a:spcPts val="500"/>
              </a:spcAft>
              <a:defRPr sz="2500" b="0">
                <a:solidFill>
                  <a:srgbClr val="E6ECEF"/>
                </a:solidFill>
                <a:latin typeface="Segoe UI"/>
              </a:defRPr>
            </a:pPr>
            <a:r>
              <a:t>One semantic model</a:t>
            </a:r>
          </a:p>
          <a:p>
            <a:pPr algn="l">
              <a:spcBef>
                <a:spcPts val="0"/>
              </a:spcBef>
              <a:spcAft>
                <a:spcPts val="500"/>
              </a:spcAft>
              <a:defRPr sz="2500" b="0">
                <a:solidFill>
                  <a:srgbClr val="E6ECEF"/>
                </a:solidFill>
                <a:latin typeface="Segoe UI"/>
              </a:defRPr>
            </a:pPr>
            <a:r>
              <a:t>Reports and conversation, side by side</a:t>
            </a:r>
          </a:p>
        </p:txBody>
      </p:sp>
      <p:sp>
        <p:nvSpPr>
          <p:cNvPr id="7" name="Panel"/>
          <p:cNvSpPr/>
          <p:nvPr/>
        </p:nvSpPr>
        <p:spPr>
          <a:xfrm>
            <a:off x="8321040" y="2011680"/>
            <a:ext cx="2971800" cy="3218688"/>
          </a:xfrm>
          <a:prstGeom prst="roundRect">
            <a:avLst>
              <a:gd name="adj" fmla="val 10000"/>
            </a:avLst>
          </a:prstGeom>
          <a:solidFill>
            <a:srgbClr val="3544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
          <p:cNvSpPr txBox="1"/>
          <p:nvPr/>
        </p:nvSpPr>
        <p:spPr>
          <a:xfrm>
            <a:off x="8540496" y="2267712"/>
            <a:ext cx="2560320" cy="713232"/>
          </a:xfrm>
          <a:prstGeom prst="rect">
            <a:avLst/>
          </a:prstGeom>
          <a:noFill/>
        </p:spPr>
        <p:txBody>
          <a:bodyPr wrap="square" lIns="0" rIns="0" tIns="0" bIns="0">
            <a:spAutoFit/>
          </a:bodyPr>
          <a:lstStyle/>
          <a:p>
            <a:pPr algn="l">
              <a:spcBef>
                <a:spcPts val="0"/>
              </a:spcBef>
              <a:spcAft>
                <a:spcPts val="500"/>
              </a:spcAft>
              <a:defRPr sz="2400" b="1">
                <a:solidFill>
                  <a:srgbClr val="49C5B1"/>
                </a:solidFill>
                <a:latin typeface="Segoe UI"/>
              </a:defRPr>
            </a:pPr>
            <a:r>
              <a:t>Decision to earn</a:t>
            </a:r>
          </a:p>
        </p:txBody>
      </p:sp>
      <p:sp>
        <p:nvSpPr>
          <p:cNvPr id="9" name="Text"/>
          <p:cNvSpPr txBox="1"/>
          <p:nvPr/>
        </p:nvSpPr>
        <p:spPr>
          <a:xfrm>
            <a:off x="8540496" y="3218688"/>
            <a:ext cx="2532888" cy="1554480"/>
          </a:xfrm>
          <a:prstGeom prst="rect">
            <a:avLst/>
          </a:prstGeom>
          <a:noFill/>
        </p:spPr>
        <p:txBody>
          <a:bodyPr wrap="square" lIns="0" rIns="0" tIns="0" bIns="0">
            <a:spAutoFit/>
          </a:bodyPr>
          <a:lstStyle/>
          <a:p>
            <a:pPr algn="l">
              <a:spcBef>
                <a:spcPts val="0"/>
              </a:spcBef>
              <a:spcAft>
                <a:spcPts val="500"/>
              </a:spcAft>
              <a:defRPr sz="2500" b="0">
                <a:solidFill>
                  <a:srgbClr val="E6ECEF"/>
                </a:solidFill>
                <a:latin typeface="Segoe UI"/>
              </a:defRPr>
            </a:pPr>
            <a:r>
              <a:t>Same user.</a:t>
            </a:r>
          </a:p>
          <a:p>
            <a:pPr algn="l">
              <a:spcBef>
                <a:spcPts val="0"/>
              </a:spcBef>
              <a:spcAft>
                <a:spcPts val="500"/>
              </a:spcAft>
              <a:defRPr sz="2500" b="0">
                <a:solidFill>
                  <a:srgbClr val="E6ECEF"/>
                </a:solidFill>
                <a:latin typeface="Segoe UI"/>
              </a:defRPr>
            </a:pPr>
            <a:r>
              <a:t>Same allowed rows.</a:t>
            </a:r>
          </a:p>
          <a:p>
            <a:pPr algn="l">
              <a:spcBef>
                <a:spcPts val="0"/>
              </a:spcBef>
              <a:spcAft>
                <a:spcPts val="500"/>
              </a:spcAft>
              <a:defRPr sz="2500" b="0">
                <a:solidFill>
                  <a:srgbClr val="E6ECEF"/>
                </a:solidFill>
                <a:latin typeface="Segoe UI"/>
              </a:defRPr>
            </a:pPr>
            <a:r>
              <a:t>Useful answers.</a:t>
            </a:r>
          </a:p>
        </p:txBody>
      </p:sp>
      <p:sp>
        <p:nvSpPr>
          <p:cNvPr id="10" name="Text"/>
          <p:cNvSpPr txBox="1"/>
          <p:nvPr/>
        </p:nvSpPr>
        <p:spPr>
          <a:xfrm>
            <a:off x="740664" y="5980176"/>
            <a:ext cx="10771632" cy="384048"/>
          </a:xfrm>
          <a:prstGeom prst="rect">
            <a:avLst/>
          </a:prstGeom>
          <a:noFill/>
        </p:spPr>
        <p:txBody>
          <a:bodyPr wrap="square" lIns="0" rIns="0" tIns="0" bIns="0">
            <a:spAutoFit/>
          </a:bodyPr>
          <a:lstStyle/>
          <a:p>
            <a:pPr algn="l">
              <a:spcBef>
                <a:spcPts val="0"/>
              </a:spcBef>
              <a:spcAft>
                <a:spcPts val="500"/>
              </a:spcAft>
              <a:defRPr sz="2000" b="0">
                <a:solidFill>
                  <a:srgbClr val="E6ECEF"/>
                </a:solidFill>
                <a:latin typeface="Segoe UI"/>
              </a:defRPr>
            </a:pPr>
            <a:r>
              <a:t>Next commitment: application owner + model owner + agreed parity scenarios.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lide title"/>
          <p:cNvSpPr txBox="1"/>
          <p:nvPr/>
        </p:nvSpPr>
        <p:spPr>
          <a:xfrm>
            <a:off x="585216" y="420624"/>
            <a:ext cx="11018520" cy="786384"/>
          </a:xfrm>
          <a:prstGeom prst="rect">
            <a:avLst/>
          </a:prstGeom>
          <a:noFill/>
        </p:spPr>
        <p:txBody>
          <a:bodyPr wrap="square" lIns="0" rIns="0" tIns="0" bIns="0">
            <a:spAutoFit/>
          </a:bodyPr>
          <a:lstStyle/>
          <a:p>
            <a:pPr algn="l">
              <a:spcBef>
                <a:spcPts val="0"/>
              </a:spcBef>
              <a:spcAft>
                <a:spcPts val="500"/>
              </a:spcAft>
              <a:defRPr sz="3000" b="0">
                <a:solidFill>
                  <a:srgbClr val="29353D"/>
                </a:solidFill>
                <a:latin typeface="Segoe UI Semibold"/>
              </a:defRPr>
            </a:pPr>
            <a:r>
              <a:t>Technical references: query and identity contracts</a:t>
            </a:r>
          </a:p>
        </p:txBody>
      </p:sp>
      <p:sp>
        <p:nvSpPr>
          <p:cNvPr id="3" name="Text"/>
          <p:cNvSpPr txBox="1"/>
          <p:nvPr/>
        </p:nvSpPr>
        <p:spPr>
          <a:xfrm>
            <a:off x="603504" y="1225296"/>
            <a:ext cx="10881360" cy="548640"/>
          </a:xfrm>
          <a:prstGeom prst="rect">
            <a:avLst/>
          </a:prstGeom>
          <a:noFill/>
        </p:spPr>
        <p:txBody>
          <a:bodyPr wrap="square" lIns="0" rIns="0" tIns="0" bIns="0">
            <a:spAutoFit/>
          </a:bodyPr>
          <a:lstStyle/>
          <a:p>
            <a:pPr algn="l">
              <a:spcBef>
                <a:spcPts val="0"/>
              </a:spcBef>
              <a:spcAft>
                <a:spcPts val="500"/>
              </a:spcAft>
              <a:defRPr sz="1700" b="0">
                <a:solidFill>
                  <a:srgbClr val="6B7780"/>
                </a:solidFill>
                <a:latin typeface="Segoe UI"/>
              </a:defRPr>
            </a:pPr>
            <a:r>
              <a:t>Public Microsoft documentation retrieved 28 September 2026.</a:t>
            </a:r>
          </a:p>
        </p:txBody>
      </p:sp>
      <p:sp>
        <p:nvSpPr>
          <p:cNvPr id="4" name="Text"/>
          <p:cNvSpPr txBox="1"/>
          <p:nvPr/>
        </p:nvSpPr>
        <p:spPr>
          <a:xfrm>
            <a:off x="685800" y="1837943"/>
            <a:ext cx="10789920" cy="393192"/>
          </a:xfrm>
          <a:prstGeom prst="rect">
            <a:avLst/>
          </a:prstGeom>
          <a:noFill/>
        </p:spPr>
        <p:txBody>
          <a:bodyPr wrap="square" lIns="0" rIns="0" tIns="0" bIns="0">
            <a:spAutoFit/>
          </a:bodyPr>
          <a:lstStyle/>
          <a:p>
            <a:pPr algn="l">
              <a:spcBef>
                <a:spcPts val="0"/>
              </a:spcBef>
              <a:spcAft>
                <a:spcPts val="500"/>
              </a:spcAft>
              <a:defRPr sz="2000" b="1">
                <a:solidFill>
                  <a:srgbClr val="0078D4"/>
                </a:solidFill>
                <a:latin typeface="Segoe UI"/>
              </a:defRPr>
            </a:pPr>
            <a:r>
              <a:rPr>
                <a:hlinkClick r:id="rId3"/>
              </a:rPr>
              <a:t>S1  Fabric IQ MCP: tools, GA status and delegated authentication</a:t>
            </a:r>
          </a:p>
        </p:txBody>
      </p:sp>
      <p:sp>
        <p:nvSpPr>
          <p:cNvPr id="5" name="Text"/>
          <p:cNvSpPr txBox="1"/>
          <p:nvPr/>
        </p:nvSpPr>
        <p:spPr>
          <a:xfrm>
            <a:off x="1197864" y="2231136"/>
            <a:ext cx="10149840" cy="237744"/>
          </a:xfrm>
          <a:prstGeom prst="rect">
            <a:avLst/>
          </a:prstGeom>
          <a:noFill/>
        </p:spPr>
        <p:txBody>
          <a:bodyPr wrap="square" lIns="0" rIns="0" tIns="0" bIns="0">
            <a:spAutoFit/>
          </a:bodyPr>
          <a:lstStyle/>
          <a:p>
            <a:pPr algn="l">
              <a:spcBef>
                <a:spcPts val="0"/>
              </a:spcBef>
              <a:spcAft>
                <a:spcPts val="500"/>
              </a:spcAft>
              <a:defRPr sz="1200" b="0">
                <a:solidFill>
                  <a:srgbClr val="6B7780"/>
                </a:solidFill>
                <a:latin typeface="Segoe UI"/>
              </a:defRPr>
            </a:pPr>
            <a:r>
              <a:t>learn.microsoft.com/.../fabric/iq/connectors/fabric-iq-mcp</a:t>
            </a:r>
          </a:p>
        </p:txBody>
      </p:sp>
      <p:sp>
        <p:nvSpPr>
          <p:cNvPr id="6" name="Text"/>
          <p:cNvSpPr txBox="1"/>
          <p:nvPr/>
        </p:nvSpPr>
        <p:spPr>
          <a:xfrm>
            <a:off x="685800" y="2560320"/>
            <a:ext cx="10789920" cy="393192"/>
          </a:xfrm>
          <a:prstGeom prst="rect">
            <a:avLst/>
          </a:prstGeom>
          <a:noFill/>
        </p:spPr>
        <p:txBody>
          <a:bodyPr wrap="square" lIns="0" rIns="0" tIns="0" bIns="0">
            <a:spAutoFit/>
          </a:bodyPr>
          <a:lstStyle/>
          <a:p>
            <a:pPr algn="l">
              <a:spcBef>
                <a:spcPts val="0"/>
              </a:spcBef>
              <a:spcAft>
                <a:spcPts val="500"/>
              </a:spcAft>
              <a:defRPr sz="2000" b="1">
                <a:solidFill>
                  <a:srgbClr val="0078D4"/>
                </a:solidFill>
                <a:latin typeface="Segoe UI"/>
              </a:defRPr>
            </a:pPr>
            <a:r>
              <a:rPr>
                <a:hlinkClick r:id="rId4"/>
              </a:rPr>
              <a:t>S2  Execute DAX Queries: roles, customData, privilege and Arrow</a:t>
            </a:r>
          </a:p>
        </p:txBody>
      </p:sp>
      <p:sp>
        <p:nvSpPr>
          <p:cNvPr id="7" name="Text"/>
          <p:cNvSpPr txBox="1"/>
          <p:nvPr/>
        </p:nvSpPr>
        <p:spPr>
          <a:xfrm>
            <a:off x="1197864" y="2953512"/>
            <a:ext cx="10149840" cy="237744"/>
          </a:xfrm>
          <a:prstGeom prst="rect">
            <a:avLst/>
          </a:prstGeom>
          <a:noFill/>
        </p:spPr>
        <p:txBody>
          <a:bodyPr wrap="square" lIns="0" rIns="0" tIns="0" bIns="0">
            <a:spAutoFit/>
          </a:bodyPr>
          <a:lstStyle/>
          <a:p>
            <a:pPr algn="l">
              <a:spcBef>
                <a:spcPts val="0"/>
              </a:spcBef>
              <a:spcAft>
                <a:spcPts val="500"/>
              </a:spcAft>
              <a:defRPr sz="1200" b="0">
                <a:solidFill>
                  <a:srgbClr val="6B7780"/>
                </a:solidFill>
                <a:latin typeface="Segoe UI"/>
              </a:defRPr>
            </a:pPr>
            <a:r>
              <a:t>learn.microsoft.com/.../rest/api/power-bi/datasets/execute-dax-queries</a:t>
            </a:r>
          </a:p>
        </p:txBody>
      </p:sp>
      <p:sp>
        <p:nvSpPr>
          <p:cNvPr id="8" name="Text"/>
          <p:cNvSpPr txBox="1"/>
          <p:nvPr/>
        </p:nvSpPr>
        <p:spPr>
          <a:xfrm>
            <a:off x="685800" y="3282696"/>
            <a:ext cx="10789920" cy="393192"/>
          </a:xfrm>
          <a:prstGeom prst="rect">
            <a:avLst/>
          </a:prstGeom>
          <a:noFill/>
        </p:spPr>
        <p:txBody>
          <a:bodyPr wrap="square" lIns="0" rIns="0" tIns="0" bIns="0">
            <a:spAutoFit/>
          </a:bodyPr>
          <a:lstStyle/>
          <a:p>
            <a:pPr algn="l">
              <a:spcBef>
                <a:spcPts val="0"/>
              </a:spcBef>
              <a:spcAft>
                <a:spcPts val="500"/>
              </a:spcAft>
              <a:defRPr sz="2000" b="1">
                <a:solidFill>
                  <a:srgbClr val="0078D4"/>
                </a:solidFill>
                <a:latin typeface="Segoe UI"/>
              </a:defRPr>
            </a:pPr>
            <a:r>
              <a:rPr>
                <a:hlinkClick r:id="rId5"/>
              </a:rPr>
              <a:t>S3  Power BI Embedded: application authentication and tokens</a:t>
            </a:r>
          </a:p>
        </p:txBody>
      </p:sp>
      <p:sp>
        <p:nvSpPr>
          <p:cNvPr id="9" name="Text"/>
          <p:cNvSpPr txBox="1"/>
          <p:nvPr/>
        </p:nvSpPr>
        <p:spPr>
          <a:xfrm>
            <a:off x="1197864" y="3675887"/>
            <a:ext cx="10149840" cy="237744"/>
          </a:xfrm>
          <a:prstGeom prst="rect">
            <a:avLst/>
          </a:prstGeom>
          <a:noFill/>
        </p:spPr>
        <p:txBody>
          <a:bodyPr wrap="square" lIns="0" rIns="0" tIns="0" bIns="0">
            <a:spAutoFit/>
          </a:bodyPr>
          <a:lstStyle/>
          <a:p>
            <a:pPr algn="l">
              <a:spcBef>
                <a:spcPts val="0"/>
              </a:spcBef>
              <a:spcAft>
                <a:spcPts val="500"/>
              </a:spcAft>
              <a:defRPr sz="1200" b="0">
                <a:solidFill>
                  <a:srgbClr val="6B7780"/>
                </a:solidFill>
                <a:latin typeface="Segoe UI"/>
              </a:defRPr>
            </a:pPr>
            <a:r>
              <a:t>learn.microsoft.com/.../power-bi/developer/embedded/embed-tokens</a:t>
            </a:r>
          </a:p>
        </p:txBody>
      </p:sp>
      <p:sp>
        <p:nvSpPr>
          <p:cNvPr id="10" name="Text"/>
          <p:cNvSpPr txBox="1"/>
          <p:nvPr/>
        </p:nvSpPr>
        <p:spPr>
          <a:xfrm>
            <a:off x="685800" y="4005072"/>
            <a:ext cx="10789920" cy="393192"/>
          </a:xfrm>
          <a:prstGeom prst="rect">
            <a:avLst/>
          </a:prstGeom>
          <a:noFill/>
        </p:spPr>
        <p:txBody>
          <a:bodyPr wrap="square" lIns="0" rIns="0" tIns="0" bIns="0">
            <a:spAutoFit/>
          </a:bodyPr>
          <a:lstStyle/>
          <a:p>
            <a:pPr algn="l">
              <a:spcBef>
                <a:spcPts val="0"/>
              </a:spcBef>
              <a:spcAft>
                <a:spcPts val="500"/>
              </a:spcAft>
              <a:defRPr sz="2000" b="1">
                <a:solidFill>
                  <a:srgbClr val="0078D4"/>
                </a:solidFill>
                <a:latin typeface="Segoe UI"/>
              </a:defRPr>
            </a:pPr>
            <a:r>
              <a:rPr>
                <a:hlinkClick r:id="rId6"/>
              </a:rPr>
              <a:t>S4  GenerateToken: EffectiveIdentity and customData</a:t>
            </a:r>
          </a:p>
        </p:txBody>
      </p:sp>
      <p:sp>
        <p:nvSpPr>
          <p:cNvPr id="11" name="Text"/>
          <p:cNvSpPr txBox="1"/>
          <p:nvPr/>
        </p:nvSpPr>
        <p:spPr>
          <a:xfrm>
            <a:off x="1197864" y="4398264"/>
            <a:ext cx="10149840" cy="237744"/>
          </a:xfrm>
          <a:prstGeom prst="rect">
            <a:avLst/>
          </a:prstGeom>
          <a:noFill/>
        </p:spPr>
        <p:txBody>
          <a:bodyPr wrap="square" lIns="0" rIns="0" tIns="0" bIns="0">
            <a:spAutoFit/>
          </a:bodyPr>
          <a:lstStyle/>
          <a:p>
            <a:pPr algn="l">
              <a:spcBef>
                <a:spcPts val="0"/>
              </a:spcBef>
              <a:spcAft>
                <a:spcPts val="500"/>
              </a:spcAft>
              <a:defRPr sz="1200" b="0">
                <a:solidFill>
                  <a:srgbClr val="6B7780"/>
                </a:solidFill>
                <a:latin typeface="Segoe UI"/>
              </a:defRPr>
            </a:pPr>
            <a:r>
              <a:t>learn.microsoft.com/.../rest/api/power-bi/embed-token/generate-token</a:t>
            </a:r>
          </a:p>
        </p:txBody>
      </p:sp>
      <p:sp>
        <p:nvSpPr>
          <p:cNvPr id="12" name="Text"/>
          <p:cNvSpPr txBox="1"/>
          <p:nvPr/>
        </p:nvSpPr>
        <p:spPr>
          <a:xfrm>
            <a:off x="685800" y="4727448"/>
            <a:ext cx="10789920" cy="393192"/>
          </a:xfrm>
          <a:prstGeom prst="rect">
            <a:avLst/>
          </a:prstGeom>
          <a:noFill/>
        </p:spPr>
        <p:txBody>
          <a:bodyPr wrap="square" lIns="0" rIns="0" tIns="0" bIns="0">
            <a:spAutoFit/>
          </a:bodyPr>
          <a:lstStyle/>
          <a:p>
            <a:pPr algn="l">
              <a:spcBef>
                <a:spcPts val="0"/>
              </a:spcBef>
              <a:spcAft>
                <a:spcPts val="500"/>
              </a:spcAft>
              <a:defRPr sz="2000" b="1">
                <a:solidFill>
                  <a:srgbClr val="0078D4"/>
                </a:solidFill>
                <a:latin typeface="Segoe UI"/>
              </a:defRPr>
            </a:pPr>
            <a:r>
              <a:rPr>
                <a:hlinkClick r:id="rId7"/>
              </a:rPr>
              <a:t>S5  Embedded cloud RLS: USERNAME and effective identity</a:t>
            </a:r>
          </a:p>
        </p:txBody>
      </p:sp>
      <p:sp>
        <p:nvSpPr>
          <p:cNvPr id="13" name="Text"/>
          <p:cNvSpPr txBox="1"/>
          <p:nvPr/>
        </p:nvSpPr>
        <p:spPr>
          <a:xfrm>
            <a:off x="1197864" y="5120640"/>
            <a:ext cx="10149840" cy="237744"/>
          </a:xfrm>
          <a:prstGeom prst="rect">
            <a:avLst/>
          </a:prstGeom>
          <a:noFill/>
        </p:spPr>
        <p:txBody>
          <a:bodyPr wrap="square" lIns="0" rIns="0" tIns="0" bIns="0">
            <a:spAutoFit/>
          </a:bodyPr>
          <a:lstStyle/>
          <a:p>
            <a:pPr algn="l">
              <a:spcBef>
                <a:spcPts val="0"/>
              </a:spcBef>
              <a:spcAft>
                <a:spcPts val="500"/>
              </a:spcAft>
              <a:defRPr sz="1200" b="0">
                <a:solidFill>
                  <a:srgbClr val="6B7780"/>
                </a:solidFill>
                <a:latin typeface="Segoe UI"/>
              </a:defRPr>
            </a:pPr>
            <a:r>
              <a:t>learn.microsoft.com/.../power-bi/developer/embedded/cloud-rls</a:t>
            </a:r>
          </a:p>
        </p:txBody>
      </p:sp>
      <p:sp>
        <p:nvSpPr>
          <p:cNvPr id="14" name="Text"/>
          <p:cNvSpPr txBox="1"/>
          <p:nvPr/>
        </p:nvSpPr>
        <p:spPr>
          <a:xfrm>
            <a:off x="722376" y="5925312"/>
            <a:ext cx="10817352" cy="429768"/>
          </a:xfrm>
          <a:prstGeom prst="rect">
            <a:avLst/>
          </a:prstGeom>
          <a:noFill/>
        </p:spPr>
        <p:txBody>
          <a:bodyPr wrap="square" lIns="0" rIns="0" tIns="0" bIns="0">
            <a:spAutoFit/>
          </a:bodyPr>
          <a:lstStyle/>
          <a:p>
            <a:pPr algn="l">
              <a:spcBef>
                <a:spcPts val="0"/>
              </a:spcBef>
              <a:spcAft>
                <a:spcPts val="500"/>
              </a:spcAft>
              <a:defRPr sz="1700" b="0">
                <a:solidFill>
                  <a:srgbClr val="29353D"/>
                </a:solidFill>
                <a:latin typeface="Segoe UI"/>
              </a:defRPr>
            </a:pPr>
            <a:r>
              <a:t>Embedded analogy does not establish native IQ support for embed tokens or app-only identity.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lide title"/>
          <p:cNvSpPr txBox="1"/>
          <p:nvPr/>
        </p:nvSpPr>
        <p:spPr>
          <a:xfrm>
            <a:off x="585216" y="420624"/>
            <a:ext cx="11018520" cy="786384"/>
          </a:xfrm>
          <a:prstGeom prst="rect">
            <a:avLst/>
          </a:prstGeom>
          <a:noFill/>
        </p:spPr>
        <p:txBody>
          <a:bodyPr wrap="square" lIns="0" rIns="0" tIns="0" bIns="0">
            <a:spAutoFit/>
          </a:bodyPr>
          <a:lstStyle/>
          <a:p>
            <a:pPr algn="l">
              <a:spcBef>
                <a:spcPts val="0"/>
              </a:spcBef>
              <a:spcAft>
                <a:spcPts val="500"/>
              </a:spcAft>
              <a:defRPr sz="3000" b="0">
                <a:solidFill>
                  <a:srgbClr val="29353D"/>
                </a:solidFill>
                <a:latin typeface="Segoe UI Semibold"/>
              </a:defRPr>
            </a:pPr>
            <a:r>
              <a:t>Evidence, scope and source transparency</a:t>
            </a:r>
          </a:p>
        </p:txBody>
      </p:sp>
      <p:sp>
        <p:nvSpPr>
          <p:cNvPr id="3" name="Text"/>
          <p:cNvSpPr txBox="1"/>
          <p:nvPr/>
        </p:nvSpPr>
        <p:spPr>
          <a:xfrm>
            <a:off x="603504" y="1225296"/>
            <a:ext cx="10881360" cy="548640"/>
          </a:xfrm>
          <a:prstGeom prst="rect">
            <a:avLst/>
          </a:prstGeom>
          <a:noFill/>
        </p:spPr>
        <p:txBody>
          <a:bodyPr wrap="square" lIns="0" rIns="0" tIns="0" bIns="0">
            <a:spAutoFit/>
          </a:bodyPr>
          <a:lstStyle/>
          <a:p>
            <a:pPr algn="l">
              <a:spcBef>
                <a:spcPts val="0"/>
              </a:spcBef>
              <a:spcAft>
                <a:spcPts val="500"/>
              </a:spcAft>
              <a:defRPr sz="1700" b="0">
                <a:solidFill>
                  <a:srgbClr val="6B7780"/>
                </a:solidFill>
                <a:latin typeface="Segoe UI"/>
              </a:defRPr>
            </a:pPr>
            <a:r>
              <a:t>A deliberately narrow proposal, with its limits visible.</a:t>
            </a:r>
          </a:p>
        </p:txBody>
      </p:sp>
      <p:sp>
        <p:nvSpPr>
          <p:cNvPr id="4" name="Text"/>
          <p:cNvSpPr txBox="1"/>
          <p:nvPr/>
        </p:nvSpPr>
        <p:spPr>
          <a:xfrm>
            <a:off x="603504" y="6483096"/>
            <a:ext cx="10972800" cy="201168"/>
          </a:xfrm>
          <a:prstGeom prst="rect">
            <a:avLst/>
          </a:prstGeom>
          <a:noFill/>
        </p:spPr>
        <p:txBody>
          <a:bodyPr wrap="square" lIns="0" rIns="0" tIns="0" bIns="0">
            <a:spAutoFit/>
          </a:bodyPr>
          <a:lstStyle/>
          <a:p>
            <a:pPr algn="l">
              <a:spcBef>
                <a:spcPts val="0"/>
              </a:spcBef>
              <a:spcAft>
                <a:spcPts val="500"/>
              </a:spcAft>
              <a:defRPr sz="900" b="0">
                <a:solidFill>
                  <a:srgbClr val="6B7780"/>
                </a:solidFill>
                <a:latin typeface="Segoe UI"/>
              </a:defRPr>
            </a:pPr>
            <a:r>
              <a:t>Sources: E1, S6, S7 | 28 September 2026</a:t>
            </a:r>
          </a:p>
        </p:txBody>
      </p:sp>
      <p:sp>
        <p:nvSpPr>
          <p:cNvPr id="5" name="Text"/>
          <p:cNvSpPr txBox="1"/>
          <p:nvPr/>
        </p:nvSpPr>
        <p:spPr>
          <a:xfrm>
            <a:off x="694944" y="1947672"/>
            <a:ext cx="5202936" cy="466344"/>
          </a:xfrm>
          <a:prstGeom prst="rect">
            <a:avLst/>
          </a:prstGeom>
          <a:noFill/>
        </p:spPr>
        <p:txBody>
          <a:bodyPr wrap="square" lIns="0" rIns="0" tIns="0" bIns="0">
            <a:spAutoFit/>
          </a:bodyPr>
          <a:lstStyle/>
          <a:p>
            <a:pPr algn="l">
              <a:spcBef>
                <a:spcPts val="0"/>
              </a:spcBef>
              <a:spcAft>
                <a:spcPts val="500"/>
              </a:spcAft>
              <a:defRPr sz="2500" b="1">
                <a:solidFill>
                  <a:srgbClr val="00684A"/>
                </a:solidFill>
                <a:latin typeface="Segoe UI"/>
              </a:defRPr>
            </a:pPr>
            <a:r>
              <a:t>Evidence we have</a:t>
            </a:r>
          </a:p>
        </p:txBody>
      </p:sp>
      <p:sp>
        <p:nvSpPr>
          <p:cNvPr id="6" name="Text"/>
          <p:cNvSpPr txBox="1"/>
          <p:nvPr/>
        </p:nvSpPr>
        <p:spPr>
          <a:xfrm>
            <a:off x="704088" y="2670048"/>
            <a:ext cx="5120640" cy="2304288"/>
          </a:xfrm>
          <a:prstGeom prst="rect">
            <a:avLst/>
          </a:prstGeom>
          <a:noFill/>
        </p:spPr>
        <p:txBody>
          <a:bodyPr wrap="square" lIns="0" rIns="0" tIns="0" bIns="0">
            <a:spAutoFit/>
          </a:bodyPr>
          <a:lstStyle/>
          <a:p>
            <a:pPr algn="l">
              <a:spcBef>
                <a:spcPts val="0"/>
              </a:spcBef>
              <a:spcAft>
                <a:spcPts val="500"/>
              </a:spcAft>
              <a:defRPr sz="2200" b="0">
                <a:solidFill>
                  <a:srgbClr val="29353D"/>
                </a:solidFill>
                <a:latin typeface="Segoe UI"/>
              </a:defRPr>
            </a:pPr>
            <a:r>
              <a:t>42 live engine-RLS checks</a:t>
            </a:r>
          </a:p>
          <a:p>
            <a:pPr algn="l">
              <a:spcBef>
                <a:spcPts val="0"/>
              </a:spcBef>
              <a:spcAft>
                <a:spcPts val="500"/>
              </a:spcAft>
              <a:defRPr sz="2200" b="0">
                <a:solidFill>
                  <a:srgbClr val="29353D"/>
                </a:solidFill>
                <a:latin typeface="Segoe UI"/>
              </a:defRPr>
            </a:pPr>
            <a:r>
              <a:t>6 synthetic users / 6 activity rows</a:t>
            </a:r>
          </a:p>
          <a:p>
            <a:pPr algn="l">
              <a:spcBef>
                <a:spcPts val="0"/>
              </a:spcBef>
              <a:spcAft>
                <a:spcPts val="500"/>
              </a:spcAft>
              <a:defRPr sz="2200" b="0">
                <a:solidFill>
                  <a:srgbClr val="29353D"/>
                </a:solidFill>
                <a:latin typeface="Segoe UI"/>
              </a:defRPr>
            </a:pPr>
            <a:r>
              <a:t>Import mode; fixed query role</a:t>
            </a:r>
          </a:p>
          <a:p>
            <a:pPr algn="l">
              <a:spcBef>
                <a:spcPts val="0"/>
              </a:spcBef>
              <a:spcAft>
                <a:spcPts val="500"/>
              </a:spcAft>
              <a:defRPr sz="2200" b="0">
                <a:solidFill>
                  <a:srgbClr val="29353D"/>
                </a:solidFill>
                <a:latin typeface="Segoe UI"/>
              </a:defRPr>
            </a:pPr>
            <a:r>
              <a:t>Current public API contracts</a:t>
            </a:r>
          </a:p>
        </p:txBody>
      </p:sp>
      <p:sp>
        <p:nvSpPr>
          <p:cNvPr id="7" name="Text"/>
          <p:cNvSpPr txBox="1"/>
          <p:nvPr/>
        </p:nvSpPr>
        <p:spPr>
          <a:xfrm>
            <a:off x="6455664" y="1947672"/>
            <a:ext cx="4937760" cy="466344"/>
          </a:xfrm>
          <a:prstGeom prst="rect">
            <a:avLst/>
          </a:prstGeom>
          <a:noFill/>
        </p:spPr>
        <p:txBody>
          <a:bodyPr wrap="square" lIns="0" rIns="0" tIns="0" bIns="0">
            <a:spAutoFit/>
          </a:bodyPr>
          <a:lstStyle/>
          <a:p>
            <a:pPr algn="l">
              <a:spcBef>
                <a:spcPts val="0"/>
              </a:spcBef>
              <a:spcAft>
                <a:spcPts val="500"/>
              </a:spcAft>
              <a:defRPr sz="2500" b="1">
                <a:solidFill>
                  <a:srgbClr val="0078D4"/>
                </a:solidFill>
                <a:latin typeface="Segoe UI"/>
              </a:defRPr>
            </a:pPr>
            <a:r>
              <a:t>Not a claim of</a:t>
            </a:r>
          </a:p>
        </p:txBody>
      </p:sp>
      <p:sp>
        <p:nvSpPr>
          <p:cNvPr id="8" name="Text"/>
          <p:cNvSpPr txBox="1"/>
          <p:nvPr/>
        </p:nvSpPr>
        <p:spPr>
          <a:xfrm>
            <a:off x="6464808" y="2670048"/>
            <a:ext cx="4910328" cy="2304288"/>
          </a:xfrm>
          <a:prstGeom prst="rect">
            <a:avLst/>
          </a:prstGeom>
          <a:noFill/>
        </p:spPr>
        <p:txBody>
          <a:bodyPr wrap="square" lIns="0" rIns="0" tIns="0" bIns="0">
            <a:spAutoFit/>
          </a:bodyPr>
          <a:lstStyle/>
          <a:p>
            <a:pPr algn="l">
              <a:spcBef>
                <a:spcPts val="0"/>
              </a:spcBef>
              <a:spcAft>
                <a:spcPts val="500"/>
              </a:spcAft>
              <a:defRPr sz="2200" b="0">
                <a:solidFill>
                  <a:srgbClr val="29353D"/>
                </a:solidFill>
                <a:latin typeface="Segoe UI"/>
              </a:defRPr>
            </a:pPr>
            <a:r>
              <a:t>Production readiness</a:t>
            </a:r>
          </a:p>
          <a:p>
            <a:pPr algn="l">
              <a:spcBef>
                <a:spcPts val="0"/>
              </a:spcBef>
              <a:spcAft>
                <a:spcPts val="500"/>
              </a:spcAft>
              <a:defRPr sz="2200" b="0">
                <a:solidFill>
                  <a:srgbClr val="29353D"/>
                </a:solidFill>
                <a:latin typeface="Segoe UI"/>
              </a:defRPr>
            </a:pPr>
            <a:r>
              <a:t>Live end-to-end IQ success</a:t>
            </a:r>
          </a:p>
          <a:p>
            <a:pPr algn="l">
              <a:spcBef>
                <a:spcPts val="0"/>
              </a:spcBef>
              <a:spcAft>
                <a:spcPts val="500"/>
              </a:spcAft>
              <a:defRPr sz="2200" b="0">
                <a:solidFill>
                  <a:srgbClr val="29353D"/>
                </a:solidFill>
                <a:latin typeface="Segoe UI"/>
              </a:defRPr>
            </a:pPr>
            <a:r>
              <a:t>Embedded / chat parity</a:t>
            </a:r>
          </a:p>
          <a:p>
            <a:pPr algn="l">
              <a:spcBef>
                <a:spcPts val="0"/>
              </a:spcBef>
              <a:spcAft>
                <a:spcPts val="500"/>
              </a:spcAft>
              <a:defRPr sz="2200" b="0">
                <a:solidFill>
                  <a:srgbClr val="29353D"/>
                </a:solidFill>
                <a:latin typeface="Segoe UI"/>
              </a:defRPr>
            </a:pPr>
            <a:r>
              <a:t>All-model or storage-mode support</a:t>
            </a:r>
          </a:p>
        </p:txBody>
      </p:sp>
      <p:sp>
        <p:nvSpPr>
          <p:cNvPr id="9" name="Text"/>
          <p:cNvSpPr txBox="1"/>
          <p:nvPr/>
        </p:nvSpPr>
        <p:spPr>
          <a:xfrm>
            <a:off x="704088" y="5596128"/>
            <a:ext cx="10698480" cy="621792"/>
          </a:xfrm>
          <a:prstGeom prst="rect">
            <a:avLst/>
          </a:prstGeom>
          <a:noFill/>
        </p:spPr>
        <p:txBody>
          <a:bodyPr wrap="square" lIns="0" rIns="0" tIns="0" bIns="0">
            <a:spAutoFit/>
          </a:bodyPr>
          <a:lstStyle/>
          <a:p>
            <a:pPr algn="l">
              <a:spcBef>
                <a:spcPts val="0"/>
              </a:spcBef>
              <a:spcAft>
                <a:spcPts val="500"/>
              </a:spcAft>
              <a:defRPr sz="1500" b="0">
                <a:solidFill>
                  <a:srgbClr val="6B7780"/>
                </a:solidFill>
                <a:latin typeface="Segoe UI"/>
              </a:defRPr>
            </a:pPr>
            <a:r>
              <a:t>Source discovery: local index searched; live GearUp unavailable. No restricted slides reproduced.</a:t>
            </a:r>
          </a:p>
          <a:p>
            <a:pPr algn="l">
              <a:spcBef>
                <a:spcPts val="0"/>
              </a:spcBef>
              <a:spcAft>
                <a:spcPts val="500"/>
              </a:spcAft>
              <a:defRPr sz="1500" b="0">
                <a:solidFill>
                  <a:srgbClr val="6B7780"/>
                </a:solidFill>
                <a:latin typeface="Segoe UI"/>
              </a:defRPr>
            </a:pPr>
            <a:r>
              <a:t>Apply the appropriate sensitivity label before sharing this newly authored file.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Fabric ISV - Keep your identity, add conversational analytics</dc:title>
  <dc:subject>ISV application identities, Fabric IQ and semantic-model RLS</dc:subject>
  <dc:creator>Brendan Bailey | Microsoft</dc:creator>
  <cp:keywords>technical proof; synthetic data; proposed architecture; 2026-09-28</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