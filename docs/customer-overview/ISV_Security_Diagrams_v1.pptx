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existing application validates its own session and resolves the user's entitlements. The AI planner separately supplies DAX. The trusted broker combines the query with server-owned ExternalAppScope and an opaque application-user key. The model evaluates CUSTOMDATA() within the RLS role and returns only the permitted rows. The broker's certificate service principal requires workspace Admin to select roles; without the required role/context that principal may be unrestricted. Therefore the broker is part of the trusted boundary, not merely a pass-through. Do not claim native IQ supports external-user app-only authentication. Metadata credentials are shown separately on the next slide. The model return is structured authorized data; the full flow subsequently explains only those rows.</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a:p/>
          <a:p>
            <a:r>
              <a:t>Architecture assumptions:</a:t>
            </a:r>
          </a:p>
          <a:p>
            <a:r>
              <a:t>Diagram caption: Request-path-only view; responses are omitted, not absent. Only RLS-filtered rows return, then a separate LLM explains those rows.</a:t>
            </a:r>
          </a:p>
          <a:p>
            <a:r>
              <a:t>The application zone denotes custom-software responsibility, not a network or hosting boundary. Existing login and entitlement resolution remain; end users need not exist in Entra.</a:t>
            </a:r>
          </a:p>
          <a:p>
            <a:r>
              <a:t>RLS depends on the broker mandatorily attaching the fixed ExternalAppScope role and opaque application user key in roles/customData. Its certificate service principal is workspace Admin, not inherently row-restricted.</a:t>
            </a:r>
          </a:p>
          <a:p>
            <a:r>
              <a:t>Evidence gaps:</a:t>
            </a:r>
          </a:p>
          <a:p>
            <a:r>
              <a:t>The supplied RLS proof covers 42 synthetic Import checks; production behavior is not established by that proof.</a:t>
            </a:r>
          </a:p>
          <a:p>
            <a:r>
              <a:t>The full integrated IQ conversational path has not yet been demonstrated.</a:t>
            </a:r>
          </a:p>
          <a:p>
            <a:r>
              <a:t>Actual application login and its end-to-end identity binding to broker requests have not yet been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row is the user's application identity. A future integration receives that identity from the existing verified session; the current local UI merely simulates it with a selector. The opaque normalized issuer/subject-derived key maps to model entitlements. The IQ caller is a separate delegated work/school account: IQ has no app-only authentication mode. Query execution uses a separate certificate service principal; inference has its own caller. None of these cloud credentials is the end user's password, session cookie, or app user represented in Entra. Never send them to the LLM. A production delegated-IQ credential lifecycle remains a design decision.</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a:p>
            <a:r>
              <a:t>S6: Azure OpenAI Responses API</a:t>
            </a:r>
          </a:p>
          <a:p>
            <a:r>
              <a:t>https://learn.microsoft.com/en-us/azure/foundry/openai/how-to/responses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simplified diagram deliberately abstracts the standard Embedded path: backend Entra authentication and GenerateToken produce an embed token, which the browser uses for the report. The token conveys EffectiveIdentity for model RLS. The chat path instead uses our server-controlled roles/customData query broker and returns Arrow rows, then an explanation. There is no embed token in the chat query request. Both paths should reuse the entitlement decision and business model, but may require aligning USERNAME versus CUSTOMDATA expressions. Actual Embedded/chat parity has not been executed. Logical lanes show responsibility, not VNet or tenant boundaries.</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a:p>
            <a:r>
              <a:t>S4: GenerateToken: EffectiveIdentity and customData</a:t>
            </a:r>
          </a:p>
          <a:p>
            <a:r>
              <a:t>https://learn.microsoft.com/en-us/rest/api/power-bi/embed-token/generate-token</a:t>
            </a:r>
          </a:p>
          <a:p>
            <a:r>
              <a:t>S5: Embedded cloud RLS: USERNAME and effective identity</a:t>
            </a:r>
          </a:p>
          <a:p>
            <a:r>
              <a:t>https://learn.microsoft.com/en-us/power-bi/developer/embedded/cloud-rls</a:t>
            </a:r>
          </a:p>
          <a:p/>
          <a:p>
            <a:r>
              <a:t>Architecture assumptions:</a:t>
            </a:r>
          </a:p>
          <a:p>
            <a:r>
              <a:t>This diagram presents the intended congruent future design: existing application login and current entitlements inform both report and conversational access to shared business measures and RLS intent.</a:t>
            </a:r>
          </a:p>
          <a:p>
            <a:r>
              <a:t>Zones describe logical responsibilities, not subnets, deployments or strict tenancy boundaries. The topology represents two converging lanes with large labels, not a detailed runtime protocol sequence.</a:t>
            </a:r>
          </a:p>
          <a:p>
            <a:r>
              <a:t>The conversational path is a custom broker design, not native Fabric IQ app-only support. No new end-user Entra accounts are introduced; the separate delegated IQ schema caller is outside this diagram.</a:t>
            </a:r>
          </a:p>
          <a:p>
            <a:r>
              <a:t>Evidence gaps:</a:t>
            </a:r>
          </a:p>
          <a:p>
            <a:r>
              <a:t>Actual Embedded-versus-chat parity has not been run; Embedded/report parity is not yet observed.</a:t>
            </a:r>
          </a:p>
          <a:p>
            <a:r>
              <a:t>Roles and identity-field/RLS expressions must be aligned before claiming one unchanged role works in both paths: current Embedded may use USERNAME(), while the proof uses a CUSTOMDATA()-based role.</a:t>
            </a:r>
          </a:p>
          <a:p>
            <a:r>
              <a:t>Documented EffectiveIdentity customData support for cloud models and executeDaxQueries customData support do not establish compatibility with this particular customer model. The required workspace-admin status for a service principal selecting roles is a prerequisite, not a verified customer permission.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FFFFFF"/>
                </a:solidFill>
                <a:latin typeface="Segoe UI Semibold"/>
              </a:defRPr>
            </a:pPr>
            <a:r>
              <a:t>Your app owns identity. The model enforces access.</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A9B8C0"/>
                </a:solidFill>
                <a:latin typeface="Segoe UI"/>
              </a:defRPr>
            </a:pPr>
            <a:r>
              <a:t>Proposed request path | Keep authorization outside the LLM.</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A9B8C0"/>
                </a:solidFill>
                <a:latin typeface="Segoe UI"/>
              </a:defRPr>
            </a:pPr>
            <a:r>
              <a:t>Sources: S1, S2, S3 | 28 September 2026</a:t>
            </a:r>
          </a:p>
        </p:txBody>
      </p:sp>
      <p:sp>
        <p:nvSpPr>
          <p:cNvPr id="5" name="zone-application"/>
          <p:cNvSpPr/>
          <p:nvPr/>
        </p:nvSpPr>
        <p:spPr>
          <a:xfrm>
            <a:off x="585216" y="1892807"/>
            <a:ext cx="6492240" cy="3575304"/>
          </a:xfrm>
          <a:prstGeom prst="rect">
            <a:avLst/>
          </a:prstGeom>
          <a:solidFill>
            <a:srgbClr val="35444E"/>
          </a:solidFill>
          <a:ln w="1270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zone-fabric"/>
          <p:cNvSpPr/>
          <p:nvPr/>
        </p:nvSpPr>
        <p:spPr>
          <a:xfrm>
            <a:off x="8229600" y="1892807"/>
            <a:ext cx="3374136" cy="3575304"/>
          </a:xfrm>
          <a:prstGeom prst="rect">
            <a:avLst/>
          </a:prstGeom>
          <a:solidFill>
            <a:srgbClr val="35444E"/>
          </a:solidFill>
          <a:ln w="1270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011680"/>
            <a:ext cx="3749039" cy="32004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Your application responsibility</a:t>
            </a:r>
          </a:p>
        </p:txBody>
      </p:sp>
      <p:sp>
        <p:nvSpPr>
          <p:cNvPr id="8" name="Text"/>
          <p:cNvSpPr txBox="1"/>
          <p:nvPr/>
        </p:nvSpPr>
        <p:spPr>
          <a:xfrm>
            <a:off x="8403336" y="2011680"/>
            <a:ext cx="2999232" cy="32004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Fabric / Power BI</a:t>
            </a:r>
          </a:p>
        </p:txBody>
      </p:sp>
      <p:grpSp>
        <p:nvGrpSpPr>
          <p:cNvPr id="9" name="node-app"/>
          <p:cNvGrpSpPr/>
          <p:nvPr/>
        </p:nvGrpSpPr>
        <p:grpSpPr>
          <a:xfrm>
            <a:off x="859536" y="3886200"/>
            <a:ext cx="2231136" cy="1298448"/>
            <a:chOff x="859536" y="3886200"/>
            <a:chExt cx="2231136" cy="1298448"/>
          </a:xfrm>
        </p:grpSpPr>
        <p:sp>
          <p:nvSpPr>
            <p:cNvPr id="10" name="Rounded Rectangle 9"/>
            <p:cNvSpPr/>
            <p:nvPr/>
          </p:nvSpPr>
          <p:spPr>
            <a:xfrm>
              <a:off x="859536" y="3886200"/>
              <a:ext cx="2231136" cy="129844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ode-app-label"/>
            <p:cNvSpPr txBox="1"/>
            <p:nvPr/>
          </p:nvSpPr>
          <p:spPr>
            <a:xfrm>
              <a:off x="969264" y="4050791"/>
              <a:ext cx="2011680"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Your app</a:t>
              </a:r>
            </a:p>
          </p:txBody>
        </p:sp>
        <p:sp>
          <p:nvSpPr>
            <p:cNvPr id="12" name="Text"/>
            <p:cNvSpPr txBox="1"/>
            <p:nvPr/>
          </p:nvSpPr>
          <p:spPr>
            <a:xfrm>
              <a:off x="969264" y="4480559"/>
              <a:ext cx="2011680" cy="649224"/>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Existing login</a:t>
              </a:r>
            </a:p>
            <a:p>
              <a:pPr algn="ctr">
                <a:spcBef>
                  <a:spcPts val="0"/>
                </a:spcBef>
                <a:spcAft>
                  <a:spcPts val="500"/>
                </a:spcAft>
                <a:defRPr sz="1500" b="0">
                  <a:solidFill>
                    <a:srgbClr val="E6ECEF"/>
                  </a:solidFill>
                  <a:latin typeface="Segoe UI"/>
                </a:defRPr>
              </a:pPr>
              <a:r>
                <a:t>and entitlements</a:t>
              </a:r>
            </a:p>
          </p:txBody>
        </p:sp>
      </p:grpSp>
      <p:grpSp>
        <p:nvGrpSpPr>
          <p:cNvPr id="13" name="node-planner"/>
          <p:cNvGrpSpPr/>
          <p:nvPr/>
        </p:nvGrpSpPr>
        <p:grpSpPr>
          <a:xfrm>
            <a:off x="4297680" y="2395728"/>
            <a:ext cx="2432304" cy="1207008"/>
            <a:chOff x="4297680" y="2395728"/>
            <a:chExt cx="2432304" cy="1207008"/>
          </a:xfrm>
        </p:grpSpPr>
        <p:sp>
          <p:nvSpPr>
            <p:cNvPr id="14" name="Rounded Rectangle 13"/>
            <p:cNvSpPr/>
            <p:nvPr/>
          </p:nvSpPr>
          <p:spPr>
            <a:xfrm>
              <a:off x="4297680" y="2395728"/>
              <a:ext cx="2432304" cy="120700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ode-planner-label"/>
            <p:cNvSpPr txBox="1"/>
            <p:nvPr/>
          </p:nvSpPr>
          <p:spPr>
            <a:xfrm>
              <a:off x="4407408" y="2560320"/>
              <a:ext cx="2212848"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AI query planner</a:t>
              </a:r>
            </a:p>
          </p:txBody>
        </p:sp>
        <p:sp>
          <p:nvSpPr>
            <p:cNvPr id="16" name="Text"/>
            <p:cNvSpPr txBox="1"/>
            <p:nvPr/>
          </p:nvSpPr>
          <p:spPr>
            <a:xfrm>
              <a:off x="4407408" y="2990088"/>
              <a:ext cx="2212848" cy="557783"/>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IQ schema + LLM</a:t>
              </a:r>
            </a:p>
          </p:txBody>
        </p:sp>
      </p:grpSp>
      <p:grpSp>
        <p:nvGrpSpPr>
          <p:cNvPr id="17" name="node-broker"/>
          <p:cNvGrpSpPr/>
          <p:nvPr/>
        </p:nvGrpSpPr>
        <p:grpSpPr>
          <a:xfrm>
            <a:off x="4297680" y="4069080"/>
            <a:ext cx="2432304" cy="1115568"/>
            <a:chOff x="4297680" y="4069080"/>
            <a:chExt cx="2432304" cy="1115568"/>
          </a:xfrm>
        </p:grpSpPr>
        <p:sp>
          <p:nvSpPr>
            <p:cNvPr id="18" name="Rounded Rectangle 17"/>
            <p:cNvSpPr/>
            <p:nvPr/>
          </p:nvSpPr>
          <p:spPr>
            <a:xfrm>
              <a:off x="4297680" y="4069080"/>
              <a:ext cx="2432304" cy="111556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node-broker-label"/>
            <p:cNvSpPr txBox="1"/>
            <p:nvPr/>
          </p:nvSpPr>
          <p:spPr>
            <a:xfrm>
              <a:off x="4407408" y="4233672"/>
              <a:ext cx="2212848"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Trusted broker</a:t>
              </a:r>
            </a:p>
          </p:txBody>
        </p:sp>
        <p:sp>
          <p:nvSpPr>
            <p:cNvPr id="20" name="Text"/>
            <p:cNvSpPr txBox="1"/>
            <p:nvPr/>
          </p:nvSpPr>
          <p:spPr>
            <a:xfrm>
              <a:off x="4407408" y="4663440"/>
              <a:ext cx="2212848" cy="466344"/>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Fixed role + user key</a:t>
              </a:r>
            </a:p>
          </p:txBody>
        </p:sp>
      </p:grpSp>
      <p:grpSp>
        <p:nvGrpSpPr>
          <p:cNvPr id="21" name="node-model"/>
          <p:cNvGrpSpPr/>
          <p:nvPr/>
        </p:nvGrpSpPr>
        <p:grpSpPr>
          <a:xfrm>
            <a:off x="8403336" y="3300984"/>
            <a:ext cx="2340864" cy="1883664"/>
            <a:chOff x="8403336" y="3300984"/>
            <a:chExt cx="2340864" cy="1883664"/>
          </a:xfrm>
        </p:grpSpPr>
        <p:sp>
          <p:nvSpPr>
            <p:cNvPr id="22" name="Rounded Rectangle 21"/>
            <p:cNvSpPr/>
            <p:nvPr/>
          </p:nvSpPr>
          <p:spPr>
            <a:xfrm>
              <a:off x="8403336" y="3300984"/>
              <a:ext cx="2340864" cy="1883664"/>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emantic_model_64_item.png"/>
            <p:cNvPicPr>
              <a:picLocks noChangeAspect="1"/>
            </p:cNvPicPr>
            <p:nvPr/>
          </p:nvPicPr>
          <p:blipFill>
            <a:blip r:embed="rId3"/>
            <a:stretch>
              <a:fillRect/>
            </a:stretch>
          </p:blipFill>
          <p:spPr>
            <a:xfrm>
              <a:off x="9345167" y="3429000"/>
              <a:ext cx="457200" cy="457200"/>
            </a:xfrm>
            <a:prstGeom prst="rect">
              <a:avLst/>
            </a:prstGeom>
          </p:spPr>
        </p:pic>
        <p:sp>
          <p:nvSpPr>
            <p:cNvPr id="24" name="node-model-label"/>
            <p:cNvSpPr txBox="1"/>
            <p:nvPr/>
          </p:nvSpPr>
          <p:spPr>
            <a:xfrm>
              <a:off x="8513063" y="3968496"/>
              <a:ext cx="2121408"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Semantic Model</a:t>
              </a:r>
            </a:p>
          </p:txBody>
        </p:sp>
        <p:sp>
          <p:nvSpPr>
            <p:cNvPr id="25" name="Text"/>
            <p:cNvSpPr txBox="1"/>
            <p:nvPr/>
          </p:nvSpPr>
          <p:spPr>
            <a:xfrm>
              <a:off x="8513063" y="4398264"/>
              <a:ext cx="2121408" cy="731520"/>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RLS-filtered rows</a:t>
              </a:r>
            </a:p>
          </p:txBody>
        </p:sp>
      </p:grpSp>
      <p:cxnSp>
        <p:nvCxnSpPr>
          <p:cNvPr id="26" name="edge-session"/>
          <p:cNvCxnSpPr>
            <a:stCxn id="9" idx="3"/>
            <a:endCxn id="17" idx="1"/>
          </p:cNvCxnSpPr>
          <p:nvPr/>
        </p:nvCxnSpPr>
        <p:spPr>
          <a:xfrm>
            <a:off x="3090672" y="4535424"/>
            <a:ext cx="1207008" cy="91440"/>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edge-dax"/>
          <p:cNvCxnSpPr>
            <a:stCxn id="13" idx="2"/>
            <a:endCxn id="17" idx="0"/>
          </p:cNvCxnSpPr>
          <p:nvPr/>
        </p:nvCxnSpPr>
        <p:spPr>
          <a:xfrm flipH="1">
            <a:off x="5513832" y="3602736"/>
            <a:ext cx="0" cy="466344"/>
          </a:xfrm>
          <a:prstGeom prst="line">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edge-execute"/>
          <p:cNvCxnSpPr>
            <a:stCxn id="17" idx="3"/>
            <a:endCxn id="21" idx="1"/>
          </p:cNvCxnSpPr>
          <p:nvPr/>
        </p:nvCxnSpPr>
        <p:spPr>
          <a:xfrm flipV="1">
            <a:off x="6729984" y="4242816"/>
            <a:ext cx="1673352" cy="384048"/>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Text"/>
          <p:cNvSpPr txBox="1"/>
          <p:nvPr/>
        </p:nvSpPr>
        <p:spPr>
          <a:xfrm>
            <a:off x="3108960" y="3739896"/>
            <a:ext cx="1115568" cy="585216"/>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Verified</a:t>
            </a:r>
          </a:p>
          <a:p>
            <a:pPr algn="ctr">
              <a:spcBef>
                <a:spcPts val="0"/>
              </a:spcBef>
              <a:spcAft>
                <a:spcPts val="500"/>
              </a:spcAft>
              <a:defRPr sz="1400" b="0">
                <a:solidFill>
                  <a:srgbClr val="E6ECEF"/>
                </a:solidFill>
                <a:latin typeface="Segoe UI"/>
              </a:defRPr>
            </a:pPr>
            <a:r>
              <a:t>app context</a:t>
            </a:r>
          </a:p>
        </p:txBody>
      </p:sp>
      <p:sp>
        <p:nvSpPr>
          <p:cNvPr id="30" name="Text"/>
          <p:cNvSpPr txBox="1"/>
          <p:nvPr/>
        </p:nvSpPr>
        <p:spPr>
          <a:xfrm>
            <a:off x="5678424" y="3703320"/>
            <a:ext cx="1261872" cy="274320"/>
          </a:xfrm>
          <a:prstGeom prst="rect">
            <a:avLst/>
          </a:prstGeom>
          <a:noFill/>
        </p:spPr>
        <p:txBody>
          <a:bodyPr wrap="square" lIns="0" rIns="0" tIns="0" bIns="0">
            <a:spAutoFit/>
          </a:bodyPr>
          <a:lstStyle/>
          <a:p>
            <a:pPr algn="l">
              <a:spcBef>
                <a:spcPts val="0"/>
              </a:spcBef>
              <a:spcAft>
                <a:spcPts val="500"/>
              </a:spcAft>
              <a:defRPr sz="1400" b="0">
                <a:solidFill>
                  <a:srgbClr val="E6ECEF"/>
                </a:solidFill>
                <a:latin typeface="Segoe UI"/>
              </a:defRPr>
            </a:pPr>
            <a:r>
              <a:t>DAX only</a:t>
            </a:r>
          </a:p>
        </p:txBody>
      </p:sp>
      <p:sp>
        <p:nvSpPr>
          <p:cNvPr id="31" name="Text"/>
          <p:cNvSpPr txBox="1"/>
          <p:nvPr/>
        </p:nvSpPr>
        <p:spPr>
          <a:xfrm>
            <a:off x="7114032" y="3630168"/>
            <a:ext cx="1005840" cy="640080"/>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DAX + role</a:t>
            </a:r>
          </a:p>
          <a:p>
            <a:pPr algn="ctr">
              <a:spcBef>
                <a:spcPts val="0"/>
              </a:spcBef>
              <a:spcAft>
                <a:spcPts val="500"/>
              </a:spcAft>
              <a:defRPr sz="1400" b="0">
                <a:solidFill>
                  <a:srgbClr val="E6ECEF"/>
                </a:solidFill>
                <a:latin typeface="Segoe UI"/>
              </a:defRPr>
            </a:pPr>
            <a:r>
              <a:t>+ user key</a:t>
            </a:r>
          </a:p>
        </p:txBody>
      </p:sp>
      <p:sp>
        <p:nvSpPr>
          <p:cNvPr id="32" name="Panel"/>
          <p:cNvSpPr/>
          <p:nvPr/>
        </p:nvSpPr>
        <p:spPr>
          <a:xfrm>
            <a:off x="585216" y="5733288"/>
            <a:ext cx="11018520" cy="539496"/>
          </a:xfrm>
          <a:prstGeom prst="rect">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100" b="1">
                <a:solidFill>
                  <a:srgbClr val="FFFFFF"/>
                </a:solidFill>
                <a:latin typeface="Segoe UI"/>
              </a:defRPr>
            </a:pPr>
            <a:r>
              <a:t>Only RLS-filtered rows return to the application and its explanation step.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The application user is not the cloud credential.</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Four separate contexts. No external-user Entra onboarding in this proposed design.</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S1, S2, S3, S6 | 28 September 2026</a:t>
            </a:r>
          </a:p>
        </p:txBody>
      </p:sp>
      <p:sp>
        <p:nvSpPr>
          <p:cNvPr id="5" name="Panel"/>
          <p:cNvSpPr/>
          <p:nvPr/>
        </p:nvSpPr>
        <p:spPr>
          <a:xfrm>
            <a:off x="585216" y="1993392"/>
            <a:ext cx="11018520" cy="658368"/>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777240" y="2148840"/>
            <a:ext cx="2496312" cy="365760"/>
          </a:xfrm>
          <a:prstGeom prst="rect">
            <a:avLst/>
          </a:prstGeom>
          <a:noFill/>
        </p:spPr>
        <p:txBody>
          <a:bodyPr wrap="square" lIns="0" rIns="0" tIns="0" bIns="0">
            <a:spAutoFit/>
          </a:bodyPr>
          <a:lstStyle/>
          <a:p>
            <a:pPr algn="l">
              <a:spcBef>
                <a:spcPts val="0"/>
              </a:spcBef>
              <a:spcAft>
                <a:spcPts val="500"/>
              </a:spcAft>
              <a:defRPr sz="1900" b="1">
                <a:solidFill>
                  <a:srgbClr val="00684A"/>
                </a:solidFill>
                <a:latin typeface="Segoe UI"/>
              </a:defRPr>
            </a:pPr>
            <a:r>
              <a:t>Application user</a:t>
            </a:r>
          </a:p>
        </p:txBody>
      </p:sp>
      <p:sp>
        <p:nvSpPr>
          <p:cNvPr id="7" name="Text"/>
          <p:cNvSpPr txBox="1"/>
          <p:nvPr/>
        </p:nvSpPr>
        <p:spPr>
          <a:xfrm>
            <a:off x="3483864" y="2157984"/>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Your current login/session</a:t>
            </a:r>
          </a:p>
        </p:txBody>
      </p:sp>
      <p:sp>
        <p:nvSpPr>
          <p:cNvPr id="8" name="Text"/>
          <p:cNvSpPr txBox="1"/>
          <p:nvPr/>
        </p:nvSpPr>
        <p:spPr>
          <a:xfrm>
            <a:off x="7333488" y="2157984"/>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Opaque user key drives RLS</a:t>
            </a:r>
          </a:p>
        </p:txBody>
      </p:sp>
      <p:sp>
        <p:nvSpPr>
          <p:cNvPr id="9" name="Panel"/>
          <p:cNvSpPr/>
          <p:nvPr/>
        </p:nvSpPr>
        <p:spPr>
          <a:xfrm>
            <a:off x="585216" y="2779776"/>
            <a:ext cx="11018520" cy="658368"/>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777240" y="2935224"/>
            <a:ext cx="2496312" cy="365760"/>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IQ metadata caller</a:t>
            </a:r>
          </a:p>
        </p:txBody>
      </p:sp>
      <p:sp>
        <p:nvSpPr>
          <p:cNvPr id="11" name="Text"/>
          <p:cNvSpPr txBox="1"/>
          <p:nvPr/>
        </p:nvSpPr>
        <p:spPr>
          <a:xfrm>
            <a:off x="3483864" y="2944368"/>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Delegated Entra account</a:t>
            </a:r>
          </a:p>
        </p:txBody>
      </p:sp>
      <p:sp>
        <p:nvSpPr>
          <p:cNvPr id="12" name="Text"/>
          <p:cNvSpPr txBox="1"/>
          <p:nvPr/>
        </p:nvSpPr>
        <p:spPr>
          <a:xfrm>
            <a:off x="7333488" y="2944368"/>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Reads approved model schema</a:t>
            </a:r>
          </a:p>
        </p:txBody>
      </p:sp>
      <p:sp>
        <p:nvSpPr>
          <p:cNvPr id="13" name="Panel"/>
          <p:cNvSpPr/>
          <p:nvPr/>
        </p:nvSpPr>
        <p:spPr>
          <a:xfrm>
            <a:off x="585216" y="3566160"/>
            <a:ext cx="11018520" cy="658368"/>
          </a:xfrm>
          <a:prstGeom prst="rect">
            <a:avLst/>
          </a:prstGeom>
          <a:solidFill>
            <a:srgbClr val="EE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777240" y="3721608"/>
            <a:ext cx="2496312" cy="365760"/>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Query executor</a:t>
            </a:r>
          </a:p>
        </p:txBody>
      </p:sp>
      <p:sp>
        <p:nvSpPr>
          <p:cNvPr id="15" name="Text"/>
          <p:cNvSpPr txBox="1"/>
          <p:nvPr/>
        </p:nvSpPr>
        <p:spPr>
          <a:xfrm>
            <a:off x="3483864" y="3730752"/>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Service principal + certificate</a:t>
            </a:r>
          </a:p>
        </p:txBody>
      </p:sp>
      <p:sp>
        <p:nvSpPr>
          <p:cNvPr id="16" name="Text"/>
          <p:cNvSpPr txBox="1"/>
          <p:nvPr/>
        </p:nvSpPr>
        <p:spPr>
          <a:xfrm>
            <a:off x="7333488" y="3730752"/>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Submits DAX with role + key</a:t>
            </a:r>
          </a:p>
        </p:txBody>
      </p:sp>
      <p:sp>
        <p:nvSpPr>
          <p:cNvPr id="17" name="Panel"/>
          <p:cNvSpPr/>
          <p:nvPr/>
        </p:nvSpPr>
        <p:spPr>
          <a:xfrm>
            <a:off x="585216" y="4352544"/>
            <a:ext cx="11018520" cy="658368"/>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777240" y="4507992"/>
            <a:ext cx="2496312" cy="365760"/>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LLM service caller</a:t>
            </a:r>
          </a:p>
        </p:txBody>
      </p:sp>
      <p:sp>
        <p:nvSpPr>
          <p:cNvPr id="19" name="Text"/>
          <p:cNvSpPr txBox="1"/>
          <p:nvPr/>
        </p:nvSpPr>
        <p:spPr>
          <a:xfrm>
            <a:off x="3483864" y="4517136"/>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Approved inference credential</a:t>
            </a:r>
          </a:p>
        </p:txBody>
      </p:sp>
      <p:sp>
        <p:nvSpPr>
          <p:cNvPr id="20" name="Text"/>
          <p:cNvSpPr txBox="1"/>
          <p:nvPr/>
        </p:nvSpPr>
        <p:spPr>
          <a:xfrm>
            <a:off x="7333488" y="4517136"/>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Generates DAX; explains rows</a:t>
            </a:r>
          </a:p>
        </p:txBody>
      </p:sp>
      <p:sp>
        <p:nvSpPr>
          <p:cNvPr id="21"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100" b="1">
                <a:solidFill>
                  <a:srgbClr val="29353D"/>
                </a:solidFill>
                <a:latin typeface="Segoe UI"/>
              </a:defRPr>
            </a:pPr>
            <a:r>
              <a:t>Keep cloud credentials in the backend; keep your users in your application.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FFFFFF"/>
                </a:solidFill>
                <a:latin typeface="Segoe UI Semibold"/>
              </a:defRPr>
            </a:pPr>
            <a:r>
              <a:t>One entitlement decision can serve reports and chat.</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A9B8C0"/>
                </a:solidFill>
                <a:latin typeface="Segoe UI"/>
              </a:defRPr>
            </a:pPr>
            <a:r>
              <a:t>Proposed alignment | Same business access intent, two different delivery contracts.</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A9B8C0"/>
                </a:solidFill>
                <a:latin typeface="Segoe UI"/>
              </a:defRPr>
            </a:pPr>
            <a:r>
              <a:t>Sources: S2, S3, S4, S5 | 28 September 2026</a:t>
            </a:r>
          </a:p>
        </p:txBody>
      </p:sp>
      <p:grpSp>
        <p:nvGrpSpPr>
          <p:cNvPr id="5" name="node-auth"/>
          <p:cNvGrpSpPr/>
          <p:nvPr/>
        </p:nvGrpSpPr>
        <p:grpSpPr>
          <a:xfrm>
            <a:off x="758952" y="2834640"/>
            <a:ext cx="2670048" cy="1463040"/>
            <a:chOff x="758952" y="2834640"/>
            <a:chExt cx="2670048" cy="1463040"/>
          </a:xfrm>
        </p:grpSpPr>
        <p:sp>
          <p:nvSpPr>
            <p:cNvPr id="6" name="Rounded Rectangle 5"/>
            <p:cNvSpPr/>
            <p:nvPr/>
          </p:nvSpPr>
          <p:spPr>
            <a:xfrm>
              <a:off x="758952" y="2834640"/>
              <a:ext cx="2670048" cy="1463040"/>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node-auth-label"/>
            <p:cNvSpPr txBox="1"/>
            <p:nvPr/>
          </p:nvSpPr>
          <p:spPr>
            <a:xfrm>
              <a:off x="868680" y="2999232"/>
              <a:ext cx="2450591"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Authorization</a:t>
              </a:r>
            </a:p>
          </p:txBody>
        </p:sp>
        <p:sp>
          <p:nvSpPr>
            <p:cNvPr id="8" name="Text"/>
            <p:cNvSpPr txBox="1"/>
            <p:nvPr/>
          </p:nvSpPr>
          <p:spPr>
            <a:xfrm>
              <a:off x="868680" y="3429000"/>
              <a:ext cx="2450591" cy="813815"/>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Existing login</a:t>
              </a:r>
            </a:p>
            <a:p>
              <a:pPr algn="ctr">
                <a:spcBef>
                  <a:spcPts val="0"/>
                </a:spcBef>
                <a:spcAft>
                  <a:spcPts val="500"/>
                </a:spcAft>
                <a:defRPr sz="1500" b="0">
                  <a:solidFill>
                    <a:srgbClr val="E6ECEF"/>
                  </a:solidFill>
                  <a:latin typeface="Segoe UI"/>
                </a:defRPr>
              </a:pPr>
              <a:r>
                <a:t>+ current entitlements</a:t>
              </a:r>
            </a:p>
          </p:txBody>
        </p:sp>
      </p:grpSp>
      <p:grpSp>
        <p:nvGrpSpPr>
          <p:cNvPr id="9" name="node-report"/>
          <p:cNvGrpSpPr/>
          <p:nvPr/>
        </p:nvGrpSpPr>
        <p:grpSpPr>
          <a:xfrm>
            <a:off x="4855464" y="1947672"/>
            <a:ext cx="2441448" cy="1719072"/>
            <a:chOff x="4855464" y="1947672"/>
            <a:chExt cx="2441448" cy="1719072"/>
          </a:xfrm>
        </p:grpSpPr>
        <p:sp>
          <p:nvSpPr>
            <p:cNvPr id="10" name="Rounded Rectangle 9"/>
            <p:cNvSpPr/>
            <p:nvPr/>
          </p:nvSpPr>
          <p:spPr>
            <a:xfrm>
              <a:off x="4855464" y="1947672"/>
              <a:ext cx="2441448" cy="1719072"/>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801868" y="2029967"/>
              <a:ext cx="548640" cy="5486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ower_bi_48_regular.png"/>
            <p:cNvPicPr>
              <a:picLocks noChangeAspect="1"/>
            </p:cNvPicPr>
            <p:nvPr/>
          </p:nvPicPr>
          <p:blipFill>
            <a:blip r:embed="rId3"/>
            <a:stretch>
              <a:fillRect/>
            </a:stretch>
          </p:blipFill>
          <p:spPr>
            <a:xfrm>
              <a:off x="5847588" y="2075688"/>
              <a:ext cx="457200" cy="457200"/>
            </a:xfrm>
            <a:prstGeom prst="rect">
              <a:avLst/>
            </a:prstGeom>
          </p:spPr>
        </p:pic>
        <p:sp>
          <p:nvSpPr>
            <p:cNvPr id="13" name="node-report-label"/>
            <p:cNvSpPr txBox="1"/>
            <p:nvPr/>
          </p:nvSpPr>
          <p:spPr>
            <a:xfrm>
              <a:off x="4965192" y="2615184"/>
              <a:ext cx="2221991"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Power BI</a:t>
              </a:r>
            </a:p>
          </p:txBody>
        </p:sp>
        <p:sp>
          <p:nvSpPr>
            <p:cNvPr id="14" name="Text"/>
            <p:cNvSpPr txBox="1"/>
            <p:nvPr/>
          </p:nvSpPr>
          <p:spPr>
            <a:xfrm>
              <a:off x="4965192" y="3044952"/>
              <a:ext cx="2221991" cy="566927"/>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Embedded reports</a:t>
              </a:r>
            </a:p>
          </p:txBody>
        </p:sp>
      </p:grpSp>
      <p:grpSp>
        <p:nvGrpSpPr>
          <p:cNvPr id="15" name="node-broker"/>
          <p:cNvGrpSpPr/>
          <p:nvPr/>
        </p:nvGrpSpPr>
        <p:grpSpPr>
          <a:xfrm>
            <a:off x="4855464" y="4279392"/>
            <a:ext cx="2441448" cy="1207008"/>
            <a:chOff x="4855464" y="4279392"/>
            <a:chExt cx="2441448" cy="1207008"/>
          </a:xfrm>
        </p:grpSpPr>
        <p:sp>
          <p:nvSpPr>
            <p:cNvPr id="16" name="Rounded Rectangle 15"/>
            <p:cNvSpPr/>
            <p:nvPr/>
          </p:nvSpPr>
          <p:spPr>
            <a:xfrm>
              <a:off x="4855464" y="4279392"/>
              <a:ext cx="2441448" cy="120700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node-broker-label"/>
            <p:cNvSpPr txBox="1"/>
            <p:nvPr/>
          </p:nvSpPr>
          <p:spPr>
            <a:xfrm>
              <a:off x="4965192" y="4443983"/>
              <a:ext cx="2221991"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Query broker</a:t>
              </a:r>
            </a:p>
          </p:txBody>
        </p:sp>
        <p:sp>
          <p:nvSpPr>
            <p:cNvPr id="18" name="Text"/>
            <p:cNvSpPr txBox="1"/>
            <p:nvPr/>
          </p:nvSpPr>
          <p:spPr>
            <a:xfrm>
              <a:off x="4965192" y="4873751"/>
              <a:ext cx="2221991" cy="557784"/>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Conversational analytics</a:t>
              </a:r>
            </a:p>
          </p:txBody>
        </p:sp>
      </p:grpSp>
      <p:grpSp>
        <p:nvGrpSpPr>
          <p:cNvPr id="19" name="node-model"/>
          <p:cNvGrpSpPr/>
          <p:nvPr/>
        </p:nvGrpSpPr>
        <p:grpSpPr>
          <a:xfrm>
            <a:off x="8915400" y="2825496"/>
            <a:ext cx="2459736" cy="1810512"/>
            <a:chOff x="8915400" y="2825496"/>
            <a:chExt cx="2459736" cy="1810512"/>
          </a:xfrm>
        </p:grpSpPr>
        <p:sp>
          <p:nvSpPr>
            <p:cNvPr id="20" name="Rounded Rectangle 19"/>
            <p:cNvSpPr/>
            <p:nvPr/>
          </p:nvSpPr>
          <p:spPr>
            <a:xfrm>
              <a:off x="8915400" y="2825496"/>
              <a:ext cx="2459736" cy="1810512"/>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emantic_model_64_item.png"/>
            <p:cNvPicPr>
              <a:picLocks noChangeAspect="1"/>
            </p:cNvPicPr>
            <p:nvPr/>
          </p:nvPicPr>
          <p:blipFill>
            <a:blip r:embed="rId4"/>
            <a:stretch>
              <a:fillRect/>
            </a:stretch>
          </p:blipFill>
          <p:spPr>
            <a:xfrm>
              <a:off x="9916668" y="2953512"/>
              <a:ext cx="457200" cy="457200"/>
            </a:xfrm>
            <a:prstGeom prst="rect">
              <a:avLst/>
            </a:prstGeom>
          </p:spPr>
        </p:pic>
        <p:sp>
          <p:nvSpPr>
            <p:cNvPr id="22" name="node-model-label"/>
            <p:cNvSpPr txBox="1"/>
            <p:nvPr/>
          </p:nvSpPr>
          <p:spPr>
            <a:xfrm>
              <a:off x="9025128" y="3493008"/>
              <a:ext cx="2240280"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Semantic Model</a:t>
              </a:r>
            </a:p>
          </p:txBody>
        </p:sp>
        <p:sp>
          <p:nvSpPr>
            <p:cNvPr id="23" name="Text"/>
            <p:cNvSpPr txBox="1"/>
            <p:nvPr/>
          </p:nvSpPr>
          <p:spPr>
            <a:xfrm>
              <a:off x="9025128" y="3922776"/>
              <a:ext cx="2240280" cy="658368"/>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Measures + aligned RLS</a:t>
              </a:r>
            </a:p>
          </p:txBody>
        </p:sp>
      </p:grpSp>
      <p:cxnSp>
        <p:nvCxnSpPr>
          <p:cNvPr id="24" name="edge-embed"/>
          <p:cNvCxnSpPr>
            <a:stCxn id="5" idx="3"/>
            <a:endCxn id="9" idx="1"/>
          </p:cNvCxnSpPr>
          <p:nvPr/>
        </p:nvCxnSpPr>
        <p:spPr>
          <a:xfrm flipV="1">
            <a:off x="3429000" y="2807208"/>
            <a:ext cx="1426464" cy="758952"/>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edge-context"/>
          <p:cNvCxnSpPr>
            <a:stCxn id="5" idx="3"/>
            <a:endCxn id="15" idx="1"/>
          </p:cNvCxnSpPr>
          <p:nvPr/>
        </p:nvCxnSpPr>
        <p:spPr>
          <a:xfrm>
            <a:off x="3429000" y="3566160"/>
            <a:ext cx="1426464" cy="1316736"/>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edge-report-query"/>
          <p:cNvCxnSpPr>
            <a:stCxn id="9" idx="3"/>
            <a:endCxn id="19" idx="1"/>
          </p:cNvCxnSpPr>
          <p:nvPr/>
        </p:nvCxnSpPr>
        <p:spPr>
          <a:xfrm>
            <a:off x="7296912" y="2807208"/>
            <a:ext cx="1618488" cy="923544"/>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edge-chat-query"/>
          <p:cNvCxnSpPr>
            <a:stCxn id="15" idx="3"/>
            <a:endCxn id="19" idx="1"/>
          </p:cNvCxnSpPr>
          <p:nvPr/>
        </p:nvCxnSpPr>
        <p:spPr>
          <a:xfrm flipV="1">
            <a:off x="7296912" y="3730752"/>
            <a:ext cx="1618488" cy="1152144"/>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Text"/>
          <p:cNvSpPr txBox="1"/>
          <p:nvPr/>
        </p:nvSpPr>
        <p:spPr>
          <a:xfrm>
            <a:off x="3538728" y="1847088"/>
            <a:ext cx="1280160" cy="886968"/>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Embed token</a:t>
            </a:r>
          </a:p>
          <a:p>
            <a:pPr algn="ctr">
              <a:spcBef>
                <a:spcPts val="0"/>
              </a:spcBef>
              <a:spcAft>
                <a:spcPts val="500"/>
              </a:spcAft>
              <a:defRPr sz="1400" b="0">
                <a:solidFill>
                  <a:srgbClr val="E6ECEF"/>
                </a:solidFill>
                <a:latin typeface="Segoe UI"/>
              </a:defRPr>
            </a:pPr>
            <a:r>
              <a:t>+ effective</a:t>
            </a:r>
          </a:p>
          <a:p>
            <a:pPr algn="ctr">
              <a:spcBef>
                <a:spcPts val="0"/>
              </a:spcBef>
              <a:spcAft>
                <a:spcPts val="500"/>
              </a:spcAft>
              <a:defRPr sz="1400" b="0">
                <a:solidFill>
                  <a:srgbClr val="E6ECEF"/>
                </a:solidFill>
                <a:latin typeface="Segoe UI"/>
              </a:defRPr>
            </a:pPr>
            <a:r>
              <a:t>identity</a:t>
            </a:r>
          </a:p>
        </p:txBody>
      </p:sp>
      <p:sp>
        <p:nvSpPr>
          <p:cNvPr id="29" name="Text"/>
          <p:cNvSpPr txBox="1"/>
          <p:nvPr/>
        </p:nvSpPr>
        <p:spPr>
          <a:xfrm>
            <a:off x="3557016" y="5001768"/>
            <a:ext cx="1188720" cy="658368"/>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Trusted role</a:t>
            </a:r>
          </a:p>
          <a:p>
            <a:pPr algn="ctr">
              <a:spcBef>
                <a:spcPts val="0"/>
              </a:spcBef>
              <a:spcAft>
                <a:spcPts val="500"/>
              </a:spcAft>
              <a:defRPr sz="1400" b="0">
                <a:solidFill>
                  <a:srgbClr val="E6ECEF"/>
                </a:solidFill>
                <a:latin typeface="Segoe UI"/>
              </a:defRPr>
            </a:pPr>
            <a:r>
              <a:t>+ user key</a:t>
            </a:r>
          </a:p>
        </p:txBody>
      </p:sp>
      <p:sp>
        <p:nvSpPr>
          <p:cNvPr id="30" name="Text"/>
          <p:cNvSpPr txBox="1"/>
          <p:nvPr/>
        </p:nvSpPr>
        <p:spPr>
          <a:xfrm>
            <a:off x="7452360" y="1965960"/>
            <a:ext cx="1307592" cy="576072"/>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Report</a:t>
            </a:r>
          </a:p>
          <a:p>
            <a:pPr algn="ctr">
              <a:spcBef>
                <a:spcPts val="0"/>
              </a:spcBef>
              <a:spcAft>
                <a:spcPts val="500"/>
              </a:spcAft>
              <a:defRPr sz="1500" b="0">
                <a:solidFill>
                  <a:srgbClr val="E6ECEF"/>
                </a:solidFill>
                <a:latin typeface="Segoe UI"/>
              </a:defRPr>
            </a:pPr>
            <a:r>
              <a:t>queries</a:t>
            </a:r>
          </a:p>
        </p:txBody>
      </p:sp>
      <p:sp>
        <p:nvSpPr>
          <p:cNvPr id="31" name="Text"/>
          <p:cNvSpPr txBox="1"/>
          <p:nvPr/>
        </p:nvSpPr>
        <p:spPr>
          <a:xfrm>
            <a:off x="7360920" y="5010912"/>
            <a:ext cx="1508760" cy="338328"/>
          </a:xfrm>
          <a:prstGeom prst="rect">
            <a:avLst/>
          </a:prstGeom>
          <a:noFill/>
        </p:spPr>
        <p:txBody>
          <a:bodyPr wrap="square" lIns="0" rIns="0" tIns="0" bIns="0">
            <a:spAutoFit/>
          </a:bodyPr>
          <a:lstStyle/>
          <a:p>
            <a:pPr algn="ctr">
              <a:spcBef>
                <a:spcPts val="0"/>
              </a:spcBef>
              <a:spcAft>
                <a:spcPts val="500"/>
              </a:spcAft>
              <a:defRPr sz="1300" b="0">
                <a:solidFill>
                  <a:srgbClr val="E6ECEF"/>
                </a:solidFill>
                <a:latin typeface="Segoe UI"/>
              </a:defRPr>
            </a:pPr>
            <a:r>
              <a:t>executeDaxQueries</a:t>
            </a:r>
          </a:p>
        </p:txBody>
      </p:sp>
      <p:sp>
        <p:nvSpPr>
          <p:cNvPr id="32" name="Panel"/>
          <p:cNvSpPr/>
          <p:nvPr/>
        </p:nvSpPr>
        <p:spPr>
          <a:xfrm>
            <a:off x="585216" y="5733288"/>
            <a:ext cx="11018520" cy="539496"/>
          </a:xfrm>
          <a:prstGeom prst="rect">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000" b="1">
                <a:solidFill>
                  <a:srgbClr val="FFFFFF"/>
                </a:solidFill>
                <a:latin typeface="Segoe UI"/>
              </a:defRPr>
            </a:pPr>
            <a:r>
              <a:t>Reuse the authorization decision, not the embed token. Parity is the next proof.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ISV security diagrams - editable</dc:title>
  <dc:subject>ISV application identities, Fabric IQ and semantic-model RLS</dc:subject>
  <dc:creator>Brendan Bailey | Microsoft</dc:creator>
  <cp:keywords>technical proof; synthetic data; proposed architecture; 2026-09-28</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