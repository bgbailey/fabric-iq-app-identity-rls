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documents the code and selected real executions of the educational sample, not a proposed reference architecture. The application user selector is a teaching shortcut and not authentication. The code illustrates the integration point for an ISV's existing verified user session. No actual Power BI Embedded report frame is included.</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E2: Live integrated teaching demo, 28 September 2026 Eastern</a:t>
            </a:r>
          </a:p>
          <a:p>
            <a:r>
              <a:t>See docs/status.rst: live IQ, GPT-5.4, scoped query and explanation; selected synthetic cases.</a:t>
            </a:r>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request: React sends userId/questionId; DemoRunner resolves SyntheticSubjects into immutable context. LiveDemoPlanner obtains IQ metadata and calls ResponsesDaxGenerator. QueryBroker receives DAX plus the hidden context, obtains a certificate app-only token and calls executeDaxQueries with ExternalAppScope/customData. It decodes Arrow and checks error rowsets. ResponsesExplainer sees the question and current allowed rows, not credentials or other users. No end-user authentication is implemented: the selector simulates the result of a future application's authenticated session. This request-only diagram deliberately omits return arrows. The existing four-component AIR maps the actual code; Entra credential boundaries are detailed on the next slide.</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S6: Azure OpenAI Responses API</a:t>
            </a:r>
          </a:p>
          <a:p>
            <a:r>
              <a:t>https://learn.microsoft.com/en-us/azure/foundry/openai/how-to/responses</a:t>
            </a:r>
          </a:p>
          <a:p>
            <a:r>
              <a:t>E2: Live integrated teaching demo, 28 September 2026 Eastern</a:t>
            </a:r>
          </a:p>
          <a:p>
            <a:r>
              <a:t>See docs/status.rst: live IQ, GPT-5.4, scoped query and explanation; selected synthetic cases.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uses an opaque selected subject, not real application login. IQ: separately registered public client, interactive delegated sign-in, then silent protected-cache access with Item.Read.All, Item.Execute.All and Dataset.Read.All. Query: nonexportable Windows certificate service principal with Admin only in the isolated model workspace. Inference: subscription-selected Azure CLI credential; token tenant and principal are verified. The LLM gets no credentials and cannot set roles/customData. The IQ OAuth scopes are endpoint-wide; the allowlist is application dispatch control, not metadata-only OAuth.</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S6: Azure OpenAI Responses API</a:t>
            </a:r>
          </a:p>
          <a:p>
            <a:r>
              <a:t>https://learn.microsoft.com/en-us/azure/foundry/openai/how-to/responses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FabricIqSchemaClient sends initialize, notifications/initialized, tools/list and GetSemanticModelSchema. Additional tool-list pages cost extra calls. The LLM—not IQ—generates DAX. Generation and explanation use separate store:false Responses calls. Runtime API paths, identity categories, timestamps, schema/query hashes and model usage appear in the inspector. Failed requests consume budget and return explicit errors; no static fallback exists. Seven is the usual service-call count, not a latency or cost guarantee.</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S6: Azure OpenAI Responses API</a:t>
            </a:r>
          </a:p>
          <a:p>
            <a:r>
              <a:t>https://learn.microsoft.com/en-us/azure/foundry/openai/how-to/responses</a:t>
            </a:r>
          </a:p>
          <a:p>
            <a:r>
              <a:t>E2: Live integrated teaching demo, 28 September 2026 Eastern</a:t>
            </a:r>
          </a:p>
          <a:p>
            <a:r>
              <a:t>See docs/status.rst: live IQ, GPT-5.4, scoped query and explanation; selected synthetic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Access is a disconnected entitlement table. Scope's RLS expression uses CUSTOMDATA and EXACT to match the subject and scope key, then the one-direction relationship propagates access to Activity. User Access itself has a role filter. The allowed set is exact customer/product pairs, not a Cartesian product. Role omission could give the workspace-admin query service principal unrestricted results; the backend is a trusted component.</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S2: Execute DAX Queries: roles, customData, privilege and Arrow</a:t>
            </a:r>
          </a:p>
          <a:p>
            <a:r>
              <a:t>https://learn.microsoft.com/en-us/rest/api/power-bi/datasets/execute-dax-queries</a:t>
            </a:r>
          </a:p>
          <a:p>
            <a:r>
              <a:t>E1: Synthetic Import-model proof, 28 September 2026</a:t>
            </a:r>
          </a:p>
          <a:p>
            <a:r>
              <a:t>Recorded project evidence; source commit ee6df8be48f2fa5cee6e8b15a2aba00f2646e5bd</a:t>
            </a:r>
          </a:p>
          <a:p>
            <a:r>
              <a:t>E2: Live integrated teaching demo, 28 September 2026 Eastern</a:t>
            </a:r>
          </a:p>
          <a:p>
            <a:r>
              <a:t>See docs/status.rst: live IQ, GPT-5.4, scoped query and explanation; selected synthetic cases.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observed overview outputs were A1 250/2, B1 700/1, no-access0/0. The A1/B1 runs happened to use identical generated ROW DAX; generally generated DAX can differ. The independent 42-check harness proves the fixed-same-query RLS cases. Zero activity count may still be represented by one aggregate row. Values are synthetic units, not customer money or performance metrics.</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E2: Live integrated teaching demo, 28 September 2026 Eastern</a:t>
            </a:r>
          </a:p>
          <a:p>
            <a:r>
              <a:t>See docs/status.rst: live IQ, GPT-5.4, scoped query and explanation; selected synthetic cases.</a:t>
            </a:r>
          </a:p>
          <a:p>
            <a:r>
              <a:t>E1: Synthetic Import-model proof, 28 September 2026</a:t>
            </a:r>
          </a:p>
          <a:p>
            <a:r>
              <a:t>Recorded project evidence; source commit ee6df8be48f2fa5cee6e8b15a2aba00f2646e5bd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selected live observations, not claims about all30combinations. Click a subject, select a question and explicitlyRun. Selection alone does not call the cloud. Expand the inspector to show delegated metadata auth, schema projection, generatedDAX, broker role/customData and explanation provenance. Switching subjects clears old results and cancels/stale-gates prior events. No conversation history is persisted in the browser.</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E2: Live integrated teaching demo, 28 September 2026 Eastern</a:t>
            </a:r>
          </a:p>
          <a:p>
            <a:r>
              <a:t>See docs/status.rst: live IQ, GPT-5.4, scoped query and explanation; selected synthetic cases.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Embedded app-owns-data supports arbitrary application authentication. Its backend supplies EffectiveIdentity toGenerateToken. This sample instead demonstrates a fixed CUSTOMDATA-based role through executeDaxQueries. Existing app login/entitlement logic can be reused when integrating, but username-versus-customData semantics must align. Embed tokens are not bearer tokens forIQorRESTqueries. Actual Embedded/report parity is not implemented or proven.</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r>
              <a:t>S4: GenerateToken: EffectiveIdentity and customData</a:t>
            </a:r>
          </a:p>
          <a:p>
            <a:r>
              <a:t>https://learn.microsoft.com/en-us/rest/api/power-bi/embed-token/generate-token</a:t>
            </a:r>
          </a:p>
          <a:p>
            <a:r>
              <a:t>S5: Embedded cloud RLS: USERNAME and effective identity</a:t>
            </a:r>
          </a:p>
          <a:p>
            <a:r>
              <a:t>https://learn.microsoft.com/en-us/power-bi/developer/embedded/cloud-rls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educational repo includes a five-minute guide, self-contained written deployment steps for your own development tenant, example configs, exactAPIreferences and an Embedded comparison. Model packaging is offline; deployment is an explicit separate operation. Credentials, local approval records, tenant/resource IDs and raw service traces are excluded. Authored code is MIT; Microsoft icons retain original use terms. Publication/visibility remains a separate action.</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E2: Live integrated teaching demo, 28 September 2026 Eastern</a:t>
            </a:r>
          </a:p>
          <a:p>
            <a:r>
              <a:t>See docs/status.rst: live IQ, GPT-5.4, scoped query and explanation; selected synthetic cases.</a:t>
            </a:r>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initial details query incorrectly used customerB/Home because global prompt hints included those values for everyquestion. RLS was still applied, but the business answer was wrong. The corrected requestscopes hints to the actualcustomerBquestion. Daily wording now explicitlyasks foramountandcount. The SDK/CLI integrationalsorequired subscription-only selection plus post-token tenant validation, because AzureCLI rejects tenant andsubscription together. Theseareeducational integration fixes, not a claim of generalDAX correctness.</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E2: Live integrated teaching demo, 28 September 2026 Eastern</a:t>
            </a:r>
          </a:p>
          <a:p>
            <a:r>
              <a:t>See docs/status.rst: live IQ, GPT-5.4, scoped query and explanation; selected synthetic cases.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app-owned identity with completed login. The synthetic selector is the only user entrypoint today. To adapt thissample, replace its resolverinput with a verified application session and an approved entitlementmapping, not a client-supplied rawkey. This repo's value is a working, inspectableteachingpath ratherthan a hardenedproduct. The full30case matrixis intentionallynotrequiredfor this educationaldelivery.</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E1: Synthetic Import-model proof, 28 September 2026</a:t>
            </a:r>
          </a:p>
          <a:p>
            <a:r>
              <a:t>Recorded project evidence; source commit ee6df8be48f2fa5cee6e8b15a2aba00f2646e5bd</a:t>
            </a:r>
          </a:p>
          <a:p>
            <a:r>
              <a:t>E2: Live integrated teaching demo, 28 September 2026 Eastern</a:t>
            </a:r>
          </a:p>
          <a:p>
            <a:r>
              <a:t>See docs/status.rst: live IQ, GPT-5.4, scoped query and explanation; selected synthetic cases.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PublicAPI linksground supportedcontracts,notproductioncertification. LiveGearUpsearch was retried successfully for thisrevision and localdeckindexdiscoverywas retained. Genericplatform slides were notcollated because this deckdocuments specificcode; no restriction-based source selection occurred. Upstreamskills-for-fabriccommit6c11ad58c25992e5d1435ce7cd80d217d5598a31. Diagram authored/reviewed with scopedGPT6Astra. Official Fabricicons fromcanonical skillcache retainoriginalterms. Allruntimeevidenceis synthetic; corporate workdatawas notcopiedtoDEV.</a:t>
            </a:r>
          </a:p>
          <a:p/>
          <a:p>
            <a:r>
              <a:t>This documents an educational implementation, not production certification. The selector is not authentication. Power BI Embedded is comparison context, not an implemented report feature. Classification: our own, public documentation and synthetic evidence only. Microsoft artwork retains its original terms. Check the output label before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r>
              <a:t>S4: GenerateToken: EffectiveIdentity and customData</a:t>
            </a:r>
          </a:p>
          <a:p>
            <a:r>
              <a:t>https://learn.microsoft.com/en-us/rest/api/power-bi/embed-token/generate-token</a:t>
            </a:r>
          </a:p>
          <a:p>
            <a:r>
              <a:t>S6: Azure OpenAI Responses API</a:t>
            </a:r>
          </a:p>
          <a:p>
            <a:r>
              <a:t>https://learn.microsoft.com/en-us/azure/foundry/openai/how-to/responses</a:t>
            </a:r>
          </a:p>
          <a:p>
            <a:r>
              <a:t>E2: Live integrated teaching demo, 28 September 2026 Eastern</a:t>
            </a:r>
          </a:p>
          <a:p>
            <a:r>
              <a:t>See docs/status.rst: live IQ, GPT-5.4, scoped query and explanation; selected synthetic cases.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learn.microsoft.com/en-us/fabric/iq/connectors/fabric-iq-mcp" TargetMode="External"/><Relationship Id="rId4" Type="http://schemas.openxmlformats.org/officeDocument/2006/relationships/hyperlink" Target="https://learn.microsoft.com/en-us/rest/api/power-bi/datasets/execute-dax-queries" TargetMode="External"/><Relationship Id="rId5" Type="http://schemas.openxmlformats.org/officeDocument/2006/relationships/hyperlink" Target="https://learn.microsoft.com/en-us/power-bi/developer/embedded/embed-tokens" TargetMode="External"/><Relationship Id="rId6" Type="http://schemas.openxmlformats.org/officeDocument/2006/relationships/hyperlink" Target="https://learn.microsoft.com/en-us/rest/api/power-bi/embed-token/generate-token" TargetMode="External"/><Relationship Id="rId7" Type="http://schemas.openxmlformats.org/officeDocument/2006/relationships/hyperlink" Target="https://learn.microsoft.com/en-us/azure/foundry/openai/how-to/response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923544"/>
            <a:ext cx="11018520" cy="1920240"/>
          </a:xfrm>
          <a:prstGeom prst="rect">
            <a:avLst/>
          </a:prstGeom>
          <a:noFill/>
        </p:spPr>
        <p:txBody>
          <a:bodyPr wrap="square" lIns="0" rIns="0" tIns="0" bIns="0">
            <a:spAutoFit/>
          </a:bodyPr>
          <a:lstStyle/>
          <a:p>
            <a:pPr algn="l">
              <a:spcBef>
                <a:spcPts val="0"/>
              </a:spcBef>
              <a:spcAft>
                <a:spcPts val="500"/>
              </a:spcAft>
              <a:defRPr sz="4300" b="0">
                <a:solidFill>
                  <a:srgbClr val="FFFFFF"/>
                </a:solidFill>
                <a:latin typeface="Segoe UI Light"/>
              </a:defRPr>
            </a:pPr>
            <a:r>
              <a:t>Application-owned users.</a:t>
            </a:r>
          </a:p>
          <a:p>
            <a:pPr algn="l">
              <a:spcBef>
                <a:spcPts val="0"/>
              </a:spcBef>
              <a:spcAft>
                <a:spcPts val="500"/>
              </a:spcAft>
              <a:defRPr sz="4300" b="0">
                <a:solidFill>
                  <a:srgbClr val="FFFFFF"/>
                </a:solidFill>
                <a:latin typeface="Segoe UI Light"/>
              </a:defRPr>
            </a:pPr>
            <a:r>
              <a:t>Model-enforced access.</a:t>
            </a:r>
          </a:p>
        </p:txBody>
      </p:sp>
      <p:sp>
        <p:nvSpPr>
          <p:cNvPr id="3" name="Text"/>
          <p:cNvSpPr txBox="1"/>
          <p:nvPr/>
        </p:nvSpPr>
        <p:spPr>
          <a:xfrm>
            <a:off x="694944" y="3319272"/>
            <a:ext cx="10040112" cy="1152144"/>
          </a:xfrm>
          <a:prstGeom prst="rect">
            <a:avLst/>
          </a:prstGeom>
          <a:noFill/>
        </p:spPr>
        <p:txBody>
          <a:bodyPr wrap="square" lIns="0" rIns="0" tIns="0" bIns="0">
            <a:spAutoFit/>
          </a:bodyPr>
          <a:lstStyle/>
          <a:p>
            <a:pPr algn="l">
              <a:spcBef>
                <a:spcPts val="0"/>
              </a:spcBef>
              <a:spcAft>
                <a:spcPts val="500"/>
              </a:spcAft>
              <a:defRPr sz="2600" b="0">
                <a:solidFill>
                  <a:srgbClr val="E6ECEF"/>
                </a:solidFill>
                <a:latin typeface="Segoe UI"/>
              </a:defRPr>
            </a:pPr>
            <a:r>
              <a:t>A working educational implementation of</a:t>
            </a:r>
          </a:p>
          <a:p>
            <a:pPr algn="l">
              <a:spcBef>
                <a:spcPts val="0"/>
              </a:spcBef>
              <a:spcAft>
                <a:spcPts val="500"/>
              </a:spcAft>
              <a:defRPr sz="2600" b="0">
                <a:solidFill>
                  <a:srgbClr val="E6ECEF"/>
                </a:solidFill>
                <a:latin typeface="Segoe UI"/>
              </a:defRPr>
            </a:pPr>
            <a:r>
              <a:t>Fabric IQ + generated DAX + a trusted RLS query broker.</a:t>
            </a:r>
          </a:p>
        </p:txBody>
      </p:sp>
      <p:sp>
        <p:nvSpPr>
          <p:cNvPr id="4" name="Text"/>
          <p:cNvSpPr txBox="1"/>
          <p:nvPr/>
        </p:nvSpPr>
        <p:spPr>
          <a:xfrm>
            <a:off x="704088" y="5266944"/>
            <a:ext cx="10643616" cy="594360"/>
          </a:xfrm>
          <a:prstGeom prst="rect">
            <a:avLst/>
          </a:prstGeom>
          <a:noFill/>
        </p:spPr>
        <p:txBody>
          <a:bodyPr wrap="square" lIns="0" rIns="0" tIns="0" bIns="0">
            <a:spAutoFit/>
          </a:bodyPr>
          <a:lstStyle/>
          <a:p>
            <a:pPr algn="l">
              <a:spcBef>
                <a:spcPts val="0"/>
              </a:spcBef>
              <a:spcAft>
                <a:spcPts val="500"/>
              </a:spcAft>
              <a:defRPr sz="1800" b="0">
                <a:solidFill>
                  <a:srgbClr val="A9B8C0"/>
                </a:solidFill>
                <a:latin typeface="Segoe UI"/>
              </a:defRPr>
            </a:pPr>
            <a:r>
              <a:t>React / .NET 8 / GPT-5.4 / Power BI semantic model</a:t>
            </a:r>
          </a:p>
          <a:p>
            <a:pPr algn="l">
              <a:spcBef>
                <a:spcPts val="0"/>
              </a:spcBef>
              <a:spcAft>
                <a:spcPts val="500"/>
              </a:spcAft>
              <a:defRPr sz="1800" b="0">
                <a:solidFill>
                  <a:srgbClr val="A9B8C0"/>
                </a:solidFill>
                <a:latin typeface="Segoe UI"/>
              </a:defRPr>
            </a:pPr>
            <a:r>
              <a:t>Implementation walkthrough | 28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The running demo binds app-user context in QueryBroker.</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Implemented request path | React + .NET + live IQ + GPT-5.4 + Power BI</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S1, S2, S3 | 28 September 2026</a:t>
            </a:r>
          </a:p>
        </p:txBody>
      </p:sp>
      <p:sp>
        <p:nvSpPr>
          <p:cNvPr id="5" name="zone-application"/>
          <p:cNvSpPr/>
          <p:nvPr/>
        </p:nvSpPr>
        <p:spPr>
          <a:xfrm>
            <a:off x="585216" y="1892807"/>
            <a:ext cx="6492240" cy="3575304"/>
          </a:xfrm>
          <a:prstGeom prst="rect">
            <a:avLst/>
          </a:prstGeom>
          <a:solidFill>
            <a:srgbClr val="35444E"/>
          </a:solidFill>
          <a:ln w="1270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zone-fabric"/>
          <p:cNvSpPr/>
          <p:nvPr/>
        </p:nvSpPr>
        <p:spPr>
          <a:xfrm>
            <a:off x="8229600" y="1892807"/>
            <a:ext cx="3374136" cy="3575304"/>
          </a:xfrm>
          <a:prstGeom prst="rect">
            <a:avLst/>
          </a:prstGeom>
          <a:solidFill>
            <a:srgbClr val="35444E"/>
          </a:solidFill>
          <a:ln w="1270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011680"/>
            <a:ext cx="3749039" cy="32004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React / .NET localhost demo</a:t>
            </a:r>
          </a:p>
        </p:txBody>
      </p:sp>
      <p:sp>
        <p:nvSpPr>
          <p:cNvPr id="8" name="Text"/>
          <p:cNvSpPr txBox="1"/>
          <p:nvPr/>
        </p:nvSpPr>
        <p:spPr>
          <a:xfrm>
            <a:off x="8403336" y="2011680"/>
            <a:ext cx="2999232" cy="32004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Fabric / Power BI</a:t>
            </a:r>
          </a:p>
        </p:txBody>
      </p:sp>
      <p:grpSp>
        <p:nvGrpSpPr>
          <p:cNvPr id="9" name="node-app"/>
          <p:cNvGrpSpPr/>
          <p:nvPr/>
        </p:nvGrpSpPr>
        <p:grpSpPr>
          <a:xfrm>
            <a:off x="859536" y="3886200"/>
            <a:ext cx="2231136" cy="1298448"/>
            <a:chOff x="859536" y="3886200"/>
            <a:chExt cx="2231136" cy="1298448"/>
          </a:xfrm>
        </p:grpSpPr>
        <p:sp>
          <p:nvSpPr>
            <p:cNvPr id="10" name="Rounded Rectangle 9"/>
            <p:cNvSpPr/>
            <p:nvPr/>
          </p:nvSpPr>
          <p:spPr>
            <a:xfrm>
              <a:off x="859536" y="3886200"/>
              <a:ext cx="2231136" cy="129844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ode-app-label"/>
            <p:cNvSpPr txBox="1"/>
            <p:nvPr/>
          </p:nvSpPr>
          <p:spPr>
            <a:xfrm>
              <a:off x="969264" y="4050791"/>
              <a:ext cx="2011680"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Demo selector</a:t>
              </a:r>
            </a:p>
          </p:txBody>
        </p:sp>
        <p:sp>
          <p:nvSpPr>
            <p:cNvPr id="12" name="Text"/>
            <p:cNvSpPr txBox="1"/>
            <p:nvPr/>
          </p:nvSpPr>
          <p:spPr>
            <a:xfrm>
              <a:off x="969264" y="4480559"/>
              <a:ext cx="2011680" cy="649224"/>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6 app-owned subjects</a:t>
              </a:r>
            </a:p>
            <a:p>
              <a:pPr algn="ctr">
                <a:spcBef>
                  <a:spcPts val="0"/>
                </a:spcBef>
                <a:spcAft>
                  <a:spcPts val="500"/>
                </a:spcAft>
                <a:defRPr sz="1500" b="0">
                  <a:solidFill>
                    <a:srgbClr val="E6ECEF"/>
                  </a:solidFill>
                  <a:latin typeface="Segoe UI"/>
                </a:defRPr>
              </a:pPr>
              <a:r>
                <a:t>Not authentication</a:t>
              </a:r>
            </a:p>
          </p:txBody>
        </p:sp>
      </p:grpSp>
      <p:grpSp>
        <p:nvGrpSpPr>
          <p:cNvPr id="13" name="node-planner"/>
          <p:cNvGrpSpPr/>
          <p:nvPr/>
        </p:nvGrpSpPr>
        <p:grpSpPr>
          <a:xfrm>
            <a:off x="4297680" y="2395728"/>
            <a:ext cx="2432304" cy="1207008"/>
            <a:chOff x="4297680" y="2395728"/>
            <a:chExt cx="2432304" cy="1207008"/>
          </a:xfrm>
        </p:grpSpPr>
        <p:sp>
          <p:nvSpPr>
            <p:cNvPr id="14" name="Rounded Rectangle 13"/>
            <p:cNvSpPr/>
            <p:nvPr/>
          </p:nvSpPr>
          <p:spPr>
            <a:xfrm>
              <a:off x="4297680" y="2395728"/>
              <a:ext cx="2432304" cy="120700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ode-planner-label"/>
            <p:cNvSpPr txBox="1"/>
            <p:nvPr/>
          </p:nvSpPr>
          <p:spPr>
            <a:xfrm>
              <a:off x="4407408" y="2560320"/>
              <a:ext cx="221284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Live query planner</a:t>
              </a:r>
            </a:p>
          </p:txBody>
        </p:sp>
        <p:sp>
          <p:nvSpPr>
            <p:cNvPr id="16" name="Text"/>
            <p:cNvSpPr txBox="1"/>
            <p:nvPr/>
          </p:nvSpPr>
          <p:spPr>
            <a:xfrm>
              <a:off x="4407408" y="2990088"/>
              <a:ext cx="2212848" cy="557783"/>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IQ schema + GPT-5.4</a:t>
              </a:r>
            </a:p>
          </p:txBody>
        </p:sp>
      </p:grpSp>
      <p:grpSp>
        <p:nvGrpSpPr>
          <p:cNvPr id="17" name="node-broker"/>
          <p:cNvGrpSpPr/>
          <p:nvPr/>
        </p:nvGrpSpPr>
        <p:grpSpPr>
          <a:xfrm>
            <a:off x="4297680" y="4069080"/>
            <a:ext cx="2432304" cy="1115568"/>
            <a:chOff x="4297680" y="4069080"/>
            <a:chExt cx="2432304" cy="1115568"/>
          </a:xfrm>
        </p:grpSpPr>
        <p:sp>
          <p:nvSpPr>
            <p:cNvPr id="18" name="Rounded Rectangle 17"/>
            <p:cNvSpPr/>
            <p:nvPr/>
          </p:nvSpPr>
          <p:spPr>
            <a:xfrm>
              <a:off x="4297680" y="4069080"/>
              <a:ext cx="2432304" cy="111556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node-broker-label"/>
            <p:cNvSpPr txBox="1"/>
            <p:nvPr/>
          </p:nvSpPr>
          <p:spPr>
            <a:xfrm>
              <a:off x="4407408" y="4233672"/>
              <a:ext cx="221284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QueryBroker</a:t>
              </a:r>
            </a:p>
          </p:txBody>
        </p:sp>
        <p:sp>
          <p:nvSpPr>
            <p:cNvPr id="20" name="Text"/>
            <p:cNvSpPr txBox="1"/>
            <p:nvPr/>
          </p:nvSpPr>
          <p:spPr>
            <a:xfrm>
              <a:off x="4407408" y="4663440"/>
              <a:ext cx="2212848" cy="466344"/>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ExternalAppScope + key</a:t>
              </a:r>
            </a:p>
          </p:txBody>
        </p:sp>
      </p:grpSp>
      <p:grpSp>
        <p:nvGrpSpPr>
          <p:cNvPr id="21" name="node-model"/>
          <p:cNvGrpSpPr/>
          <p:nvPr/>
        </p:nvGrpSpPr>
        <p:grpSpPr>
          <a:xfrm>
            <a:off x="8403336" y="3300984"/>
            <a:ext cx="2340864" cy="1883664"/>
            <a:chOff x="8403336" y="3300984"/>
            <a:chExt cx="2340864" cy="1883664"/>
          </a:xfrm>
        </p:grpSpPr>
        <p:sp>
          <p:nvSpPr>
            <p:cNvPr id="22" name="Rounded Rectangle 21"/>
            <p:cNvSpPr/>
            <p:nvPr/>
          </p:nvSpPr>
          <p:spPr>
            <a:xfrm>
              <a:off x="8403336" y="3300984"/>
              <a:ext cx="2340864" cy="1883664"/>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emantic_model_64_item.png"/>
            <p:cNvPicPr>
              <a:picLocks noChangeAspect="1"/>
            </p:cNvPicPr>
            <p:nvPr/>
          </p:nvPicPr>
          <p:blipFill>
            <a:blip r:embed="rId3"/>
            <a:stretch>
              <a:fillRect/>
            </a:stretch>
          </p:blipFill>
          <p:spPr>
            <a:xfrm>
              <a:off x="9345167" y="3429000"/>
              <a:ext cx="457200" cy="457200"/>
            </a:xfrm>
            <a:prstGeom prst="rect">
              <a:avLst/>
            </a:prstGeom>
          </p:spPr>
        </p:pic>
        <p:sp>
          <p:nvSpPr>
            <p:cNvPr id="24" name="node-model-label"/>
            <p:cNvSpPr txBox="1"/>
            <p:nvPr/>
          </p:nvSpPr>
          <p:spPr>
            <a:xfrm>
              <a:off x="8513063" y="3968496"/>
              <a:ext cx="212140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Semantic Model</a:t>
              </a:r>
            </a:p>
          </p:txBody>
        </p:sp>
        <p:sp>
          <p:nvSpPr>
            <p:cNvPr id="25" name="Text"/>
            <p:cNvSpPr txBox="1"/>
            <p:nvPr/>
          </p:nvSpPr>
          <p:spPr>
            <a:xfrm>
              <a:off x="8513063" y="4398264"/>
              <a:ext cx="2121408" cy="731520"/>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RLS-filtered rows</a:t>
              </a:r>
            </a:p>
          </p:txBody>
        </p:sp>
      </p:grpSp>
      <p:cxnSp>
        <p:nvCxnSpPr>
          <p:cNvPr id="26" name="edge-session"/>
          <p:cNvCxnSpPr>
            <a:stCxn id="9" idx="3"/>
            <a:endCxn id="17" idx="1"/>
          </p:cNvCxnSpPr>
          <p:nvPr/>
        </p:nvCxnSpPr>
        <p:spPr>
          <a:xfrm>
            <a:off x="3090672" y="4535424"/>
            <a:ext cx="1207008" cy="91440"/>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edge-dax"/>
          <p:cNvCxnSpPr>
            <a:stCxn id="13" idx="2"/>
            <a:endCxn id="17" idx="0"/>
          </p:cNvCxnSpPr>
          <p:nvPr/>
        </p:nvCxnSpPr>
        <p:spPr>
          <a:xfrm flipH="1">
            <a:off x="5513832" y="3602736"/>
            <a:ext cx="0" cy="466344"/>
          </a:xfrm>
          <a:prstGeom prst="line">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edge-execute"/>
          <p:cNvCxnSpPr>
            <a:stCxn id="17" idx="3"/>
            <a:endCxn id="21" idx="1"/>
          </p:cNvCxnSpPr>
          <p:nvPr/>
        </p:nvCxnSpPr>
        <p:spPr>
          <a:xfrm flipV="1">
            <a:off x="6729984" y="4242816"/>
            <a:ext cx="1673352" cy="384048"/>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Text"/>
          <p:cNvSpPr txBox="1"/>
          <p:nvPr/>
        </p:nvSpPr>
        <p:spPr>
          <a:xfrm>
            <a:off x="3108960" y="3739896"/>
            <a:ext cx="1115568" cy="585216"/>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Synthetic</a:t>
            </a:r>
          </a:p>
          <a:p>
            <a:pPr algn="ctr">
              <a:spcBef>
                <a:spcPts val="0"/>
              </a:spcBef>
              <a:spcAft>
                <a:spcPts val="500"/>
              </a:spcAft>
              <a:defRPr sz="1400" b="0">
                <a:solidFill>
                  <a:srgbClr val="E6ECEF"/>
                </a:solidFill>
                <a:latin typeface="Segoe UI"/>
              </a:defRPr>
            </a:pPr>
            <a:r>
              <a:t>user context</a:t>
            </a:r>
          </a:p>
        </p:txBody>
      </p:sp>
      <p:sp>
        <p:nvSpPr>
          <p:cNvPr id="30" name="Text"/>
          <p:cNvSpPr txBox="1"/>
          <p:nvPr/>
        </p:nvSpPr>
        <p:spPr>
          <a:xfrm>
            <a:off x="5678424" y="3703320"/>
            <a:ext cx="1261872" cy="274320"/>
          </a:xfrm>
          <a:prstGeom prst="rect">
            <a:avLst/>
          </a:prstGeom>
          <a:noFill/>
        </p:spPr>
        <p:txBody>
          <a:bodyPr wrap="square" lIns="0" rIns="0" tIns="0" bIns="0">
            <a:spAutoFit/>
          </a:bodyPr>
          <a:lstStyle/>
          <a:p>
            <a:pPr algn="l">
              <a:spcBef>
                <a:spcPts val="0"/>
              </a:spcBef>
              <a:spcAft>
                <a:spcPts val="500"/>
              </a:spcAft>
              <a:defRPr sz="1400" b="0">
                <a:solidFill>
                  <a:srgbClr val="E6ECEF"/>
                </a:solidFill>
                <a:latin typeface="Segoe UI"/>
              </a:defRPr>
            </a:pPr>
            <a:r>
              <a:t>DAX only</a:t>
            </a:r>
          </a:p>
        </p:txBody>
      </p:sp>
      <p:sp>
        <p:nvSpPr>
          <p:cNvPr id="31" name="Text"/>
          <p:cNvSpPr txBox="1"/>
          <p:nvPr/>
        </p:nvSpPr>
        <p:spPr>
          <a:xfrm>
            <a:off x="7114032" y="3630168"/>
            <a:ext cx="1005840" cy="640080"/>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DAX + role</a:t>
            </a:r>
          </a:p>
          <a:p>
            <a:pPr algn="ctr">
              <a:spcBef>
                <a:spcPts val="0"/>
              </a:spcBef>
              <a:spcAft>
                <a:spcPts val="500"/>
              </a:spcAft>
              <a:defRPr sz="1400" b="0">
                <a:solidFill>
                  <a:srgbClr val="E6ECEF"/>
                </a:solidFill>
                <a:latin typeface="Segoe UI"/>
              </a:defRPr>
            </a:pPr>
            <a:r>
              <a:t>+ user key</a:t>
            </a:r>
          </a:p>
        </p:txBody>
      </p:sp>
      <p:sp>
        <p:nvSpPr>
          <p:cNvPr id="32" name="Panel"/>
          <p:cNvSpPr/>
          <p:nvPr/>
        </p:nvSpPr>
        <p:spPr>
          <a:xfrm>
            <a:off x="585216" y="5733288"/>
            <a:ext cx="11018520" cy="539496"/>
          </a:xfrm>
          <a:prstGeom prst="rect">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100" b="1">
                <a:solidFill>
                  <a:srgbClr val="FFFFFF"/>
                </a:solidFill>
                <a:latin typeface="Segoe UI"/>
              </a:defRPr>
            </a:pPr>
            <a:r>
              <a:t>Only RLS-filtered rows return to the application and its explanation 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The application user is not the cloud credential.</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Implemented identity contexts | The app subject is not an Entra account.</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S2, S3, S6 | 28 September 2026</a:t>
            </a:r>
          </a:p>
        </p:txBody>
      </p:sp>
      <p:sp>
        <p:nvSpPr>
          <p:cNvPr id="5" name="Panel"/>
          <p:cNvSpPr/>
          <p:nvPr/>
        </p:nvSpPr>
        <p:spPr>
          <a:xfrm>
            <a:off x="585216" y="1993392"/>
            <a:ext cx="11018520" cy="658368"/>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777240" y="2148840"/>
            <a:ext cx="2496312" cy="365760"/>
          </a:xfrm>
          <a:prstGeom prst="rect">
            <a:avLst/>
          </a:prstGeom>
          <a:noFill/>
        </p:spPr>
        <p:txBody>
          <a:bodyPr wrap="square" lIns="0" rIns="0" tIns="0" bIns="0">
            <a:spAutoFit/>
          </a:bodyPr>
          <a:lstStyle/>
          <a:p>
            <a:pPr algn="l">
              <a:spcBef>
                <a:spcPts val="0"/>
              </a:spcBef>
              <a:spcAft>
                <a:spcPts val="500"/>
              </a:spcAft>
              <a:defRPr sz="1900" b="1">
                <a:solidFill>
                  <a:srgbClr val="00684A"/>
                </a:solidFill>
                <a:latin typeface="Segoe UI"/>
              </a:defRPr>
            </a:pPr>
            <a:r>
              <a:t>Application user</a:t>
            </a:r>
          </a:p>
        </p:txBody>
      </p:sp>
      <p:sp>
        <p:nvSpPr>
          <p:cNvPr id="7" name="Text"/>
          <p:cNvSpPr txBox="1"/>
          <p:nvPr/>
        </p:nvSpPr>
        <p:spPr>
          <a:xfrm>
            <a:off x="3483864" y="2157984"/>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SyntheticSubjects selector</a:t>
            </a:r>
          </a:p>
        </p:txBody>
      </p:sp>
      <p:sp>
        <p:nvSpPr>
          <p:cNvPr id="8" name="Text"/>
          <p:cNvSpPr txBox="1"/>
          <p:nvPr/>
        </p:nvSpPr>
        <p:spPr>
          <a:xfrm>
            <a:off x="7333488" y="2157984"/>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Opaque user key drives RLS</a:t>
            </a:r>
          </a:p>
        </p:txBody>
      </p:sp>
      <p:sp>
        <p:nvSpPr>
          <p:cNvPr id="9" name="Panel"/>
          <p:cNvSpPr/>
          <p:nvPr/>
        </p:nvSpPr>
        <p:spPr>
          <a:xfrm>
            <a:off x="585216" y="2779776"/>
            <a:ext cx="11018520" cy="658368"/>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777240" y="2935224"/>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IQ metadata caller</a:t>
            </a:r>
          </a:p>
        </p:txBody>
      </p:sp>
      <p:sp>
        <p:nvSpPr>
          <p:cNvPr id="11" name="Text"/>
          <p:cNvSpPr txBox="1"/>
          <p:nvPr/>
        </p:nvSpPr>
        <p:spPr>
          <a:xfrm>
            <a:off x="3483864" y="2944368"/>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Delegated Entra account</a:t>
            </a:r>
          </a:p>
        </p:txBody>
      </p:sp>
      <p:sp>
        <p:nvSpPr>
          <p:cNvPr id="12" name="Text"/>
          <p:cNvSpPr txBox="1"/>
          <p:nvPr/>
        </p:nvSpPr>
        <p:spPr>
          <a:xfrm>
            <a:off x="7333488" y="2944368"/>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Reads approved model schema</a:t>
            </a:r>
          </a:p>
        </p:txBody>
      </p:sp>
      <p:sp>
        <p:nvSpPr>
          <p:cNvPr id="13" name="Panel"/>
          <p:cNvSpPr/>
          <p:nvPr/>
        </p:nvSpPr>
        <p:spPr>
          <a:xfrm>
            <a:off x="585216" y="3566160"/>
            <a:ext cx="11018520" cy="658368"/>
          </a:xfrm>
          <a:prstGeom prst="rect">
            <a:avLst/>
          </a:prstGeom>
          <a:solidFill>
            <a:srgbClr val="EE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777240" y="3721608"/>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Query executor</a:t>
            </a:r>
          </a:p>
        </p:txBody>
      </p:sp>
      <p:sp>
        <p:nvSpPr>
          <p:cNvPr id="15" name="Text"/>
          <p:cNvSpPr txBox="1"/>
          <p:nvPr/>
        </p:nvSpPr>
        <p:spPr>
          <a:xfrm>
            <a:off x="3483864" y="3730752"/>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Service principal + certificate</a:t>
            </a:r>
          </a:p>
        </p:txBody>
      </p:sp>
      <p:sp>
        <p:nvSpPr>
          <p:cNvPr id="16" name="Text"/>
          <p:cNvSpPr txBox="1"/>
          <p:nvPr/>
        </p:nvSpPr>
        <p:spPr>
          <a:xfrm>
            <a:off x="7333488" y="3730752"/>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Submits DAX with role + key</a:t>
            </a:r>
          </a:p>
        </p:txBody>
      </p:sp>
      <p:sp>
        <p:nvSpPr>
          <p:cNvPr id="17" name="Panel"/>
          <p:cNvSpPr/>
          <p:nvPr/>
        </p:nvSpPr>
        <p:spPr>
          <a:xfrm>
            <a:off x="585216" y="4352544"/>
            <a:ext cx="11018520" cy="658368"/>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777240" y="4507992"/>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LLM service caller</a:t>
            </a:r>
          </a:p>
        </p:txBody>
      </p:sp>
      <p:sp>
        <p:nvSpPr>
          <p:cNvPr id="19" name="Text"/>
          <p:cNvSpPr txBox="1"/>
          <p:nvPr/>
        </p:nvSpPr>
        <p:spPr>
          <a:xfrm>
            <a:off x="3483864" y="4517136"/>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Approved inference credential</a:t>
            </a:r>
          </a:p>
        </p:txBody>
      </p:sp>
      <p:sp>
        <p:nvSpPr>
          <p:cNvPr id="20" name="Text"/>
          <p:cNvSpPr txBox="1"/>
          <p:nvPr/>
        </p:nvSpPr>
        <p:spPr>
          <a:xfrm>
            <a:off x="7333488" y="4517136"/>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Generates DAX; explains rows</a:t>
            </a:r>
          </a:p>
        </p:txBody>
      </p:sp>
      <p:sp>
        <p:nvSpPr>
          <p:cNvPr id="21"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100" b="1">
                <a:solidFill>
                  <a:srgbClr val="29353D"/>
                </a:solidFill>
                <a:latin typeface="Segoe UI"/>
              </a:defRPr>
            </a:pPr>
            <a:r>
              <a:t>User context is separate from the credentials used to call cloud services.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Seven real service requests turn one question into an answer.</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Current implementation | One normal-path question, no DAX or answer template.</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S2, S6, E2 | 28 September 2026</a:t>
            </a:r>
          </a:p>
        </p:txBody>
      </p:sp>
      <p:sp>
        <p:nvSpPr>
          <p:cNvPr id="5" name="Text"/>
          <p:cNvSpPr txBox="1"/>
          <p:nvPr/>
        </p:nvSpPr>
        <p:spPr>
          <a:xfrm>
            <a:off x="667512" y="2103120"/>
            <a:ext cx="2487168" cy="566928"/>
          </a:xfrm>
          <a:prstGeom prst="rect">
            <a:avLst/>
          </a:prstGeom>
          <a:noFill/>
        </p:spPr>
        <p:txBody>
          <a:bodyPr wrap="square" lIns="0" rIns="0" tIns="0" bIns="0">
            <a:spAutoFit/>
          </a:bodyPr>
          <a:lstStyle/>
          <a:p>
            <a:pPr algn="l">
              <a:spcBef>
                <a:spcPts val="0"/>
              </a:spcBef>
              <a:spcAft>
                <a:spcPts val="500"/>
              </a:spcAft>
              <a:defRPr sz="3600" b="0">
                <a:solidFill>
                  <a:srgbClr val="0078D4"/>
                </a:solidFill>
                <a:latin typeface="Segoe UI Light"/>
              </a:defRPr>
            </a:pPr>
            <a:r>
              <a:t>4 calls</a:t>
            </a:r>
          </a:p>
        </p:txBody>
      </p:sp>
      <p:sp>
        <p:nvSpPr>
          <p:cNvPr id="6" name="Text"/>
          <p:cNvSpPr txBox="1"/>
          <p:nvPr/>
        </p:nvSpPr>
        <p:spPr>
          <a:xfrm>
            <a:off x="667512" y="2980944"/>
            <a:ext cx="2569464" cy="502920"/>
          </a:xfrm>
          <a:prstGeom prst="rect">
            <a:avLst/>
          </a:prstGeom>
          <a:noFill/>
        </p:spPr>
        <p:txBody>
          <a:bodyPr wrap="square" lIns="0" rIns="0" tIns="0" bIns="0">
            <a:spAutoFit/>
          </a:bodyPr>
          <a:lstStyle/>
          <a:p>
            <a:pPr algn="l">
              <a:spcBef>
                <a:spcPts val="0"/>
              </a:spcBef>
              <a:spcAft>
                <a:spcPts val="500"/>
              </a:spcAft>
              <a:defRPr sz="2400" b="1">
                <a:solidFill>
                  <a:srgbClr val="29353D"/>
                </a:solidFill>
                <a:latin typeface="Segoe UI"/>
              </a:defRPr>
            </a:pPr>
            <a:r>
              <a:t>Fabric IQ MCP</a:t>
            </a:r>
          </a:p>
        </p:txBody>
      </p:sp>
      <p:sp>
        <p:nvSpPr>
          <p:cNvPr id="7" name="Text"/>
          <p:cNvSpPr txBox="1"/>
          <p:nvPr/>
        </p:nvSpPr>
        <p:spPr>
          <a:xfrm>
            <a:off x="667512" y="3813048"/>
            <a:ext cx="2560320" cy="1152144"/>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Initialize, notify,</a:t>
            </a:r>
          </a:p>
          <a:p>
            <a:pPr algn="l">
              <a:spcBef>
                <a:spcPts val="0"/>
              </a:spcBef>
              <a:spcAft>
                <a:spcPts val="500"/>
              </a:spcAft>
              <a:defRPr sz="2000" b="0">
                <a:solidFill>
                  <a:srgbClr val="29353D"/>
                </a:solidFill>
                <a:latin typeface="Segoe UI"/>
              </a:defRPr>
            </a:pPr>
            <a:r>
              <a:t>list tools, read schema</a:t>
            </a:r>
          </a:p>
        </p:txBody>
      </p:sp>
      <p:sp>
        <p:nvSpPr>
          <p:cNvPr id="8" name="Text"/>
          <p:cNvSpPr txBox="1"/>
          <p:nvPr/>
        </p:nvSpPr>
        <p:spPr>
          <a:xfrm>
            <a:off x="3493008" y="2103120"/>
            <a:ext cx="2487168" cy="566928"/>
          </a:xfrm>
          <a:prstGeom prst="rect">
            <a:avLst/>
          </a:prstGeom>
          <a:noFill/>
        </p:spPr>
        <p:txBody>
          <a:bodyPr wrap="square" lIns="0" rIns="0" tIns="0" bIns="0">
            <a:spAutoFit/>
          </a:bodyPr>
          <a:lstStyle/>
          <a:p>
            <a:pPr algn="l">
              <a:spcBef>
                <a:spcPts val="0"/>
              </a:spcBef>
              <a:spcAft>
                <a:spcPts val="500"/>
              </a:spcAft>
              <a:defRPr sz="3600" b="0">
                <a:solidFill>
                  <a:srgbClr val="0078D4"/>
                </a:solidFill>
                <a:latin typeface="Segoe UI Light"/>
              </a:defRPr>
            </a:pPr>
            <a:r>
              <a:t>1 call</a:t>
            </a:r>
          </a:p>
        </p:txBody>
      </p:sp>
      <p:sp>
        <p:nvSpPr>
          <p:cNvPr id="9" name="Text"/>
          <p:cNvSpPr txBox="1"/>
          <p:nvPr/>
        </p:nvSpPr>
        <p:spPr>
          <a:xfrm>
            <a:off x="3493008" y="2980944"/>
            <a:ext cx="2569464" cy="502920"/>
          </a:xfrm>
          <a:prstGeom prst="rect">
            <a:avLst/>
          </a:prstGeom>
          <a:noFill/>
        </p:spPr>
        <p:txBody>
          <a:bodyPr wrap="square" lIns="0" rIns="0" tIns="0" bIns="0">
            <a:spAutoFit/>
          </a:bodyPr>
          <a:lstStyle/>
          <a:p>
            <a:pPr algn="l">
              <a:spcBef>
                <a:spcPts val="0"/>
              </a:spcBef>
              <a:spcAft>
                <a:spcPts val="500"/>
              </a:spcAft>
              <a:defRPr sz="2400" b="1">
                <a:solidFill>
                  <a:srgbClr val="29353D"/>
                </a:solidFill>
                <a:latin typeface="Segoe UI"/>
              </a:defRPr>
            </a:pPr>
            <a:r>
              <a:t>GPT-5.4</a:t>
            </a:r>
          </a:p>
        </p:txBody>
      </p:sp>
      <p:sp>
        <p:nvSpPr>
          <p:cNvPr id="10" name="Text"/>
          <p:cNvSpPr txBox="1"/>
          <p:nvPr/>
        </p:nvSpPr>
        <p:spPr>
          <a:xfrm>
            <a:off x="3493008" y="3813048"/>
            <a:ext cx="2560320" cy="1152144"/>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Generate DAX</a:t>
            </a:r>
          </a:p>
          <a:p>
            <a:pPr algn="l">
              <a:spcBef>
                <a:spcPts val="0"/>
              </a:spcBef>
              <a:spcAft>
                <a:spcPts val="500"/>
              </a:spcAft>
              <a:defRPr sz="2000" b="0">
                <a:solidFill>
                  <a:srgbClr val="29353D"/>
                </a:solidFill>
                <a:latin typeface="Segoe UI"/>
              </a:defRPr>
            </a:pPr>
            <a:r>
              <a:t>from returned schema</a:t>
            </a:r>
          </a:p>
        </p:txBody>
      </p:sp>
      <p:sp>
        <p:nvSpPr>
          <p:cNvPr id="11" name="Text"/>
          <p:cNvSpPr txBox="1"/>
          <p:nvPr/>
        </p:nvSpPr>
        <p:spPr>
          <a:xfrm>
            <a:off x="6318504" y="2103120"/>
            <a:ext cx="2487168" cy="566928"/>
          </a:xfrm>
          <a:prstGeom prst="rect">
            <a:avLst/>
          </a:prstGeom>
          <a:noFill/>
        </p:spPr>
        <p:txBody>
          <a:bodyPr wrap="square" lIns="0" rIns="0" tIns="0" bIns="0">
            <a:spAutoFit/>
          </a:bodyPr>
          <a:lstStyle/>
          <a:p>
            <a:pPr algn="l">
              <a:spcBef>
                <a:spcPts val="0"/>
              </a:spcBef>
              <a:spcAft>
                <a:spcPts val="500"/>
              </a:spcAft>
              <a:defRPr sz="3600" b="0">
                <a:solidFill>
                  <a:srgbClr val="0078D4"/>
                </a:solidFill>
                <a:latin typeface="Segoe UI Light"/>
              </a:defRPr>
            </a:pPr>
            <a:r>
              <a:t>1 call</a:t>
            </a:r>
          </a:p>
        </p:txBody>
      </p:sp>
      <p:sp>
        <p:nvSpPr>
          <p:cNvPr id="12" name="Text"/>
          <p:cNvSpPr txBox="1"/>
          <p:nvPr/>
        </p:nvSpPr>
        <p:spPr>
          <a:xfrm>
            <a:off x="6318504" y="2980944"/>
            <a:ext cx="2569464" cy="502920"/>
          </a:xfrm>
          <a:prstGeom prst="rect">
            <a:avLst/>
          </a:prstGeom>
          <a:noFill/>
        </p:spPr>
        <p:txBody>
          <a:bodyPr wrap="square" lIns="0" rIns="0" tIns="0" bIns="0">
            <a:spAutoFit/>
          </a:bodyPr>
          <a:lstStyle/>
          <a:p>
            <a:pPr algn="l">
              <a:spcBef>
                <a:spcPts val="0"/>
              </a:spcBef>
              <a:spcAft>
                <a:spcPts val="500"/>
              </a:spcAft>
              <a:defRPr sz="2400" b="1">
                <a:solidFill>
                  <a:srgbClr val="29353D"/>
                </a:solidFill>
                <a:latin typeface="Segoe UI"/>
              </a:defRPr>
            </a:pPr>
            <a:r>
              <a:t>Power BI</a:t>
            </a:r>
          </a:p>
        </p:txBody>
      </p:sp>
      <p:sp>
        <p:nvSpPr>
          <p:cNvPr id="13" name="Text"/>
          <p:cNvSpPr txBox="1"/>
          <p:nvPr/>
        </p:nvSpPr>
        <p:spPr>
          <a:xfrm>
            <a:off x="6318504" y="3813048"/>
            <a:ext cx="2560320" cy="1152144"/>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Execute with fixed</a:t>
            </a:r>
          </a:p>
          <a:p>
            <a:pPr algn="l">
              <a:spcBef>
                <a:spcPts val="0"/>
              </a:spcBef>
              <a:spcAft>
                <a:spcPts val="500"/>
              </a:spcAft>
              <a:defRPr sz="2000" b="0">
                <a:solidFill>
                  <a:srgbClr val="29353D"/>
                </a:solidFill>
                <a:latin typeface="Segoe UI"/>
              </a:defRPr>
            </a:pPr>
            <a:r>
              <a:t>role + customData</a:t>
            </a:r>
          </a:p>
        </p:txBody>
      </p:sp>
      <p:sp>
        <p:nvSpPr>
          <p:cNvPr id="14" name="Text"/>
          <p:cNvSpPr txBox="1"/>
          <p:nvPr/>
        </p:nvSpPr>
        <p:spPr>
          <a:xfrm>
            <a:off x="9144000" y="2103120"/>
            <a:ext cx="2487168" cy="566928"/>
          </a:xfrm>
          <a:prstGeom prst="rect">
            <a:avLst/>
          </a:prstGeom>
          <a:noFill/>
        </p:spPr>
        <p:txBody>
          <a:bodyPr wrap="square" lIns="0" rIns="0" tIns="0" bIns="0">
            <a:spAutoFit/>
          </a:bodyPr>
          <a:lstStyle/>
          <a:p>
            <a:pPr algn="l">
              <a:spcBef>
                <a:spcPts val="0"/>
              </a:spcBef>
              <a:spcAft>
                <a:spcPts val="500"/>
              </a:spcAft>
              <a:defRPr sz="3600" b="0">
                <a:solidFill>
                  <a:srgbClr val="0078D4"/>
                </a:solidFill>
                <a:latin typeface="Segoe UI Light"/>
              </a:defRPr>
            </a:pPr>
            <a:r>
              <a:t>1 call</a:t>
            </a:r>
          </a:p>
        </p:txBody>
      </p:sp>
      <p:sp>
        <p:nvSpPr>
          <p:cNvPr id="15" name="Text"/>
          <p:cNvSpPr txBox="1"/>
          <p:nvPr/>
        </p:nvSpPr>
        <p:spPr>
          <a:xfrm>
            <a:off x="9144000" y="2980944"/>
            <a:ext cx="2569464" cy="502920"/>
          </a:xfrm>
          <a:prstGeom prst="rect">
            <a:avLst/>
          </a:prstGeom>
          <a:noFill/>
        </p:spPr>
        <p:txBody>
          <a:bodyPr wrap="square" lIns="0" rIns="0" tIns="0" bIns="0">
            <a:spAutoFit/>
          </a:bodyPr>
          <a:lstStyle/>
          <a:p>
            <a:pPr algn="l">
              <a:spcBef>
                <a:spcPts val="0"/>
              </a:spcBef>
              <a:spcAft>
                <a:spcPts val="500"/>
              </a:spcAft>
              <a:defRPr sz="2400" b="1">
                <a:solidFill>
                  <a:srgbClr val="29353D"/>
                </a:solidFill>
                <a:latin typeface="Segoe UI"/>
              </a:defRPr>
            </a:pPr>
            <a:r>
              <a:t>GPT-5.4</a:t>
            </a:r>
          </a:p>
        </p:txBody>
      </p:sp>
      <p:sp>
        <p:nvSpPr>
          <p:cNvPr id="16" name="Text"/>
          <p:cNvSpPr txBox="1"/>
          <p:nvPr/>
        </p:nvSpPr>
        <p:spPr>
          <a:xfrm>
            <a:off x="9144000" y="3813048"/>
            <a:ext cx="2560320" cy="1152144"/>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Explain only the</a:t>
            </a:r>
          </a:p>
          <a:p>
            <a:pPr algn="l">
              <a:spcBef>
                <a:spcPts val="0"/>
              </a:spcBef>
              <a:spcAft>
                <a:spcPts val="500"/>
              </a:spcAft>
              <a:defRPr sz="2000" b="0">
                <a:solidFill>
                  <a:srgbClr val="29353D"/>
                </a:solidFill>
                <a:latin typeface="Segoe UI"/>
              </a:defRPr>
            </a:pPr>
            <a:r>
              <a:t>RLS-filtered rows</a:t>
            </a:r>
          </a:p>
        </p:txBody>
      </p:sp>
      <p:sp>
        <p:nvSpPr>
          <p:cNvPr id="17"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800" b="1">
                <a:solidFill>
                  <a:srgbClr val="29353D"/>
                </a:solidFill>
                <a:latin typeface="Segoe UI"/>
              </a:defRPr>
            </a:pPr>
            <a:r>
              <a:t>IQ ExecuteQuery and ValueSearch are not dispatched. The broker owns business-data execution.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CUSTOMDATA() resolves the user's exact entitlement pairs.</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Implemented in the ExternalAppScope model role.</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S2, E1, E2 | 28 September 2026</a:t>
            </a:r>
          </a:p>
        </p:txBody>
      </p:sp>
      <p:sp>
        <p:nvSpPr>
          <p:cNvPr id="5" name="Text"/>
          <p:cNvSpPr txBox="1"/>
          <p:nvPr/>
        </p:nvSpPr>
        <p:spPr>
          <a:xfrm>
            <a:off x="704088" y="2075688"/>
            <a:ext cx="4754880" cy="548640"/>
          </a:xfrm>
          <a:prstGeom prst="rect">
            <a:avLst/>
          </a:prstGeom>
          <a:noFill/>
        </p:spPr>
        <p:txBody>
          <a:bodyPr wrap="square" lIns="0" rIns="0" tIns="0" bIns="0">
            <a:spAutoFit/>
          </a:bodyPr>
          <a:lstStyle/>
          <a:p>
            <a:pPr algn="l">
              <a:spcBef>
                <a:spcPts val="0"/>
              </a:spcBef>
              <a:spcAft>
                <a:spcPts val="500"/>
              </a:spcAft>
              <a:defRPr sz="3000" b="1">
                <a:solidFill>
                  <a:srgbClr val="0078D4"/>
                </a:solidFill>
                <a:latin typeface="Cascadia Mono"/>
              </a:defRPr>
            </a:pPr>
            <a:r>
              <a:t>app-user-pairs</a:t>
            </a:r>
          </a:p>
        </p:txBody>
      </p:sp>
      <p:sp>
        <p:nvSpPr>
          <p:cNvPr id="6" name="Text"/>
          <p:cNvSpPr txBox="1"/>
          <p:nvPr/>
        </p:nvSpPr>
        <p:spPr>
          <a:xfrm>
            <a:off x="722376" y="2980944"/>
            <a:ext cx="4754880" cy="1344168"/>
          </a:xfrm>
          <a:prstGeom prst="rect">
            <a:avLst/>
          </a:prstGeom>
          <a:noFill/>
        </p:spPr>
        <p:txBody>
          <a:bodyPr wrap="square" lIns="0" rIns="0" tIns="0" bIns="0">
            <a:spAutoFit/>
          </a:bodyPr>
          <a:lstStyle/>
          <a:p>
            <a:pPr algn="l">
              <a:spcBef>
                <a:spcPts val="0"/>
              </a:spcBef>
              <a:spcAft>
                <a:spcPts val="500"/>
              </a:spcAft>
              <a:defRPr sz="2300" b="0">
                <a:solidFill>
                  <a:srgbClr val="29353D"/>
                </a:solidFill>
                <a:latin typeface="Segoe UI"/>
              </a:defRPr>
            </a:pPr>
            <a:r>
              <a:t>User Access -&gt; Scope -&gt; Activity</a:t>
            </a:r>
          </a:p>
          <a:p>
            <a:pPr algn="l">
              <a:spcBef>
                <a:spcPts val="0"/>
              </a:spcBef>
              <a:spcAft>
                <a:spcPts val="500"/>
              </a:spcAft>
              <a:defRPr sz="2300" b="0">
                <a:solidFill>
                  <a:srgbClr val="29353D"/>
                </a:solidFill>
                <a:latin typeface="Segoe UI"/>
              </a:defRPr>
            </a:pPr>
          </a:p>
          <a:p>
            <a:pPr algn="l">
              <a:spcBef>
                <a:spcPts val="0"/>
              </a:spcBef>
              <a:spcAft>
                <a:spcPts val="500"/>
              </a:spcAft>
              <a:defRPr sz="2300" b="0">
                <a:solidFill>
                  <a:srgbClr val="29353D"/>
                </a:solidFill>
                <a:latin typeface="Segoe UI"/>
              </a:defRPr>
            </a:pPr>
            <a:r>
              <a:t>No LLM-supplied access rules.</a:t>
            </a:r>
          </a:p>
        </p:txBody>
      </p:sp>
      <p:sp>
        <p:nvSpPr>
          <p:cNvPr id="7" name="Panel"/>
          <p:cNvSpPr/>
          <p:nvPr/>
        </p:nvSpPr>
        <p:spPr>
          <a:xfrm>
            <a:off x="6007608" y="1975104"/>
            <a:ext cx="5404104" cy="603504"/>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6245352" y="2103120"/>
            <a:ext cx="2258568" cy="338328"/>
          </a:xfrm>
          <a:prstGeom prst="rect">
            <a:avLst/>
          </a:prstGeom>
          <a:noFill/>
        </p:spPr>
        <p:txBody>
          <a:bodyPr wrap="square" lIns="0" rIns="0" tIns="0" bIns="0">
            <a:spAutoFit/>
          </a:bodyPr>
          <a:lstStyle/>
          <a:p>
            <a:pPr algn="l">
              <a:spcBef>
                <a:spcPts val="0"/>
              </a:spcBef>
              <a:spcAft>
                <a:spcPts val="500"/>
              </a:spcAft>
              <a:defRPr sz="2000" b="1">
                <a:solidFill>
                  <a:srgbClr val="29353D"/>
                </a:solidFill>
                <a:latin typeface="Segoe UI"/>
              </a:defRPr>
            </a:pPr>
            <a:r>
              <a:t>A / Home</a:t>
            </a:r>
          </a:p>
        </p:txBody>
      </p:sp>
      <p:sp>
        <p:nvSpPr>
          <p:cNvPr id="9" name="Text"/>
          <p:cNvSpPr txBox="1"/>
          <p:nvPr/>
        </p:nvSpPr>
        <p:spPr>
          <a:xfrm>
            <a:off x="8851392" y="2103120"/>
            <a:ext cx="2286000" cy="338328"/>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Allowed</a:t>
            </a:r>
          </a:p>
        </p:txBody>
      </p:sp>
      <p:sp>
        <p:nvSpPr>
          <p:cNvPr id="10" name="Panel"/>
          <p:cNvSpPr/>
          <p:nvPr/>
        </p:nvSpPr>
        <p:spPr>
          <a:xfrm>
            <a:off x="6007608" y="2679192"/>
            <a:ext cx="5404104" cy="603504"/>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6245352" y="2807208"/>
            <a:ext cx="2258568" cy="338328"/>
          </a:xfrm>
          <a:prstGeom prst="rect">
            <a:avLst/>
          </a:prstGeom>
          <a:noFill/>
        </p:spPr>
        <p:txBody>
          <a:bodyPr wrap="square" lIns="0" rIns="0" tIns="0" bIns="0">
            <a:spAutoFit/>
          </a:bodyPr>
          <a:lstStyle/>
          <a:p>
            <a:pPr algn="l">
              <a:spcBef>
                <a:spcPts val="0"/>
              </a:spcBef>
              <a:spcAft>
                <a:spcPts val="500"/>
              </a:spcAft>
              <a:defRPr sz="2000" b="1">
                <a:solidFill>
                  <a:srgbClr val="29353D"/>
                </a:solidFill>
                <a:latin typeface="Segoe UI"/>
              </a:defRPr>
            </a:pPr>
            <a:r>
              <a:t>B / Auto</a:t>
            </a:r>
          </a:p>
        </p:txBody>
      </p:sp>
      <p:sp>
        <p:nvSpPr>
          <p:cNvPr id="12" name="Text"/>
          <p:cNvSpPr txBox="1"/>
          <p:nvPr/>
        </p:nvSpPr>
        <p:spPr>
          <a:xfrm>
            <a:off x="8851392" y="2807208"/>
            <a:ext cx="2286000" cy="338328"/>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Allowed</a:t>
            </a:r>
          </a:p>
        </p:txBody>
      </p:sp>
      <p:sp>
        <p:nvSpPr>
          <p:cNvPr id="13" name="Panel"/>
          <p:cNvSpPr/>
          <p:nvPr/>
        </p:nvSpPr>
        <p:spPr>
          <a:xfrm>
            <a:off x="6007608" y="3383280"/>
            <a:ext cx="5404104" cy="603504"/>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6245352" y="3511296"/>
            <a:ext cx="2258568" cy="338328"/>
          </a:xfrm>
          <a:prstGeom prst="rect">
            <a:avLst/>
          </a:prstGeom>
          <a:noFill/>
        </p:spPr>
        <p:txBody>
          <a:bodyPr wrap="square" lIns="0" rIns="0" tIns="0" bIns="0">
            <a:spAutoFit/>
          </a:bodyPr>
          <a:lstStyle/>
          <a:p>
            <a:pPr algn="l">
              <a:spcBef>
                <a:spcPts val="0"/>
              </a:spcBef>
              <a:spcAft>
                <a:spcPts val="500"/>
              </a:spcAft>
              <a:defRPr sz="2000" b="1">
                <a:solidFill>
                  <a:srgbClr val="29353D"/>
                </a:solidFill>
                <a:latin typeface="Segoe UI"/>
              </a:defRPr>
            </a:pPr>
            <a:r>
              <a:t>A / Auto</a:t>
            </a:r>
          </a:p>
        </p:txBody>
      </p:sp>
      <p:sp>
        <p:nvSpPr>
          <p:cNvPr id="15" name="Text"/>
          <p:cNvSpPr txBox="1"/>
          <p:nvPr/>
        </p:nvSpPr>
        <p:spPr>
          <a:xfrm>
            <a:off x="8851392" y="3511296"/>
            <a:ext cx="2286000" cy="338328"/>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Not granted</a:t>
            </a:r>
          </a:p>
        </p:txBody>
      </p:sp>
      <p:sp>
        <p:nvSpPr>
          <p:cNvPr id="16" name="Panel"/>
          <p:cNvSpPr/>
          <p:nvPr/>
        </p:nvSpPr>
        <p:spPr>
          <a:xfrm>
            <a:off x="6007608" y="4087368"/>
            <a:ext cx="5404104" cy="603504"/>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p:cNvSpPr txBox="1"/>
          <p:nvPr/>
        </p:nvSpPr>
        <p:spPr>
          <a:xfrm>
            <a:off x="6245352" y="4215384"/>
            <a:ext cx="2258568" cy="338328"/>
          </a:xfrm>
          <a:prstGeom prst="rect">
            <a:avLst/>
          </a:prstGeom>
          <a:noFill/>
        </p:spPr>
        <p:txBody>
          <a:bodyPr wrap="square" lIns="0" rIns="0" tIns="0" bIns="0">
            <a:spAutoFit/>
          </a:bodyPr>
          <a:lstStyle/>
          <a:p>
            <a:pPr algn="l">
              <a:spcBef>
                <a:spcPts val="0"/>
              </a:spcBef>
              <a:spcAft>
                <a:spcPts val="500"/>
              </a:spcAft>
              <a:defRPr sz="2000" b="1">
                <a:solidFill>
                  <a:srgbClr val="29353D"/>
                </a:solidFill>
                <a:latin typeface="Segoe UI"/>
              </a:defRPr>
            </a:pPr>
            <a:r>
              <a:t>B / Home</a:t>
            </a:r>
          </a:p>
        </p:txBody>
      </p:sp>
      <p:sp>
        <p:nvSpPr>
          <p:cNvPr id="18" name="Text"/>
          <p:cNvSpPr txBox="1"/>
          <p:nvPr/>
        </p:nvSpPr>
        <p:spPr>
          <a:xfrm>
            <a:off x="8851392" y="4215384"/>
            <a:ext cx="2286000" cy="338328"/>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Not granted</a:t>
            </a:r>
          </a:p>
        </p:txBody>
      </p:sp>
      <p:sp>
        <p:nvSpPr>
          <p:cNvPr id="19"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700" b="1">
                <a:solidFill>
                  <a:srgbClr val="29353D"/>
                </a:solidFill>
                <a:latin typeface="Segoe UI"/>
              </a:defRPr>
            </a:pPr>
            <a:r>
              <a:t>The broker always attaches the role and key; its privileged credential alone is not row-restricted.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The same question returns the selected user's data.</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Observed live: IQ schema -&gt; GPT-5.4 DAX -&gt; RLS -&gt; GPT-5.4 explanation.</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E2 | 28 September 2026</a:t>
            </a:r>
          </a:p>
        </p:txBody>
      </p:sp>
      <p:sp>
        <p:nvSpPr>
          <p:cNvPr id="5" name="Text"/>
          <p:cNvSpPr txBox="1"/>
          <p:nvPr/>
        </p:nvSpPr>
        <p:spPr>
          <a:xfrm>
            <a:off x="822960" y="2084831"/>
            <a:ext cx="2834640" cy="420624"/>
          </a:xfrm>
          <a:prstGeom prst="rect">
            <a:avLst/>
          </a:prstGeom>
          <a:noFill/>
        </p:spPr>
        <p:txBody>
          <a:bodyPr wrap="square" lIns="0" rIns="0" tIns="0" bIns="0">
            <a:spAutoFit/>
          </a:bodyPr>
          <a:lstStyle/>
          <a:p>
            <a:pPr algn="l">
              <a:spcBef>
                <a:spcPts val="0"/>
              </a:spcBef>
              <a:spcAft>
                <a:spcPts val="500"/>
              </a:spcAft>
              <a:defRPr sz="2400" b="1">
                <a:solidFill>
                  <a:srgbClr val="E6ECEF"/>
                </a:solidFill>
                <a:latin typeface="Segoe UI"/>
              </a:defRPr>
            </a:pPr>
            <a:r>
              <a:t>A / Home</a:t>
            </a:r>
          </a:p>
        </p:txBody>
      </p:sp>
      <p:sp>
        <p:nvSpPr>
          <p:cNvPr id="6" name="Text"/>
          <p:cNvSpPr txBox="1"/>
          <p:nvPr/>
        </p:nvSpPr>
        <p:spPr>
          <a:xfrm>
            <a:off x="822960" y="2990088"/>
            <a:ext cx="2816352" cy="914400"/>
          </a:xfrm>
          <a:prstGeom prst="rect">
            <a:avLst/>
          </a:prstGeom>
          <a:noFill/>
        </p:spPr>
        <p:txBody>
          <a:bodyPr wrap="square" lIns="0" rIns="0" tIns="0" bIns="0">
            <a:spAutoFit/>
          </a:bodyPr>
          <a:lstStyle/>
          <a:p>
            <a:pPr algn="l">
              <a:spcBef>
                <a:spcPts val="0"/>
              </a:spcBef>
              <a:spcAft>
                <a:spcPts val="500"/>
              </a:spcAft>
              <a:defRPr sz="5900" b="0">
                <a:solidFill>
                  <a:srgbClr val="49C5B1"/>
                </a:solidFill>
                <a:latin typeface="Segoe UI Light"/>
              </a:defRPr>
            </a:pPr>
            <a:r>
              <a:t>250</a:t>
            </a:r>
          </a:p>
        </p:txBody>
      </p:sp>
      <p:sp>
        <p:nvSpPr>
          <p:cNvPr id="7" name="Text"/>
          <p:cNvSpPr txBox="1"/>
          <p:nvPr/>
        </p:nvSpPr>
        <p:spPr>
          <a:xfrm>
            <a:off x="822960" y="4251960"/>
            <a:ext cx="2798064" cy="493776"/>
          </a:xfrm>
          <a:prstGeom prst="rect">
            <a:avLst/>
          </a:prstGeom>
          <a:noFill/>
        </p:spPr>
        <p:txBody>
          <a:bodyPr wrap="square" lIns="0" rIns="0" tIns="0" bIns="0">
            <a:spAutoFit/>
          </a:bodyPr>
          <a:lstStyle/>
          <a:p>
            <a:pPr algn="l">
              <a:spcBef>
                <a:spcPts val="0"/>
              </a:spcBef>
              <a:spcAft>
                <a:spcPts val="500"/>
              </a:spcAft>
              <a:defRPr sz="2400" b="0">
                <a:solidFill>
                  <a:srgbClr val="E6ECEF"/>
                </a:solidFill>
                <a:latin typeface="Segoe UI"/>
              </a:defRPr>
            </a:pPr>
            <a:r>
              <a:t>2 records</a:t>
            </a:r>
          </a:p>
        </p:txBody>
      </p:sp>
      <p:sp>
        <p:nvSpPr>
          <p:cNvPr id="8" name="Text"/>
          <p:cNvSpPr txBox="1"/>
          <p:nvPr/>
        </p:nvSpPr>
        <p:spPr>
          <a:xfrm>
            <a:off x="4590288" y="2084831"/>
            <a:ext cx="2834640" cy="420624"/>
          </a:xfrm>
          <a:prstGeom prst="rect">
            <a:avLst/>
          </a:prstGeom>
          <a:noFill/>
        </p:spPr>
        <p:txBody>
          <a:bodyPr wrap="square" lIns="0" rIns="0" tIns="0" bIns="0">
            <a:spAutoFit/>
          </a:bodyPr>
          <a:lstStyle/>
          <a:p>
            <a:pPr algn="l">
              <a:spcBef>
                <a:spcPts val="0"/>
              </a:spcBef>
              <a:spcAft>
                <a:spcPts val="500"/>
              </a:spcAft>
              <a:defRPr sz="2400" b="1">
                <a:solidFill>
                  <a:srgbClr val="E6ECEF"/>
                </a:solidFill>
                <a:latin typeface="Segoe UI"/>
              </a:defRPr>
            </a:pPr>
            <a:r>
              <a:t>B / Home</a:t>
            </a:r>
          </a:p>
        </p:txBody>
      </p:sp>
      <p:sp>
        <p:nvSpPr>
          <p:cNvPr id="9" name="Text"/>
          <p:cNvSpPr txBox="1"/>
          <p:nvPr/>
        </p:nvSpPr>
        <p:spPr>
          <a:xfrm>
            <a:off x="4590288" y="2990088"/>
            <a:ext cx="2816352" cy="914400"/>
          </a:xfrm>
          <a:prstGeom prst="rect">
            <a:avLst/>
          </a:prstGeom>
          <a:noFill/>
        </p:spPr>
        <p:txBody>
          <a:bodyPr wrap="square" lIns="0" rIns="0" tIns="0" bIns="0">
            <a:spAutoFit/>
          </a:bodyPr>
          <a:lstStyle/>
          <a:p>
            <a:pPr algn="l">
              <a:spcBef>
                <a:spcPts val="0"/>
              </a:spcBef>
              <a:spcAft>
                <a:spcPts val="500"/>
              </a:spcAft>
              <a:defRPr sz="5900" b="0">
                <a:solidFill>
                  <a:srgbClr val="49C5B1"/>
                </a:solidFill>
                <a:latin typeface="Segoe UI Light"/>
              </a:defRPr>
            </a:pPr>
            <a:r>
              <a:t>700</a:t>
            </a:r>
          </a:p>
        </p:txBody>
      </p:sp>
      <p:sp>
        <p:nvSpPr>
          <p:cNvPr id="10" name="Text"/>
          <p:cNvSpPr txBox="1"/>
          <p:nvPr/>
        </p:nvSpPr>
        <p:spPr>
          <a:xfrm>
            <a:off x="4590288" y="4251960"/>
            <a:ext cx="2798064" cy="493776"/>
          </a:xfrm>
          <a:prstGeom prst="rect">
            <a:avLst/>
          </a:prstGeom>
          <a:noFill/>
        </p:spPr>
        <p:txBody>
          <a:bodyPr wrap="square" lIns="0" rIns="0" tIns="0" bIns="0">
            <a:spAutoFit/>
          </a:bodyPr>
          <a:lstStyle/>
          <a:p>
            <a:pPr algn="l">
              <a:spcBef>
                <a:spcPts val="0"/>
              </a:spcBef>
              <a:spcAft>
                <a:spcPts val="500"/>
              </a:spcAft>
              <a:defRPr sz="2400" b="0">
                <a:solidFill>
                  <a:srgbClr val="E6ECEF"/>
                </a:solidFill>
                <a:latin typeface="Segoe UI"/>
              </a:defRPr>
            </a:pPr>
            <a:r>
              <a:t>1 record</a:t>
            </a:r>
          </a:p>
        </p:txBody>
      </p:sp>
      <p:sp>
        <p:nvSpPr>
          <p:cNvPr id="11" name="Text"/>
          <p:cNvSpPr txBox="1"/>
          <p:nvPr/>
        </p:nvSpPr>
        <p:spPr>
          <a:xfrm>
            <a:off x="8394192" y="2084831"/>
            <a:ext cx="2834640" cy="420624"/>
          </a:xfrm>
          <a:prstGeom prst="rect">
            <a:avLst/>
          </a:prstGeom>
          <a:noFill/>
        </p:spPr>
        <p:txBody>
          <a:bodyPr wrap="square" lIns="0" rIns="0" tIns="0" bIns="0">
            <a:spAutoFit/>
          </a:bodyPr>
          <a:lstStyle/>
          <a:p>
            <a:pPr algn="l">
              <a:spcBef>
                <a:spcPts val="0"/>
              </a:spcBef>
              <a:spcAft>
                <a:spcPts val="500"/>
              </a:spcAft>
              <a:defRPr sz="2400" b="1">
                <a:solidFill>
                  <a:srgbClr val="E6ECEF"/>
                </a:solidFill>
                <a:latin typeface="Segoe UI"/>
              </a:defRPr>
            </a:pPr>
            <a:r>
              <a:t>No access</a:t>
            </a:r>
          </a:p>
        </p:txBody>
      </p:sp>
      <p:sp>
        <p:nvSpPr>
          <p:cNvPr id="12" name="Text"/>
          <p:cNvSpPr txBox="1"/>
          <p:nvPr/>
        </p:nvSpPr>
        <p:spPr>
          <a:xfrm>
            <a:off x="8394192" y="2990088"/>
            <a:ext cx="2816352" cy="914400"/>
          </a:xfrm>
          <a:prstGeom prst="rect">
            <a:avLst/>
          </a:prstGeom>
          <a:noFill/>
        </p:spPr>
        <p:txBody>
          <a:bodyPr wrap="square" lIns="0" rIns="0" tIns="0" bIns="0">
            <a:spAutoFit/>
          </a:bodyPr>
          <a:lstStyle/>
          <a:p>
            <a:pPr algn="l">
              <a:spcBef>
                <a:spcPts val="0"/>
              </a:spcBef>
              <a:spcAft>
                <a:spcPts val="500"/>
              </a:spcAft>
              <a:defRPr sz="5900" b="0">
                <a:solidFill>
                  <a:srgbClr val="49C5B1"/>
                </a:solidFill>
                <a:latin typeface="Segoe UI Light"/>
              </a:defRPr>
            </a:pPr>
            <a:r>
              <a:t>0</a:t>
            </a:r>
          </a:p>
        </p:txBody>
      </p:sp>
      <p:sp>
        <p:nvSpPr>
          <p:cNvPr id="13" name="Text"/>
          <p:cNvSpPr txBox="1"/>
          <p:nvPr/>
        </p:nvSpPr>
        <p:spPr>
          <a:xfrm>
            <a:off x="8394192" y="4251960"/>
            <a:ext cx="2798064" cy="493776"/>
          </a:xfrm>
          <a:prstGeom prst="rect">
            <a:avLst/>
          </a:prstGeom>
          <a:noFill/>
        </p:spPr>
        <p:txBody>
          <a:bodyPr wrap="square" lIns="0" rIns="0" tIns="0" bIns="0">
            <a:spAutoFit/>
          </a:bodyPr>
          <a:lstStyle/>
          <a:p>
            <a:pPr algn="l">
              <a:spcBef>
                <a:spcPts val="0"/>
              </a:spcBef>
              <a:spcAft>
                <a:spcPts val="500"/>
              </a:spcAft>
              <a:defRPr sz="2400" b="0">
                <a:solidFill>
                  <a:srgbClr val="E6ECEF"/>
                </a:solidFill>
                <a:latin typeface="Segoe UI"/>
              </a:defRPr>
            </a:pPr>
            <a:r>
              <a:t>0 records</a:t>
            </a:r>
          </a:p>
        </p:txBody>
      </p:sp>
      <p:sp>
        <p:nvSpPr>
          <p:cNvPr id="14" name="Panel"/>
          <p:cNvSpPr/>
          <p:nvPr/>
        </p:nvSpPr>
        <p:spPr>
          <a:xfrm>
            <a:off x="585216" y="5733288"/>
            <a:ext cx="11018520" cy="539496"/>
          </a:xfrm>
          <a:prstGeom prst="rect">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000" b="1">
                <a:solidFill>
                  <a:srgbClr val="FFFFFF"/>
                </a:solidFill>
                <a:latin typeface="Segoe UI"/>
              </a:defRPr>
            </a:pPr>
            <a:r>
              <a:t>Different app subjects. The model—not a prompt filter—restricts the returned rows.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The demo exposes the query, rows and execution path.</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Five prepared questions; generated DAX on every execution.</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E2 | 28 September 2026</a:t>
            </a:r>
          </a:p>
        </p:txBody>
      </p:sp>
      <p:sp>
        <p:nvSpPr>
          <p:cNvPr id="5" name="Panel"/>
          <p:cNvSpPr/>
          <p:nvPr/>
        </p:nvSpPr>
        <p:spPr>
          <a:xfrm>
            <a:off x="603504" y="1847088"/>
            <a:ext cx="10991088" cy="630936"/>
          </a:xfrm>
          <a:prstGeom prst="rect">
            <a:avLst/>
          </a:prstGeom>
          <a:solidFill>
            <a:srgbClr val="EE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804672" y="2002536"/>
            <a:ext cx="3703320" cy="320040"/>
          </a:xfrm>
          <a:prstGeom prst="rect">
            <a:avLst/>
          </a:prstGeom>
          <a:noFill/>
        </p:spPr>
        <p:txBody>
          <a:bodyPr wrap="square" lIns="0" rIns="0" tIns="0" bIns="0">
            <a:spAutoFit/>
          </a:bodyPr>
          <a:lstStyle/>
          <a:p>
            <a:pPr algn="l">
              <a:spcBef>
                <a:spcPts val="0"/>
              </a:spcBef>
              <a:spcAft>
                <a:spcPts val="500"/>
              </a:spcAft>
              <a:defRPr sz="1800" b="1">
                <a:solidFill>
                  <a:srgbClr val="29353D"/>
                </a:solidFill>
                <a:latin typeface="Segoe UI"/>
              </a:defRPr>
            </a:pPr>
            <a:r>
              <a:t>Overview</a:t>
            </a:r>
          </a:p>
        </p:txBody>
      </p:sp>
      <p:sp>
        <p:nvSpPr>
          <p:cNvPr id="7" name="Text"/>
          <p:cNvSpPr txBox="1"/>
          <p:nvPr/>
        </p:nvSpPr>
        <p:spPr>
          <a:xfrm>
            <a:off x="4572000" y="2002536"/>
            <a:ext cx="6638544"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A1: 250 across 2 records</a:t>
            </a:r>
          </a:p>
        </p:txBody>
      </p:sp>
      <p:sp>
        <p:nvSpPr>
          <p:cNvPr id="8" name="Panel"/>
          <p:cNvSpPr/>
          <p:nvPr/>
        </p:nvSpPr>
        <p:spPr>
          <a:xfrm>
            <a:off x="603504" y="2551176"/>
            <a:ext cx="10991088" cy="630936"/>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p:cNvSpPr txBox="1"/>
          <p:nvPr/>
        </p:nvSpPr>
        <p:spPr>
          <a:xfrm>
            <a:off x="804672" y="2706624"/>
            <a:ext cx="3703320" cy="320040"/>
          </a:xfrm>
          <a:prstGeom prst="rect">
            <a:avLst/>
          </a:prstGeom>
          <a:noFill/>
        </p:spPr>
        <p:txBody>
          <a:bodyPr wrap="square" lIns="0" rIns="0" tIns="0" bIns="0">
            <a:spAutoFit/>
          </a:bodyPr>
          <a:lstStyle/>
          <a:p>
            <a:pPr algn="l">
              <a:spcBef>
                <a:spcPts val="0"/>
              </a:spcBef>
              <a:spcAft>
                <a:spcPts val="500"/>
              </a:spcAft>
              <a:defRPr sz="1800" b="1">
                <a:solidFill>
                  <a:srgbClr val="29353D"/>
                </a:solidFill>
                <a:latin typeface="Segoe UI"/>
              </a:defRPr>
            </a:pPr>
            <a:r>
              <a:t>Customer / product breakdown</a:t>
            </a:r>
          </a:p>
        </p:txBody>
      </p:sp>
      <p:sp>
        <p:nvSpPr>
          <p:cNvPr id="10" name="Text"/>
          <p:cNvSpPr txBox="1"/>
          <p:nvPr/>
        </p:nvSpPr>
        <p:spPr>
          <a:xfrm>
            <a:off x="4572000" y="2706624"/>
            <a:ext cx="6638544"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Paired user: A/Home 250 + B/Auto 900</a:t>
            </a:r>
          </a:p>
        </p:txBody>
      </p:sp>
      <p:sp>
        <p:nvSpPr>
          <p:cNvPr id="11" name="Panel"/>
          <p:cNvSpPr/>
          <p:nvPr/>
        </p:nvSpPr>
        <p:spPr>
          <a:xfrm>
            <a:off x="603504" y="3255264"/>
            <a:ext cx="10991088" cy="630936"/>
          </a:xfrm>
          <a:prstGeom prst="rect">
            <a:avLst/>
          </a:prstGeom>
          <a:solidFill>
            <a:srgbClr val="EE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804672" y="3410712"/>
            <a:ext cx="3703320" cy="320040"/>
          </a:xfrm>
          <a:prstGeom prst="rect">
            <a:avLst/>
          </a:prstGeom>
          <a:noFill/>
        </p:spPr>
        <p:txBody>
          <a:bodyPr wrap="square" lIns="0" rIns="0" tIns="0" bIns="0">
            <a:spAutoFit/>
          </a:bodyPr>
          <a:lstStyle/>
          <a:p>
            <a:pPr algn="l">
              <a:spcBef>
                <a:spcPts val="0"/>
              </a:spcBef>
              <a:spcAft>
                <a:spcPts val="500"/>
              </a:spcAft>
              <a:defRPr sz="1800" b="1">
                <a:solidFill>
                  <a:srgbClr val="29353D"/>
                </a:solidFill>
                <a:latin typeface="Segoe UI"/>
              </a:defRPr>
            </a:pPr>
            <a:r>
              <a:t>Underlying records</a:t>
            </a:r>
          </a:p>
        </p:txBody>
      </p:sp>
      <p:sp>
        <p:nvSpPr>
          <p:cNvPr id="13" name="Text"/>
          <p:cNvSpPr txBox="1"/>
          <p:nvPr/>
        </p:nvSpPr>
        <p:spPr>
          <a:xfrm>
            <a:off x="4572000" y="3410712"/>
            <a:ext cx="6638544"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A1: activity keys 1 and 2</a:t>
            </a:r>
          </a:p>
        </p:txBody>
      </p:sp>
      <p:sp>
        <p:nvSpPr>
          <p:cNvPr id="14" name="Panel"/>
          <p:cNvSpPr/>
          <p:nvPr/>
        </p:nvSpPr>
        <p:spPr>
          <a:xfrm>
            <a:off x="603504" y="3959352"/>
            <a:ext cx="10991088" cy="630936"/>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804672" y="4114800"/>
            <a:ext cx="3703320" cy="320040"/>
          </a:xfrm>
          <a:prstGeom prst="rect">
            <a:avLst/>
          </a:prstGeom>
          <a:noFill/>
        </p:spPr>
        <p:txBody>
          <a:bodyPr wrap="square" lIns="0" rIns="0" tIns="0" bIns="0">
            <a:spAutoFit/>
          </a:bodyPr>
          <a:lstStyle/>
          <a:p>
            <a:pPr algn="l">
              <a:spcBef>
                <a:spcPts val="0"/>
              </a:spcBef>
              <a:spcAft>
                <a:spcPts val="500"/>
              </a:spcAft>
              <a:defRPr sz="1800" b="1">
                <a:solidFill>
                  <a:srgbClr val="29353D"/>
                </a:solidFill>
                <a:latin typeface="Segoe UI"/>
              </a:defRPr>
            </a:pPr>
            <a:r>
              <a:t>Daily amount and count</a:t>
            </a:r>
          </a:p>
        </p:txBody>
      </p:sp>
      <p:sp>
        <p:nvSpPr>
          <p:cNvPr id="16" name="Text"/>
          <p:cNvSpPr txBox="1"/>
          <p:nvPr/>
        </p:nvSpPr>
        <p:spPr>
          <a:xfrm>
            <a:off x="4572000" y="4114800"/>
            <a:ext cx="6638544"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A3: 140 / 2 records -&gt; 210 / 2 records</a:t>
            </a:r>
          </a:p>
        </p:txBody>
      </p:sp>
      <p:sp>
        <p:nvSpPr>
          <p:cNvPr id="17" name="Panel"/>
          <p:cNvSpPr/>
          <p:nvPr/>
        </p:nvSpPr>
        <p:spPr>
          <a:xfrm>
            <a:off x="603504" y="4663440"/>
            <a:ext cx="10991088" cy="630936"/>
          </a:xfrm>
          <a:prstGeom prst="rect">
            <a:avLst/>
          </a:prstGeom>
          <a:solidFill>
            <a:srgbClr val="EE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804672" y="4818888"/>
            <a:ext cx="3703320" cy="320040"/>
          </a:xfrm>
          <a:prstGeom prst="rect">
            <a:avLst/>
          </a:prstGeom>
          <a:noFill/>
        </p:spPr>
        <p:txBody>
          <a:bodyPr wrap="square" lIns="0" rIns="0" tIns="0" bIns="0">
            <a:spAutoFit/>
          </a:bodyPr>
          <a:lstStyle/>
          <a:p>
            <a:pPr algn="l">
              <a:spcBef>
                <a:spcPts val="0"/>
              </a:spcBef>
              <a:spcAft>
                <a:spcPts val="500"/>
              </a:spcAft>
              <a:defRPr sz="1800" b="1">
                <a:solidFill>
                  <a:srgbClr val="29353D"/>
                </a:solidFill>
                <a:latin typeface="Segoe UI"/>
              </a:defRPr>
            </a:pPr>
            <a:r>
              <a:t>Explicit B / Home request</a:t>
            </a:r>
          </a:p>
        </p:txBody>
      </p:sp>
      <p:sp>
        <p:nvSpPr>
          <p:cNvPr id="19" name="Text"/>
          <p:cNvSpPr txBox="1"/>
          <p:nvPr/>
        </p:nvSpPr>
        <p:spPr>
          <a:xfrm>
            <a:off x="4572000" y="4818888"/>
            <a:ext cx="6638544"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Denied for paired user; B1 returns key 5 / 700</a:t>
            </a:r>
          </a:p>
        </p:txBody>
      </p:sp>
      <p:sp>
        <p:nvSpPr>
          <p:cNvPr id="20"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000" b="1">
                <a:solidFill>
                  <a:srgbClr val="29353D"/>
                </a:solidFill>
                <a:latin typeface="Segoe UI"/>
              </a:defRPr>
            </a:pPr>
            <a:r>
              <a:t>Read the generated DAX and model rows before relying on the explanation.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Embedded is the analogy—not a feature hidden in this demo.</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Comparison only | No embed-token or report implementation.</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S2, S3, S4, S5 | 28 September 2026</a:t>
            </a:r>
          </a:p>
        </p:txBody>
      </p:sp>
      <p:sp>
        <p:nvSpPr>
          <p:cNvPr id="5" name="Panel"/>
          <p:cNvSpPr/>
          <p:nvPr/>
        </p:nvSpPr>
        <p:spPr>
          <a:xfrm>
            <a:off x="585216" y="1856231"/>
            <a:ext cx="11018520" cy="640080"/>
          </a:xfrm>
          <a:prstGeom prst="rect">
            <a:avLst/>
          </a:prstGeom>
          <a:solidFill>
            <a:srgbClr val="29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795528" y="2011679"/>
            <a:ext cx="2258568" cy="374904"/>
          </a:xfrm>
          <a:prstGeom prst="rect">
            <a:avLst/>
          </a:prstGeom>
          <a:noFill/>
        </p:spPr>
        <p:txBody>
          <a:bodyPr wrap="square" lIns="0" rIns="0" tIns="0" bIns="0">
            <a:spAutoFit/>
          </a:bodyPr>
          <a:lstStyle/>
          <a:p>
            <a:pPr algn="l">
              <a:spcBef>
                <a:spcPts val="0"/>
              </a:spcBef>
              <a:spcAft>
                <a:spcPts val="500"/>
              </a:spcAft>
              <a:defRPr sz="1700" b="1">
                <a:solidFill>
                  <a:srgbClr val="FFFFFF"/>
                </a:solidFill>
                <a:latin typeface="Segoe UI"/>
              </a:defRPr>
            </a:pPr>
            <a:r>
              <a:t>Concern</a:t>
            </a:r>
          </a:p>
        </p:txBody>
      </p:sp>
      <p:sp>
        <p:nvSpPr>
          <p:cNvPr id="7" name="Text"/>
          <p:cNvSpPr txBox="1"/>
          <p:nvPr/>
        </p:nvSpPr>
        <p:spPr>
          <a:xfrm>
            <a:off x="3246120" y="2011679"/>
            <a:ext cx="3840480" cy="374904"/>
          </a:xfrm>
          <a:prstGeom prst="rect">
            <a:avLst/>
          </a:prstGeom>
          <a:noFill/>
        </p:spPr>
        <p:txBody>
          <a:bodyPr wrap="square" lIns="0" rIns="0" tIns="0" bIns="0">
            <a:spAutoFit/>
          </a:bodyPr>
          <a:lstStyle/>
          <a:p>
            <a:pPr algn="l">
              <a:spcBef>
                <a:spcPts val="0"/>
              </a:spcBef>
              <a:spcAft>
                <a:spcPts val="500"/>
              </a:spcAft>
              <a:defRPr sz="1700" b="1">
                <a:solidFill>
                  <a:srgbClr val="FFFFFF"/>
                </a:solidFill>
                <a:latin typeface="Segoe UI"/>
              </a:defRPr>
            </a:pPr>
            <a:r>
              <a:t>Power BI Embedded</a:t>
            </a:r>
          </a:p>
        </p:txBody>
      </p:sp>
      <p:sp>
        <p:nvSpPr>
          <p:cNvPr id="8" name="Text"/>
          <p:cNvSpPr txBox="1"/>
          <p:nvPr/>
        </p:nvSpPr>
        <p:spPr>
          <a:xfrm>
            <a:off x="7397496" y="2011679"/>
            <a:ext cx="3886200" cy="374904"/>
          </a:xfrm>
          <a:prstGeom prst="rect">
            <a:avLst/>
          </a:prstGeom>
          <a:noFill/>
        </p:spPr>
        <p:txBody>
          <a:bodyPr wrap="square" lIns="0" rIns="0" tIns="0" bIns="0">
            <a:spAutoFit/>
          </a:bodyPr>
          <a:lstStyle/>
          <a:p>
            <a:pPr algn="l">
              <a:spcBef>
                <a:spcPts val="0"/>
              </a:spcBef>
              <a:spcAft>
                <a:spcPts val="500"/>
              </a:spcAft>
              <a:defRPr sz="1700" b="1">
                <a:solidFill>
                  <a:srgbClr val="FFFFFF"/>
                </a:solidFill>
                <a:latin typeface="Segoe UI"/>
              </a:defRPr>
            </a:pPr>
            <a:r>
              <a:t>This implementation</a:t>
            </a:r>
          </a:p>
        </p:txBody>
      </p:sp>
      <p:sp>
        <p:nvSpPr>
          <p:cNvPr id="9" name="Panel"/>
          <p:cNvSpPr/>
          <p:nvPr/>
        </p:nvSpPr>
        <p:spPr>
          <a:xfrm>
            <a:off x="585216" y="2560320"/>
            <a:ext cx="11018520" cy="640080"/>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795528" y="2715768"/>
            <a:ext cx="2258568"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User context</a:t>
            </a:r>
          </a:p>
        </p:txBody>
      </p:sp>
      <p:sp>
        <p:nvSpPr>
          <p:cNvPr id="11" name="Text"/>
          <p:cNvSpPr txBox="1"/>
          <p:nvPr/>
        </p:nvSpPr>
        <p:spPr>
          <a:xfrm>
            <a:off x="3246120" y="2715768"/>
            <a:ext cx="3840480"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Authenticated app user</a:t>
            </a:r>
          </a:p>
        </p:txBody>
      </p:sp>
      <p:sp>
        <p:nvSpPr>
          <p:cNvPr id="12" name="Text"/>
          <p:cNvSpPr txBox="1"/>
          <p:nvPr/>
        </p:nvSpPr>
        <p:spPr>
          <a:xfrm>
            <a:off x="7397496" y="2715768"/>
            <a:ext cx="3886200"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SyntheticSubjects selector</a:t>
            </a:r>
          </a:p>
        </p:txBody>
      </p:sp>
      <p:sp>
        <p:nvSpPr>
          <p:cNvPr id="13" name="Panel"/>
          <p:cNvSpPr/>
          <p:nvPr/>
        </p:nvSpPr>
        <p:spPr>
          <a:xfrm>
            <a:off x="585216" y="3264408"/>
            <a:ext cx="11018520" cy="640080"/>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795528" y="3419856"/>
            <a:ext cx="2258568"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RLS carrier</a:t>
            </a:r>
          </a:p>
        </p:txBody>
      </p:sp>
      <p:sp>
        <p:nvSpPr>
          <p:cNvPr id="15" name="Text"/>
          <p:cNvSpPr txBox="1"/>
          <p:nvPr/>
        </p:nvSpPr>
        <p:spPr>
          <a:xfrm>
            <a:off x="3246120" y="3419856"/>
            <a:ext cx="3840480"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EffectiveIdentity in embed token</a:t>
            </a:r>
          </a:p>
        </p:txBody>
      </p:sp>
      <p:sp>
        <p:nvSpPr>
          <p:cNvPr id="16" name="Text"/>
          <p:cNvSpPr txBox="1"/>
          <p:nvPr/>
        </p:nvSpPr>
        <p:spPr>
          <a:xfrm>
            <a:off x="7397496" y="3419856"/>
            <a:ext cx="3886200"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roles + customData on each query</a:t>
            </a:r>
          </a:p>
        </p:txBody>
      </p:sp>
      <p:sp>
        <p:nvSpPr>
          <p:cNvPr id="17" name="Panel"/>
          <p:cNvSpPr/>
          <p:nvPr/>
        </p:nvSpPr>
        <p:spPr>
          <a:xfrm>
            <a:off x="585216" y="3968496"/>
            <a:ext cx="11018520" cy="640080"/>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795528" y="4123944"/>
            <a:ext cx="2258568"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Delivery</a:t>
            </a:r>
          </a:p>
        </p:txBody>
      </p:sp>
      <p:sp>
        <p:nvSpPr>
          <p:cNvPr id="19" name="Text"/>
          <p:cNvSpPr txBox="1"/>
          <p:nvPr/>
        </p:nvSpPr>
        <p:spPr>
          <a:xfrm>
            <a:off x="3246120" y="4123944"/>
            <a:ext cx="3840480"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Report iframe / Power BI SDK</a:t>
            </a:r>
          </a:p>
        </p:txBody>
      </p:sp>
      <p:sp>
        <p:nvSpPr>
          <p:cNvPr id="20" name="Text"/>
          <p:cNvSpPr txBox="1"/>
          <p:nvPr/>
        </p:nvSpPr>
        <p:spPr>
          <a:xfrm>
            <a:off x="7397496" y="4123944"/>
            <a:ext cx="3886200"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Arrow rows + LLM explanation</a:t>
            </a:r>
          </a:p>
        </p:txBody>
      </p:sp>
      <p:sp>
        <p:nvSpPr>
          <p:cNvPr id="21" name="Panel"/>
          <p:cNvSpPr/>
          <p:nvPr/>
        </p:nvSpPr>
        <p:spPr>
          <a:xfrm>
            <a:off x="585216" y="4672583"/>
            <a:ext cx="11018520" cy="640080"/>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795528" y="4828031"/>
            <a:ext cx="2258568"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Cloud access</a:t>
            </a:r>
          </a:p>
        </p:txBody>
      </p:sp>
      <p:sp>
        <p:nvSpPr>
          <p:cNvPr id="23" name="Text"/>
          <p:cNvSpPr txBox="1"/>
          <p:nvPr/>
        </p:nvSpPr>
        <p:spPr>
          <a:xfrm>
            <a:off x="3246120" y="4828031"/>
            <a:ext cx="3840480"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GenerateToken with Entra identity</a:t>
            </a:r>
          </a:p>
        </p:txBody>
      </p:sp>
      <p:sp>
        <p:nvSpPr>
          <p:cNvPr id="24" name="Text"/>
          <p:cNvSpPr txBox="1"/>
          <p:nvPr/>
        </p:nvSpPr>
        <p:spPr>
          <a:xfrm>
            <a:off x="7397496" y="4828031"/>
            <a:ext cx="3886200" cy="374904"/>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IQ delegated + query certificate SP</a:t>
            </a:r>
          </a:p>
        </p:txBody>
      </p:sp>
      <p:sp>
        <p:nvSpPr>
          <p:cNvPr id="25"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800" b="1">
                <a:solidFill>
                  <a:srgbClr val="29353D"/>
                </a:solidFill>
                <a:latin typeface="Segoe UI"/>
              </a:defRPr>
            </a:pPr>
            <a:r>
              <a:t>An existing USERNAME() role is not automatically a drop-in match for this CUSTOMDATA() role.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The repository teaches the trust boundary in code.</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Small components with explicit responsibilities.</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E2 | 28 September 2026</a:t>
            </a:r>
          </a:p>
        </p:txBody>
      </p:sp>
      <p:sp>
        <p:nvSpPr>
          <p:cNvPr id="5" name="Text"/>
          <p:cNvSpPr txBox="1"/>
          <p:nvPr/>
        </p:nvSpPr>
        <p:spPr>
          <a:xfrm>
            <a:off x="740664" y="1883664"/>
            <a:ext cx="4215384" cy="448056"/>
          </a:xfrm>
          <a:prstGeom prst="rect">
            <a:avLst/>
          </a:prstGeom>
          <a:noFill/>
        </p:spPr>
        <p:txBody>
          <a:bodyPr wrap="square" lIns="0" rIns="0" tIns="0" bIns="0">
            <a:spAutoFit/>
          </a:bodyPr>
          <a:lstStyle/>
          <a:p>
            <a:pPr algn="l">
              <a:spcBef>
                <a:spcPts val="0"/>
              </a:spcBef>
              <a:spcAft>
                <a:spcPts val="500"/>
              </a:spcAft>
              <a:defRPr sz="1900" b="1">
                <a:solidFill>
                  <a:srgbClr val="0078D4"/>
                </a:solidFill>
                <a:latin typeface="Segoe UI"/>
              </a:defRPr>
            </a:pPr>
            <a:r>
              <a:t>DemoCatalog / SyntheticSubjects</a:t>
            </a:r>
          </a:p>
        </p:txBody>
      </p:sp>
      <p:sp>
        <p:nvSpPr>
          <p:cNvPr id="6" name="Text"/>
          <p:cNvSpPr txBox="1"/>
          <p:nvPr/>
        </p:nvSpPr>
        <p:spPr>
          <a:xfrm>
            <a:off x="5212080" y="1883664"/>
            <a:ext cx="6163056" cy="44805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Prepared question text; immutable subject context</a:t>
            </a:r>
          </a:p>
        </p:txBody>
      </p:sp>
      <p:sp>
        <p:nvSpPr>
          <p:cNvPr id="7" name="Text"/>
          <p:cNvSpPr txBox="1"/>
          <p:nvPr/>
        </p:nvSpPr>
        <p:spPr>
          <a:xfrm>
            <a:off x="740664" y="2560320"/>
            <a:ext cx="4215384" cy="448056"/>
          </a:xfrm>
          <a:prstGeom prst="rect">
            <a:avLst/>
          </a:prstGeom>
          <a:noFill/>
        </p:spPr>
        <p:txBody>
          <a:bodyPr wrap="square" lIns="0" rIns="0" tIns="0" bIns="0">
            <a:spAutoFit/>
          </a:bodyPr>
          <a:lstStyle/>
          <a:p>
            <a:pPr algn="l">
              <a:spcBef>
                <a:spcPts val="0"/>
              </a:spcBef>
              <a:spcAft>
                <a:spcPts val="500"/>
              </a:spcAft>
              <a:defRPr sz="1900" b="1">
                <a:solidFill>
                  <a:srgbClr val="0078D4"/>
                </a:solidFill>
                <a:latin typeface="Segoe UI"/>
              </a:defRPr>
            </a:pPr>
            <a:r>
              <a:t>FabricIqSchemaClient</a:t>
            </a:r>
          </a:p>
        </p:txBody>
      </p:sp>
      <p:sp>
        <p:nvSpPr>
          <p:cNvPr id="8" name="Text"/>
          <p:cNvSpPr txBox="1"/>
          <p:nvPr/>
        </p:nvSpPr>
        <p:spPr>
          <a:xfrm>
            <a:off x="5212080" y="2560320"/>
            <a:ext cx="6163056" cy="44805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Real MCP lifecycle, metadata tool allowlist, schema projection</a:t>
            </a:r>
          </a:p>
        </p:txBody>
      </p:sp>
      <p:sp>
        <p:nvSpPr>
          <p:cNvPr id="9" name="Text"/>
          <p:cNvSpPr txBox="1"/>
          <p:nvPr/>
        </p:nvSpPr>
        <p:spPr>
          <a:xfrm>
            <a:off x="740664" y="3236976"/>
            <a:ext cx="4215384" cy="448056"/>
          </a:xfrm>
          <a:prstGeom prst="rect">
            <a:avLst/>
          </a:prstGeom>
          <a:noFill/>
        </p:spPr>
        <p:txBody>
          <a:bodyPr wrap="square" lIns="0" rIns="0" tIns="0" bIns="0">
            <a:spAutoFit/>
          </a:bodyPr>
          <a:lstStyle/>
          <a:p>
            <a:pPr algn="l">
              <a:spcBef>
                <a:spcPts val="0"/>
              </a:spcBef>
              <a:spcAft>
                <a:spcPts val="500"/>
              </a:spcAft>
              <a:defRPr sz="1900" b="1">
                <a:solidFill>
                  <a:srgbClr val="0078D4"/>
                </a:solidFill>
                <a:latin typeface="Segoe UI"/>
              </a:defRPr>
            </a:pPr>
            <a:r>
              <a:t>ResponsesDaxGenerator</a:t>
            </a:r>
          </a:p>
        </p:txBody>
      </p:sp>
      <p:sp>
        <p:nvSpPr>
          <p:cNvPr id="10" name="Text"/>
          <p:cNvSpPr txBox="1"/>
          <p:nvPr/>
        </p:nvSpPr>
        <p:spPr>
          <a:xfrm>
            <a:off x="5212080" y="3236976"/>
            <a:ext cx="6163056" cy="44805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Question-specific LLM input; structured DAX output</a:t>
            </a:r>
          </a:p>
        </p:txBody>
      </p:sp>
      <p:sp>
        <p:nvSpPr>
          <p:cNvPr id="11" name="Text"/>
          <p:cNvSpPr txBox="1"/>
          <p:nvPr/>
        </p:nvSpPr>
        <p:spPr>
          <a:xfrm>
            <a:off x="740664" y="3913631"/>
            <a:ext cx="4215384" cy="448056"/>
          </a:xfrm>
          <a:prstGeom prst="rect">
            <a:avLst/>
          </a:prstGeom>
          <a:noFill/>
        </p:spPr>
        <p:txBody>
          <a:bodyPr wrap="square" lIns="0" rIns="0" tIns="0" bIns="0">
            <a:spAutoFit/>
          </a:bodyPr>
          <a:lstStyle/>
          <a:p>
            <a:pPr algn="l">
              <a:spcBef>
                <a:spcPts val="0"/>
              </a:spcBef>
              <a:spcAft>
                <a:spcPts val="500"/>
              </a:spcAft>
              <a:defRPr sz="1900" b="1">
                <a:solidFill>
                  <a:srgbClr val="0078D4"/>
                </a:solidFill>
                <a:latin typeface="Segoe UI"/>
              </a:defRPr>
            </a:pPr>
            <a:r>
              <a:t>QueryBroker / Arrow parser</a:t>
            </a:r>
          </a:p>
        </p:txBody>
      </p:sp>
      <p:sp>
        <p:nvSpPr>
          <p:cNvPr id="12" name="Text"/>
          <p:cNvSpPr txBox="1"/>
          <p:nvPr/>
        </p:nvSpPr>
        <p:spPr>
          <a:xfrm>
            <a:off x="5212080" y="3913631"/>
            <a:ext cx="6163056" cy="44805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Certificate auth, role/key injection, engine rows</a:t>
            </a:r>
          </a:p>
        </p:txBody>
      </p:sp>
      <p:sp>
        <p:nvSpPr>
          <p:cNvPr id="13" name="Text"/>
          <p:cNvSpPr txBox="1"/>
          <p:nvPr/>
        </p:nvSpPr>
        <p:spPr>
          <a:xfrm>
            <a:off x="740664" y="4590288"/>
            <a:ext cx="4215384" cy="448056"/>
          </a:xfrm>
          <a:prstGeom prst="rect">
            <a:avLst/>
          </a:prstGeom>
          <a:noFill/>
        </p:spPr>
        <p:txBody>
          <a:bodyPr wrap="square" lIns="0" rIns="0" tIns="0" bIns="0">
            <a:spAutoFit/>
          </a:bodyPr>
          <a:lstStyle/>
          <a:p>
            <a:pPr algn="l">
              <a:spcBef>
                <a:spcPts val="0"/>
              </a:spcBef>
              <a:spcAft>
                <a:spcPts val="500"/>
              </a:spcAft>
              <a:defRPr sz="1900" b="1">
                <a:solidFill>
                  <a:srgbClr val="0078D4"/>
                </a:solidFill>
                <a:latin typeface="Segoe UI"/>
              </a:defRPr>
            </a:pPr>
            <a:r>
              <a:t>ResponsesExplainer / React</a:t>
            </a:r>
          </a:p>
        </p:txBody>
      </p:sp>
      <p:sp>
        <p:nvSpPr>
          <p:cNvPr id="14" name="Text"/>
          <p:cNvSpPr txBox="1"/>
          <p:nvPr/>
        </p:nvSpPr>
        <p:spPr>
          <a:xfrm>
            <a:off x="5212080" y="4590288"/>
            <a:ext cx="6163056" cy="44805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Current-row explanation and visible execution events</a:t>
            </a:r>
          </a:p>
        </p:txBody>
      </p:sp>
      <p:sp>
        <p:nvSpPr>
          <p:cNvPr id="15"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000" b="1">
                <a:solidFill>
                  <a:srgbClr val="29353D"/>
                </a:solidFill>
                <a:latin typeface="Segoe UI"/>
              </a:defRPr>
            </a:pPr>
            <a:r>
              <a:t>Start with docs/learning-guide.rst, then follow the quickstart and source links.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Integration taught us where plausible code was wrong.</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Lessons from the real services, preserved in the educational sample.</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E2 | 28 September 2026</a:t>
            </a:r>
          </a:p>
        </p:txBody>
      </p:sp>
      <p:sp>
        <p:nvSpPr>
          <p:cNvPr id="5" name="Text"/>
          <p:cNvSpPr txBox="1"/>
          <p:nvPr/>
        </p:nvSpPr>
        <p:spPr>
          <a:xfrm>
            <a:off x="768096" y="1883664"/>
            <a:ext cx="10597896" cy="374904"/>
          </a:xfrm>
          <a:prstGeom prst="rect">
            <a:avLst/>
          </a:prstGeom>
          <a:noFill/>
        </p:spPr>
        <p:txBody>
          <a:bodyPr wrap="square" lIns="0" rIns="0" tIns="0" bIns="0">
            <a:spAutoFit/>
          </a:bodyPr>
          <a:lstStyle/>
          <a:p>
            <a:pPr algn="l">
              <a:spcBef>
                <a:spcPts val="0"/>
              </a:spcBef>
              <a:spcAft>
                <a:spcPts val="500"/>
              </a:spcAft>
              <a:defRPr sz="2200" b="1">
                <a:solidFill>
                  <a:srgbClr val="29353D"/>
                </a:solidFill>
                <a:latin typeface="Segoe UI"/>
              </a:defRPr>
            </a:pPr>
            <a:r>
              <a:t>IQ schema is not the citation envelope.</a:t>
            </a:r>
          </a:p>
        </p:txBody>
      </p:sp>
      <p:sp>
        <p:nvSpPr>
          <p:cNvPr id="6" name="Text"/>
          <p:cNvSpPr txBox="1"/>
          <p:nvPr/>
        </p:nvSpPr>
        <p:spPr>
          <a:xfrm>
            <a:off x="777240" y="2276856"/>
            <a:ext cx="10588752" cy="329184"/>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Read schema from content[].text; validate artifact identity.</a:t>
            </a:r>
          </a:p>
        </p:txBody>
      </p:sp>
      <p:sp>
        <p:nvSpPr>
          <p:cNvPr id="7" name="Text"/>
          <p:cNvSpPr txBox="1"/>
          <p:nvPr/>
        </p:nvSpPr>
        <p:spPr>
          <a:xfrm>
            <a:off x="768096" y="2715768"/>
            <a:ext cx="10597896" cy="374904"/>
          </a:xfrm>
          <a:prstGeom prst="rect">
            <a:avLst/>
          </a:prstGeom>
          <a:noFill/>
        </p:spPr>
        <p:txBody>
          <a:bodyPr wrap="square" lIns="0" rIns="0" tIns="0" bIns="0">
            <a:spAutoFit/>
          </a:bodyPr>
          <a:lstStyle/>
          <a:p>
            <a:pPr algn="l">
              <a:spcBef>
                <a:spcPts val="0"/>
              </a:spcBef>
              <a:spcAft>
                <a:spcPts val="500"/>
              </a:spcAft>
              <a:defRPr sz="2200" b="1">
                <a:solidFill>
                  <a:srgbClr val="29353D"/>
                </a:solidFill>
                <a:latin typeface="Segoe UI"/>
              </a:defRPr>
            </a:pPr>
            <a:r>
              <a:t>Hidden columns may be omitted.</a:t>
            </a:r>
          </a:p>
        </p:txBody>
      </p:sp>
      <p:sp>
        <p:nvSpPr>
          <p:cNvPr id="8" name="Text"/>
          <p:cNvSpPr txBox="1"/>
          <p:nvPr/>
        </p:nvSpPr>
        <p:spPr>
          <a:xfrm>
            <a:off x="777240" y="3108960"/>
            <a:ext cx="10588752" cy="329184"/>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Project returned metadata; never invent absent fields.</a:t>
            </a:r>
          </a:p>
        </p:txBody>
      </p:sp>
      <p:sp>
        <p:nvSpPr>
          <p:cNvPr id="9" name="Text"/>
          <p:cNvSpPr txBox="1"/>
          <p:nvPr/>
        </p:nvSpPr>
        <p:spPr>
          <a:xfrm>
            <a:off x="768096" y="3547872"/>
            <a:ext cx="10597896" cy="374904"/>
          </a:xfrm>
          <a:prstGeom prst="rect">
            <a:avLst/>
          </a:prstGeom>
          <a:noFill/>
        </p:spPr>
        <p:txBody>
          <a:bodyPr wrap="square" lIns="0" rIns="0" tIns="0" bIns="0">
            <a:spAutoFit/>
          </a:bodyPr>
          <a:lstStyle/>
          <a:p>
            <a:pPr algn="l">
              <a:spcBef>
                <a:spcPts val="0"/>
              </a:spcBef>
              <a:spcAft>
                <a:spcPts val="500"/>
              </a:spcAft>
              <a:defRPr sz="2200" b="1">
                <a:solidFill>
                  <a:srgbClr val="29353D"/>
                </a:solidFill>
                <a:latin typeface="Segoe UI"/>
              </a:defRPr>
            </a:pPr>
            <a:r>
              <a:t>Example values can become accidental filters.</a:t>
            </a:r>
          </a:p>
        </p:txBody>
      </p:sp>
      <p:sp>
        <p:nvSpPr>
          <p:cNvPr id="10" name="Text"/>
          <p:cNvSpPr txBox="1"/>
          <p:nvPr/>
        </p:nvSpPr>
        <p:spPr>
          <a:xfrm>
            <a:off x="777240" y="3941063"/>
            <a:ext cx="10588752" cy="329184"/>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Provide literal hints only for the question that needs them.</a:t>
            </a:r>
          </a:p>
        </p:txBody>
      </p:sp>
      <p:sp>
        <p:nvSpPr>
          <p:cNvPr id="11" name="Text"/>
          <p:cNvSpPr txBox="1"/>
          <p:nvPr/>
        </p:nvSpPr>
        <p:spPr>
          <a:xfrm>
            <a:off x="768096" y="4379976"/>
            <a:ext cx="10597896" cy="374904"/>
          </a:xfrm>
          <a:prstGeom prst="rect">
            <a:avLst/>
          </a:prstGeom>
          <a:noFill/>
        </p:spPr>
        <p:txBody>
          <a:bodyPr wrap="square" lIns="0" rIns="0" tIns="0" bIns="0">
            <a:spAutoFit/>
          </a:bodyPr>
          <a:lstStyle/>
          <a:p>
            <a:pPr algn="l">
              <a:spcBef>
                <a:spcPts val="0"/>
              </a:spcBef>
              <a:spcAft>
                <a:spcPts val="500"/>
              </a:spcAft>
              <a:defRPr sz="2200" b="1">
                <a:solidFill>
                  <a:srgbClr val="29353D"/>
                </a:solidFill>
                <a:latin typeface="Segoe UI"/>
              </a:defRPr>
            </a:pPr>
            <a:r>
              <a:t>.NET UTC timestamps include +00:00.</a:t>
            </a:r>
          </a:p>
        </p:txBody>
      </p:sp>
      <p:sp>
        <p:nvSpPr>
          <p:cNvPr id="12" name="Text"/>
          <p:cNvSpPr txBox="1"/>
          <p:nvPr/>
        </p:nvSpPr>
        <p:spPr>
          <a:xfrm>
            <a:off x="777240" y="4773168"/>
            <a:ext cx="10588752" cy="329184"/>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The browser accepts both valid UTC forms, not just 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Show the working mechanism, and name what it does not do.</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Educational implementation | Not a production application or product-support commitment.</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E1, E2 | 28 September 2026</a:t>
            </a:r>
          </a:p>
        </p:txBody>
      </p:sp>
      <p:sp>
        <p:nvSpPr>
          <p:cNvPr id="5" name="Text"/>
          <p:cNvSpPr txBox="1"/>
          <p:nvPr/>
        </p:nvSpPr>
        <p:spPr>
          <a:xfrm>
            <a:off x="740664" y="1956816"/>
            <a:ext cx="5074920" cy="457200"/>
          </a:xfrm>
          <a:prstGeom prst="rect">
            <a:avLst/>
          </a:prstGeom>
          <a:noFill/>
        </p:spPr>
        <p:txBody>
          <a:bodyPr wrap="square" lIns="0" rIns="0" tIns="0" bIns="0">
            <a:spAutoFit/>
          </a:bodyPr>
          <a:lstStyle/>
          <a:p>
            <a:pPr algn="l">
              <a:spcBef>
                <a:spcPts val="0"/>
              </a:spcBef>
              <a:spcAft>
                <a:spcPts val="500"/>
              </a:spcAft>
              <a:defRPr sz="2600" b="1">
                <a:solidFill>
                  <a:srgbClr val="49C5B1"/>
                </a:solidFill>
                <a:latin typeface="Segoe UI"/>
              </a:defRPr>
            </a:pPr>
            <a:r>
              <a:t>Implemented and demonstrated</a:t>
            </a:r>
          </a:p>
        </p:txBody>
      </p:sp>
      <p:sp>
        <p:nvSpPr>
          <p:cNvPr id="6" name="Text"/>
          <p:cNvSpPr txBox="1"/>
          <p:nvPr/>
        </p:nvSpPr>
        <p:spPr>
          <a:xfrm>
            <a:off x="749808" y="2770632"/>
            <a:ext cx="4919472" cy="2240280"/>
          </a:xfrm>
          <a:prstGeom prst="rect">
            <a:avLst/>
          </a:prstGeom>
          <a:noFill/>
        </p:spPr>
        <p:txBody>
          <a:bodyPr wrap="square" lIns="0" rIns="0" tIns="0" bIns="0">
            <a:spAutoFit/>
          </a:bodyPr>
          <a:lstStyle/>
          <a:p>
            <a:pPr algn="l">
              <a:spcBef>
                <a:spcPts val="0"/>
              </a:spcBef>
              <a:spcAft>
                <a:spcPts val="500"/>
              </a:spcAft>
              <a:defRPr sz="2300" b="0">
                <a:solidFill>
                  <a:srgbClr val="E6ECEF"/>
                </a:solidFill>
                <a:latin typeface="Segoe UI"/>
              </a:defRPr>
            </a:pPr>
            <a:r>
              <a:t>Live IQ metadata and GPT-5.4</a:t>
            </a:r>
          </a:p>
          <a:p>
            <a:pPr algn="l">
              <a:spcBef>
                <a:spcPts val="0"/>
              </a:spcBef>
              <a:spcAft>
                <a:spcPts val="500"/>
              </a:spcAft>
              <a:defRPr sz="2300" b="0">
                <a:solidFill>
                  <a:srgbClr val="E6ECEF"/>
                </a:solidFill>
                <a:latin typeface="Segoe UI"/>
              </a:defRPr>
            </a:pPr>
            <a:r>
              <a:t>Application-context RLS queries</a:t>
            </a:r>
          </a:p>
          <a:p>
            <a:pPr algn="l">
              <a:spcBef>
                <a:spcPts val="0"/>
              </a:spcBef>
              <a:spcAft>
                <a:spcPts val="500"/>
              </a:spcAft>
              <a:defRPr sz="2300" b="0">
                <a:solidFill>
                  <a:srgbClr val="E6ECEF"/>
                </a:solidFill>
                <a:latin typeface="Segoe UI"/>
              </a:defRPr>
            </a:pPr>
            <a:r>
              <a:t>Exact rows and explanations</a:t>
            </a:r>
          </a:p>
          <a:p>
            <a:pPr algn="l">
              <a:spcBef>
                <a:spcPts val="0"/>
              </a:spcBef>
              <a:spcAft>
                <a:spcPts val="500"/>
              </a:spcAft>
              <a:defRPr sz="2300" b="0">
                <a:solidFill>
                  <a:srgbClr val="E6ECEF"/>
                </a:solidFill>
                <a:latin typeface="Segoe UI"/>
              </a:defRPr>
            </a:pPr>
            <a:r>
              <a:t>Execution inspector</a:t>
            </a:r>
          </a:p>
        </p:txBody>
      </p:sp>
      <p:sp>
        <p:nvSpPr>
          <p:cNvPr id="7" name="Text"/>
          <p:cNvSpPr txBox="1"/>
          <p:nvPr/>
        </p:nvSpPr>
        <p:spPr>
          <a:xfrm>
            <a:off x="6455664" y="1956816"/>
            <a:ext cx="4946904" cy="457200"/>
          </a:xfrm>
          <a:prstGeom prst="rect">
            <a:avLst/>
          </a:prstGeom>
          <a:noFill/>
        </p:spPr>
        <p:txBody>
          <a:bodyPr wrap="square" lIns="0" rIns="0" tIns="0" bIns="0">
            <a:spAutoFit/>
          </a:bodyPr>
          <a:lstStyle/>
          <a:p>
            <a:pPr algn="l">
              <a:spcBef>
                <a:spcPts val="0"/>
              </a:spcBef>
              <a:spcAft>
                <a:spcPts val="500"/>
              </a:spcAft>
              <a:defRPr sz="2600" b="1">
                <a:solidFill>
                  <a:srgbClr val="E6ECEF"/>
                </a:solidFill>
                <a:latin typeface="Segoe UI"/>
              </a:defRPr>
            </a:pPr>
            <a:r>
              <a:t>Not implemented</a:t>
            </a:r>
          </a:p>
        </p:txBody>
      </p:sp>
      <p:sp>
        <p:nvSpPr>
          <p:cNvPr id="8" name="Text"/>
          <p:cNvSpPr txBox="1"/>
          <p:nvPr/>
        </p:nvSpPr>
        <p:spPr>
          <a:xfrm>
            <a:off x="6473952" y="2770632"/>
            <a:ext cx="4818888" cy="2240280"/>
          </a:xfrm>
          <a:prstGeom prst="rect">
            <a:avLst/>
          </a:prstGeom>
          <a:noFill/>
        </p:spPr>
        <p:txBody>
          <a:bodyPr wrap="square" lIns="0" rIns="0" tIns="0" bIns="0">
            <a:spAutoFit/>
          </a:bodyPr>
          <a:lstStyle/>
          <a:p>
            <a:pPr algn="l">
              <a:spcBef>
                <a:spcPts val="0"/>
              </a:spcBef>
              <a:spcAft>
                <a:spcPts val="500"/>
              </a:spcAft>
              <a:defRPr sz="2300" b="0">
                <a:solidFill>
                  <a:srgbClr val="E6ECEF"/>
                </a:solidFill>
                <a:latin typeface="Segoe UI"/>
              </a:defRPr>
            </a:pPr>
            <a:r>
              <a:t>Real application sign-in</a:t>
            </a:r>
          </a:p>
          <a:p>
            <a:pPr algn="l">
              <a:spcBef>
                <a:spcPts val="0"/>
              </a:spcBef>
              <a:spcAft>
                <a:spcPts val="500"/>
              </a:spcAft>
              <a:defRPr sz="2300" b="0">
                <a:solidFill>
                  <a:srgbClr val="E6ECEF"/>
                </a:solidFill>
                <a:latin typeface="Segoe UI"/>
              </a:defRPr>
            </a:pPr>
            <a:r>
              <a:t>Power BI Embedded report parity</a:t>
            </a:r>
          </a:p>
          <a:p>
            <a:pPr algn="l">
              <a:spcBef>
                <a:spcPts val="0"/>
              </a:spcBef>
              <a:spcAft>
                <a:spcPts val="500"/>
              </a:spcAft>
              <a:defRPr sz="2300" b="0">
                <a:solidFill>
                  <a:srgbClr val="E6ECEF"/>
                </a:solidFill>
                <a:latin typeface="Segoe UI"/>
              </a:defRPr>
            </a:pPr>
            <a:r>
              <a:t>Public web or MCP hosting</a:t>
            </a:r>
          </a:p>
          <a:p>
            <a:pPr algn="l">
              <a:spcBef>
                <a:spcPts val="0"/>
              </a:spcBef>
              <a:spcAft>
                <a:spcPts val="500"/>
              </a:spcAft>
              <a:defRPr sz="2300" b="0">
                <a:solidFill>
                  <a:srgbClr val="E6ECEF"/>
                </a:solidFill>
                <a:latin typeface="Segoe UI"/>
              </a:defRPr>
            </a:pPr>
            <a:r>
              <a:t>Production lifecycle / scale</a:t>
            </a:r>
          </a:p>
        </p:txBody>
      </p:sp>
      <p:sp>
        <p:nvSpPr>
          <p:cNvPr id="9" name="Panel"/>
          <p:cNvSpPr/>
          <p:nvPr/>
        </p:nvSpPr>
        <p:spPr>
          <a:xfrm>
            <a:off x="585216" y="5733288"/>
            <a:ext cx="11018520" cy="539496"/>
          </a:xfrm>
          <a:prstGeom prst="rect">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800" b="1">
                <a:solidFill>
                  <a:srgbClr val="FFFFFF"/>
                </a:solidFill>
                <a:latin typeface="Segoe UI"/>
              </a:defRPr>
            </a:pPr>
            <a:r>
              <a:t>The ISV integration point is the trusted subject resolver—not a replacement identity directory.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Source contracts and a reproducible starting point</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Public Microsoft documentation + actual sample code + dated synthetic observations.</a:t>
            </a:r>
          </a:p>
        </p:txBody>
      </p:sp>
      <p:sp>
        <p:nvSpPr>
          <p:cNvPr id="4" name="Text"/>
          <p:cNvSpPr txBox="1"/>
          <p:nvPr/>
        </p:nvSpPr>
        <p:spPr>
          <a:xfrm>
            <a:off x="749808" y="1865376"/>
            <a:ext cx="10652760" cy="43891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3"/>
              </a:rPr>
              <a:t>S1  Fabric IQ MCP: tools, GA status and delegated authentication</a:t>
            </a:r>
          </a:p>
        </p:txBody>
      </p:sp>
      <p:sp>
        <p:nvSpPr>
          <p:cNvPr id="5" name="Text"/>
          <p:cNvSpPr txBox="1"/>
          <p:nvPr/>
        </p:nvSpPr>
        <p:spPr>
          <a:xfrm>
            <a:off x="749808" y="2523744"/>
            <a:ext cx="10652760" cy="43891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4"/>
              </a:rPr>
              <a:t>S2  Execute DAX Queries: roles, customData, privilege and Arrow</a:t>
            </a:r>
          </a:p>
        </p:txBody>
      </p:sp>
      <p:sp>
        <p:nvSpPr>
          <p:cNvPr id="6" name="Text"/>
          <p:cNvSpPr txBox="1"/>
          <p:nvPr/>
        </p:nvSpPr>
        <p:spPr>
          <a:xfrm>
            <a:off x="749808" y="3182112"/>
            <a:ext cx="10652760" cy="43891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5"/>
              </a:rPr>
              <a:t>S3  Power BI Embedded: application authentication and tokens</a:t>
            </a:r>
          </a:p>
        </p:txBody>
      </p:sp>
      <p:sp>
        <p:nvSpPr>
          <p:cNvPr id="7" name="Text"/>
          <p:cNvSpPr txBox="1"/>
          <p:nvPr/>
        </p:nvSpPr>
        <p:spPr>
          <a:xfrm>
            <a:off x="749808" y="3840480"/>
            <a:ext cx="10652760" cy="43891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6"/>
              </a:rPr>
              <a:t>S4  GenerateToken: EffectiveIdentity and customData</a:t>
            </a:r>
          </a:p>
        </p:txBody>
      </p:sp>
      <p:sp>
        <p:nvSpPr>
          <p:cNvPr id="8" name="Text"/>
          <p:cNvSpPr txBox="1"/>
          <p:nvPr/>
        </p:nvSpPr>
        <p:spPr>
          <a:xfrm>
            <a:off x="749808" y="4498848"/>
            <a:ext cx="10652760" cy="43891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7"/>
              </a:rPr>
              <a:t>S6  Azure OpenAI Responses API</a:t>
            </a:r>
          </a:p>
        </p:txBody>
      </p:sp>
      <p:sp>
        <p:nvSpPr>
          <p:cNvPr id="9" name="Text"/>
          <p:cNvSpPr txBox="1"/>
          <p:nvPr/>
        </p:nvSpPr>
        <p:spPr>
          <a:xfrm>
            <a:off x="768096" y="5559552"/>
            <a:ext cx="10625328" cy="676656"/>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Repository guide: docs/quickstart.rst | Evidence: docs/status.rst</a:t>
            </a:r>
          </a:p>
          <a:p>
            <a:pPr algn="l">
              <a:spcBef>
                <a:spcPts val="0"/>
              </a:spcBef>
              <a:spcAft>
                <a:spcPts val="500"/>
              </a:spcAft>
              <a:defRPr sz="1700" b="0">
                <a:solidFill>
                  <a:srgbClr val="29353D"/>
                </a:solidFill>
                <a:latin typeface="Segoe UI"/>
              </a:defRPr>
            </a:pPr>
            <a:r>
              <a:t>All slides are authored from public sources and synthetic data. Check the sharing label.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Fabric ISV application-identity RLS - implemented educational demo v2</dc:title>
  <dc:subject>ISV application identities, Fabric IQ and semantic-model RLS</dc:subject>
  <dc:creator>Brendan Bailey | Microsoft</dc:creator>
  <cp:keywords>technical proof; synthetic data; proposed architecture; 2026-09-28</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