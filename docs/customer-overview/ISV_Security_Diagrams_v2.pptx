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Actual request: React sends userId/questionId; DemoRunner resolves SyntheticSubjects into immutable context. LiveDemoPlanner obtains IQ metadata and calls ResponsesDaxGenerator. QueryBroker receives DAX plus the hidden context, obtains a certificate app-only token and calls executeDaxQueries with ExternalAppScope/customData. It decodes Arrow and checks error rowsets. ResponsesExplainer sees the question and current allowed rows, not credentials or other users. No end-user authentication is implemented: the selector simulates the result of a future application's authenticated session. This request-only diagram deliberately omits return arrows. The existing four-component AIR maps the actual code; Entra credential boundaries are detailed on the next slide.</a:t>
            </a:r>
          </a:p>
          <a:p/>
          <a:p>
            <a:r>
              <a:t>This documents an educational implementation, not production certification. The selector is not authentication. Power BI Embedded is comparison context, not an implemented report feature. Classification: our own, public documentation and synthetic evidence only. Microsoft artwork retains its original terms. Check the output label before sharing.</a:t>
            </a:r>
          </a:p>
          <a:p/>
          <a:p>
            <a:r>
              <a:t>S1: Fabric IQ MCP: tools, GA status and delegated authentication</a:t>
            </a:r>
          </a:p>
          <a:p>
            <a:r>
              <a:t>https://learn.microsoft.com/en-us/fabric/iq/connectors/fabric-iq-mcp</a:t>
            </a:r>
          </a:p>
          <a:p>
            <a:r>
              <a:t>S2: Execute DAX Queries: roles, customData, privilege and Arrow</a:t>
            </a:r>
          </a:p>
          <a:p>
            <a:r>
              <a:t>https://learn.microsoft.com/en-us/rest/api/power-bi/datasets/execute-dax-queries</a:t>
            </a:r>
          </a:p>
          <a:p>
            <a:r>
              <a:t>S6: Azure OpenAI Responses API</a:t>
            </a:r>
          </a:p>
          <a:p>
            <a:r>
              <a:t>https://learn.microsoft.com/en-us/azure/foundry/openai/how-to/responses</a:t>
            </a:r>
          </a:p>
          <a:p>
            <a:r>
              <a:t>E2: Live integrated teaching demo, 28 September 2026 Eastern</a:t>
            </a:r>
          </a:p>
          <a:p>
            <a:r>
              <a:t>See docs/status.rst: live IQ, GPT-5.4, scoped query and explanation; selected synthetic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sample uses an opaque selected subject, not real application login. IQ: separately registered public client, interactive delegated sign-in, then silent protected-cache access with Item.Read.All, Item.Execute.All and Dataset.Read.All. Query: nonexportable Windows certificate service principal with Admin only in the isolated model workspace. Inference: subscription-selected Azure CLI credential; token tenant and principal are verified. The LLM gets no credentials and cannot set roles/customData. The IQ OAuth scopes are endpoint-wide; the allowlist is application dispatch control, not metadata-only OAuth.</a:t>
            </a:r>
          </a:p>
          <a:p/>
          <a:p>
            <a:r>
              <a:t>This documents an educational implementation, not production certification. The selector is not authentication. Power BI Embedded is comparison context, not an implemented report feature. Classification: our own, public documentation and synthetic evidence only. Microsoft artwork retains its original terms. Check the output label before sharing.</a:t>
            </a:r>
          </a:p>
          <a:p/>
          <a:p>
            <a:r>
              <a:t>S1: Fabric IQ MCP: tools, GA status and delegated authentication</a:t>
            </a:r>
          </a:p>
          <a:p>
            <a:r>
              <a:t>https://learn.microsoft.com/en-us/fabric/iq/connectors/fabric-iq-mcp</a:t>
            </a:r>
          </a:p>
          <a:p>
            <a:r>
              <a:t>S2: Execute DAX Queries: roles, customData, privilege and Arrow</a:t>
            </a:r>
          </a:p>
          <a:p>
            <a:r>
              <a:t>https://learn.microsoft.com/en-us/rest/api/power-bi/datasets/execute-dax-queries</a:t>
            </a:r>
          </a:p>
          <a:p>
            <a:r>
              <a:t>S6: Azure OpenAI Responses API</a:t>
            </a:r>
          </a:p>
          <a:p>
            <a:r>
              <a:t>https://learn.microsoft.com/en-us/azure/foundry/openai/how-to/responses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FabricIqSchemaClient sends initialize, notifications/initialized, tools/list and GetSemanticModelSchema. Additional tool-list pages cost extra calls. The LLM—not IQ—generates DAX. Generation and explanation use separate store:false Responses calls. Runtime API paths, identity categories, timestamps, schema/query hashes and model usage appear in the inspector. Failed requests consume budget and return explicit errors; no static fallback exists. Seven is the usual service-call count, not a latency or cost guarantee.</a:t>
            </a:r>
          </a:p>
          <a:p/>
          <a:p>
            <a:r>
              <a:t>This documents an educational implementation, not production certification. The selector is not authentication. Power BI Embedded is comparison context, not an implemented report feature. Classification: our own, public documentation and synthetic evidence only. Microsoft artwork retains its original terms. Check the output label before sharing.</a:t>
            </a:r>
          </a:p>
          <a:p/>
          <a:p>
            <a:r>
              <a:t>S1: Fabric IQ MCP: tools, GA status and delegated authentication</a:t>
            </a:r>
          </a:p>
          <a:p>
            <a:r>
              <a:t>https://learn.microsoft.com/en-us/fabric/iq/connectors/fabric-iq-mcp</a:t>
            </a:r>
          </a:p>
          <a:p>
            <a:r>
              <a:t>S2: Execute DAX Queries: roles, customData, privilege and Arrow</a:t>
            </a:r>
          </a:p>
          <a:p>
            <a:r>
              <a:t>https://learn.microsoft.com/en-us/rest/api/power-bi/datasets/execute-dax-queries</a:t>
            </a:r>
          </a:p>
          <a:p>
            <a:r>
              <a:t>S6: Azure OpenAI Responses API</a:t>
            </a:r>
          </a:p>
          <a:p>
            <a:r>
              <a:t>https://learn.microsoft.com/en-us/azure/foundry/openai/how-to/responses</a:t>
            </a:r>
          </a:p>
          <a:p>
            <a:r>
              <a:t>E2: Live integrated teaching demo, 28 September 2026 Eastern</a:t>
            </a:r>
          </a:p>
          <a:p>
            <a:r>
              <a:t>See docs/status.rst: live IQ, GPT-5.4, scoped query and explanation; selected synthetic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5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85216" y="420624"/>
            <a:ext cx="110185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3000" b="0">
                <a:solidFill>
                  <a:srgbClr val="FFFFFF"/>
                </a:solidFill>
                <a:latin typeface="Segoe UI Semibold"/>
              </a:defRPr>
            </a:pPr>
            <a:r>
              <a:t>The running demo binds app-user context in QueryBroker.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603504" y="1225296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A9B8C0"/>
                </a:solidFill>
                <a:latin typeface="Segoe UI"/>
              </a:defRPr>
            </a:pPr>
            <a:r>
              <a:t>Implemented request path | React + .NET + live IQ + GPT-5.4 + Power BI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03504" y="6483096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A9B8C0"/>
                </a:solidFill>
                <a:latin typeface="Segoe UI"/>
              </a:defRPr>
            </a:pPr>
            <a:r>
              <a:t>Sources: S1, S2, S3 | 28 September 2026</a:t>
            </a:r>
          </a:p>
        </p:txBody>
      </p:sp>
      <p:sp>
        <p:nvSpPr>
          <p:cNvPr id="5" name="zone-application"/>
          <p:cNvSpPr/>
          <p:nvPr/>
        </p:nvSpPr>
        <p:spPr>
          <a:xfrm>
            <a:off x="585216" y="1892807"/>
            <a:ext cx="6492240" cy="3575304"/>
          </a:xfrm>
          <a:prstGeom prst="rect">
            <a:avLst/>
          </a:prstGeom>
          <a:solidFill>
            <a:srgbClr val="35444E"/>
          </a:solidFill>
          <a:ln w="12700">
            <a:solidFill>
              <a:srgbClr val="A9B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zone-fabric"/>
          <p:cNvSpPr/>
          <p:nvPr/>
        </p:nvSpPr>
        <p:spPr>
          <a:xfrm>
            <a:off x="8229600" y="1892807"/>
            <a:ext cx="3374136" cy="3575304"/>
          </a:xfrm>
          <a:prstGeom prst="rect">
            <a:avLst/>
          </a:prstGeom>
          <a:solidFill>
            <a:srgbClr val="35444E"/>
          </a:solidFill>
          <a:ln w="12700">
            <a:solidFill>
              <a:srgbClr val="A9B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"/>
          <p:cNvSpPr txBox="1"/>
          <p:nvPr/>
        </p:nvSpPr>
        <p:spPr>
          <a:xfrm>
            <a:off x="777240" y="201168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E6ECEF"/>
                </a:solidFill>
                <a:latin typeface="Segoe UI"/>
              </a:defRPr>
            </a:pPr>
            <a:r>
              <a:t>React / .NET localhost demo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8403336" y="2011680"/>
            <a:ext cx="29992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E6ECEF"/>
                </a:solidFill>
                <a:latin typeface="Segoe UI"/>
              </a:defRPr>
            </a:pPr>
            <a:r>
              <a:t>Fabric / Power BI</a:t>
            </a:r>
          </a:p>
        </p:txBody>
      </p:sp>
      <p:grpSp>
        <p:nvGrpSpPr>
          <p:cNvPr id="9" name="node-app"/>
          <p:cNvGrpSpPr/>
          <p:nvPr/>
        </p:nvGrpSpPr>
        <p:grpSpPr>
          <a:xfrm>
            <a:off x="859536" y="3886200"/>
            <a:ext cx="2231136" cy="1298448"/>
            <a:chOff x="859536" y="3886200"/>
            <a:chExt cx="2231136" cy="1298448"/>
          </a:xfrm>
        </p:grpSpPr>
        <p:sp>
          <p:nvSpPr>
            <p:cNvPr id="10" name="Rounded Rectangle 9"/>
            <p:cNvSpPr/>
            <p:nvPr/>
          </p:nvSpPr>
          <p:spPr>
            <a:xfrm>
              <a:off x="859536" y="3886200"/>
              <a:ext cx="2231136" cy="1298448"/>
            </a:xfrm>
            <a:prstGeom prst="roundRect">
              <a:avLst>
                <a:gd name="adj" fmla="val 10000"/>
              </a:avLst>
            </a:prstGeom>
            <a:solidFill>
              <a:srgbClr val="35444E"/>
            </a:solidFill>
            <a:ln w="10160">
              <a:solidFill>
                <a:srgbClr val="A9B8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node-app-label"/>
            <p:cNvSpPr txBox="1"/>
            <p:nvPr/>
          </p:nvSpPr>
          <p:spPr>
            <a:xfrm>
              <a:off x="969264" y="4050791"/>
              <a:ext cx="2011680" cy="38404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500"/>
                </a:spcAft>
                <a:defRPr sz="1800" b="1">
                  <a:solidFill>
                    <a:srgbClr val="FFFFFF"/>
                  </a:solidFill>
                  <a:latin typeface="Segoe UI"/>
                </a:defRPr>
              </a:pPr>
              <a:r>
                <a:t>Demo selector</a:t>
              </a:r>
            </a:p>
          </p:txBody>
        </p:sp>
        <p:sp>
          <p:nvSpPr>
            <p:cNvPr id="12" name="Text"/>
            <p:cNvSpPr txBox="1"/>
            <p:nvPr/>
          </p:nvSpPr>
          <p:spPr>
            <a:xfrm>
              <a:off x="969264" y="4480559"/>
              <a:ext cx="2011680" cy="64922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500"/>
                </a:spcAft>
                <a:defRPr sz="1500" b="0">
                  <a:solidFill>
                    <a:srgbClr val="E6ECEF"/>
                  </a:solidFill>
                  <a:latin typeface="Segoe UI"/>
                </a:defRPr>
              </a:pPr>
              <a:r>
                <a:t>6 app-owned subjects</a:t>
              </a:r>
            </a:p>
            <a:p>
              <a:pPr algn="ctr">
                <a:spcBef>
                  <a:spcPts val="0"/>
                </a:spcBef>
                <a:spcAft>
                  <a:spcPts val="500"/>
                </a:spcAft>
                <a:defRPr sz="1500" b="0">
                  <a:solidFill>
                    <a:srgbClr val="E6ECEF"/>
                  </a:solidFill>
                  <a:latin typeface="Segoe UI"/>
                </a:defRPr>
              </a:pPr>
              <a:r>
                <a:t>Not authentication</a:t>
              </a:r>
            </a:p>
          </p:txBody>
        </p:sp>
      </p:grpSp>
      <p:grpSp>
        <p:nvGrpSpPr>
          <p:cNvPr id="13" name="node-planner"/>
          <p:cNvGrpSpPr/>
          <p:nvPr/>
        </p:nvGrpSpPr>
        <p:grpSpPr>
          <a:xfrm>
            <a:off x="4297680" y="2395728"/>
            <a:ext cx="2432304" cy="1207008"/>
            <a:chOff x="4297680" y="2395728"/>
            <a:chExt cx="2432304" cy="1207008"/>
          </a:xfrm>
        </p:grpSpPr>
        <p:sp>
          <p:nvSpPr>
            <p:cNvPr id="14" name="Rounded Rectangle 13"/>
            <p:cNvSpPr/>
            <p:nvPr/>
          </p:nvSpPr>
          <p:spPr>
            <a:xfrm>
              <a:off x="4297680" y="2395728"/>
              <a:ext cx="2432304" cy="1207008"/>
            </a:xfrm>
            <a:prstGeom prst="roundRect">
              <a:avLst>
                <a:gd name="adj" fmla="val 10000"/>
              </a:avLst>
            </a:prstGeom>
            <a:solidFill>
              <a:srgbClr val="35444E"/>
            </a:solidFill>
            <a:ln w="10160">
              <a:solidFill>
                <a:srgbClr val="A9B8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ode-planner-label"/>
            <p:cNvSpPr txBox="1"/>
            <p:nvPr/>
          </p:nvSpPr>
          <p:spPr>
            <a:xfrm>
              <a:off x="4407408" y="2560320"/>
              <a:ext cx="2212848" cy="38404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500"/>
                </a:spcAft>
                <a:defRPr sz="1800" b="1">
                  <a:solidFill>
                    <a:srgbClr val="FFFFFF"/>
                  </a:solidFill>
                  <a:latin typeface="Segoe UI"/>
                </a:defRPr>
              </a:pPr>
              <a:r>
                <a:t>Live query planner</a:t>
              </a:r>
            </a:p>
          </p:txBody>
        </p:sp>
        <p:sp>
          <p:nvSpPr>
            <p:cNvPr id="16" name="Text"/>
            <p:cNvSpPr txBox="1"/>
            <p:nvPr/>
          </p:nvSpPr>
          <p:spPr>
            <a:xfrm>
              <a:off x="4407408" y="2990088"/>
              <a:ext cx="2212848" cy="557783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500"/>
                </a:spcAft>
                <a:defRPr sz="1500" b="0">
                  <a:solidFill>
                    <a:srgbClr val="E6ECEF"/>
                  </a:solidFill>
                  <a:latin typeface="Segoe UI"/>
                </a:defRPr>
              </a:pPr>
              <a:r>
                <a:t>IQ schema + GPT-5.4</a:t>
              </a:r>
            </a:p>
          </p:txBody>
        </p:sp>
      </p:grpSp>
      <p:grpSp>
        <p:nvGrpSpPr>
          <p:cNvPr id="17" name="node-broker"/>
          <p:cNvGrpSpPr/>
          <p:nvPr/>
        </p:nvGrpSpPr>
        <p:grpSpPr>
          <a:xfrm>
            <a:off x="4297680" y="4069080"/>
            <a:ext cx="2432304" cy="1115568"/>
            <a:chOff x="4297680" y="4069080"/>
            <a:chExt cx="2432304" cy="1115568"/>
          </a:xfrm>
        </p:grpSpPr>
        <p:sp>
          <p:nvSpPr>
            <p:cNvPr id="18" name="Rounded Rectangle 17"/>
            <p:cNvSpPr/>
            <p:nvPr/>
          </p:nvSpPr>
          <p:spPr>
            <a:xfrm>
              <a:off x="4297680" y="4069080"/>
              <a:ext cx="2432304" cy="1115568"/>
            </a:xfrm>
            <a:prstGeom prst="roundRect">
              <a:avLst>
                <a:gd name="adj" fmla="val 10000"/>
              </a:avLst>
            </a:prstGeom>
            <a:solidFill>
              <a:srgbClr val="35444E"/>
            </a:solidFill>
            <a:ln w="10160">
              <a:solidFill>
                <a:srgbClr val="A9B8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node-broker-label"/>
            <p:cNvSpPr txBox="1"/>
            <p:nvPr/>
          </p:nvSpPr>
          <p:spPr>
            <a:xfrm>
              <a:off x="4407408" y="4233672"/>
              <a:ext cx="2212848" cy="38404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500"/>
                </a:spcAft>
                <a:defRPr sz="1800" b="1">
                  <a:solidFill>
                    <a:srgbClr val="FFFFFF"/>
                  </a:solidFill>
                  <a:latin typeface="Segoe UI"/>
                </a:defRPr>
              </a:pPr>
              <a:r>
                <a:t>QueryBroker</a:t>
              </a:r>
            </a:p>
          </p:txBody>
        </p:sp>
        <p:sp>
          <p:nvSpPr>
            <p:cNvPr id="20" name="Text"/>
            <p:cNvSpPr txBox="1"/>
            <p:nvPr/>
          </p:nvSpPr>
          <p:spPr>
            <a:xfrm>
              <a:off x="4407408" y="4663440"/>
              <a:ext cx="2212848" cy="4663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500"/>
                </a:spcAft>
                <a:defRPr sz="1500" b="0">
                  <a:solidFill>
                    <a:srgbClr val="E6ECEF"/>
                  </a:solidFill>
                  <a:latin typeface="Segoe UI"/>
                </a:defRPr>
              </a:pPr>
              <a:r>
                <a:t>ExternalAppScope + key</a:t>
              </a:r>
            </a:p>
          </p:txBody>
        </p:sp>
      </p:grpSp>
      <p:grpSp>
        <p:nvGrpSpPr>
          <p:cNvPr id="21" name="node-model"/>
          <p:cNvGrpSpPr/>
          <p:nvPr/>
        </p:nvGrpSpPr>
        <p:grpSpPr>
          <a:xfrm>
            <a:off x="8403336" y="3300984"/>
            <a:ext cx="2340864" cy="1883664"/>
            <a:chOff x="8403336" y="3300984"/>
            <a:chExt cx="2340864" cy="1883664"/>
          </a:xfrm>
        </p:grpSpPr>
        <p:sp>
          <p:nvSpPr>
            <p:cNvPr id="22" name="Rounded Rectangle 21"/>
            <p:cNvSpPr/>
            <p:nvPr/>
          </p:nvSpPr>
          <p:spPr>
            <a:xfrm>
              <a:off x="8403336" y="3300984"/>
              <a:ext cx="2340864" cy="1883664"/>
            </a:xfrm>
            <a:prstGeom prst="roundRect">
              <a:avLst>
                <a:gd name="adj" fmla="val 10000"/>
              </a:avLst>
            </a:prstGeom>
            <a:solidFill>
              <a:srgbClr val="35444E"/>
            </a:solidFill>
            <a:ln w="10160">
              <a:solidFill>
                <a:srgbClr val="A9B8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3" name="Picture 22" descr="semantic_model_64_item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45167" y="3429000"/>
              <a:ext cx="457200" cy="457200"/>
            </a:xfrm>
            <a:prstGeom prst="rect">
              <a:avLst/>
            </a:prstGeom>
          </p:spPr>
        </p:pic>
        <p:sp>
          <p:nvSpPr>
            <p:cNvPr id="24" name="node-model-label"/>
            <p:cNvSpPr txBox="1"/>
            <p:nvPr/>
          </p:nvSpPr>
          <p:spPr>
            <a:xfrm>
              <a:off x="8513063" y="3968496"/>
              <a:ext cx="2121408" cy="38404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500"/>
                </a:spcAft>
                <a:defRPr sz="1800" b="1">
                  <a:solidFill>
                    <a:srgbClr val="FFFFFF"/>
                  </a:solidFill>
                  <a:latin typeface="Segoe UI"/>
                </a:defRPr>
              </a:pPr>
              <a:r>
                <a:t>Semantic Model</a:t>
              </a:r>
            </a:p>
          </p:txBody>
        </p:sp>
        <p:sp>
          <p:nvSpPr>
            <p:cNvPr id="25" name="Text"/>
            <p:cNvSpPr txBox="1"/>
            <p:nvPr/>
          </p:nvSpPr>
          <p:spPr>
            <a:xfrm>
              <a:off x="8513063" y="4398264"/>
              <a:ext cx="2121408" cy="7315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500"/>
                </a:spcAft>
                <a:defRPr sz="1500" b="0">
                  <a:solidFill>
                    <a:srgbClr val="E6ECEF"/>
                  </a:solidFill>
                  <a:latin typeface="Segoe UI"/>
                </a:defRPr>
              </a:pPr>
              <a:r>
                <a:t>RLS-filtered rows</a:t>
              </a:r>
            </a:p>
          </p:txBody>
        </p:sp>
      </p:grpSp>
      <p:cxnSp>
        <p:nvCxnSpPr>
          <p:cNvPr id="26" name="edge-session"/>
          <p:cNvCxnSpPr>
            <a:stCxn id="9" idx="3"/>
            <a:endCxn id="17" idx="1"/>
          </p:cNvCxnSpPr>
          <p:nvPr/>
        </p:nvCxnSpPr>
        <p:spPr>
          <a:xfrm>
            <a:off x="3090672" y="4535424"/>
            <a:ext cx="1207008" cy="91440"/>
          </a:xfrm>
          <a:prstGeom prst="bentConnector3">
            <a:avLst/>
          </a:prstGeom>
          <a:ln w="20320">
            <a:solidFill>
              <a:srgbClr val="A9B8C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dge-dax"/>
          <p:cNvCxnSpPr>
            <a:stCxn id="13" idx="2"/>
            <a:endCxn id="17" idx="0"/>
          </p:cNvCxnSpPr>
          <p:nvPr/>
        </p:nvCxnSpPr>
        <p:spPr>
          <a:xfrm flipH="1">
            <a:off x="5513832" y="3602736"/>
            <a:ext cx="0" cy="466344"/>
          </a:xfrm>
          <a:prstGeom prst="line">
            <a:avLst/>
          </a:prstGeom>
          <a:ln w="20320">
            <a:solidFill>
              <a:srgbClr val="A9B8C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edge-execute"/>
          <p:cNvCxnSpPr>
            <a:stCxn id="17" idx="3"/>
            <a:endCxn id="21" idx="1"/>
          </p:cNvCxnSpPr>
          <p:nvPr/>
        </p:nvCxnSpPr>
        <p:spPr>
          <a:xfrm flipV="1">
            <a:off x="6729984" y="4242816"/>
            <a:ext cx="1673352" cy="384048"/>
          </a:xfrm>
          <a:prstGeom prst="bentConnector3">
            <a:avLst/>
          </a:prstGeom>
          <a:ln w="20320">
            <a:solidFill>
              <a:srgbClr val="A9B8C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"/>
          <p:cNvSpPr txBox="1"/>
          <p:nvPr/>
        </p:nvSpPr>
        <p:spPr>
          <a:xfrm>
            <a:off x="3108960" y="3739896"/>
            <a:ext cx="1115568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E6ECEF"/>
                </a:solidFill>
                <a:latin typeface="Segoe UI"/>
              </a:defRPr>
            </a:pPr>
            <a:r>
              <a:t>Synthetic</a:t>
            </a:r>
          </a:p>
          <a:p>
            <a:pPr algn="ctr"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E6ECEF"/>
                </a:solidFill>
                <a:latin typeface="Segoe UI"/>
              </a:defRPr>
            </a:pPr>
            <a:r>
              <a:t>user context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5678424" y="3703320"/>
            <a:ext cx="12618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E6ECEF"/>
                </a:solidFill>
                <a:latin typeface="Segoe UI"/>
              </a:defRPr>
            </a:pPr>
            <a:r>
              <a:t>DAX only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7114032" y="3630168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E6ECEF"/>
                </a:solidFill>
                <a:latin typeface="Segoe UI"/>
              </a:defRPr>
            </a:pPr>
            <a:r>
              <a:t>DAX + role</a:t>
            </a:r>
          </a:p>
          <a:p>
            <a:pPr algn="ctr"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E6ECEF"/>
                </a:solidFill>
                <a:latin typeface="Segoe UI"/>
              </a:defRPr>
            </a:pPr>
            <a:r>
              <a:t>+ user key</a:t>
            </a:r>
          </a:p>
        </p:txBody>
      </p:sp>
      <p:sp>
        <p:nvSpPr>
          <p:cNvPr id="32" name="Panel"/>
          <p:cNvSpPr/>
          <p:nvPr/>
        </p:nvSpPr>
        <p:spPr>
          <a:xfrm>
            <a:off x="585216" y="5733288"/>
            <a:ext cx="11018520" cy="539496"/>
          </a:xfrm>
          <a:prstGeom prst="rect">
            <a:avLst/>
          </a:prstGeom>
          <a:solidFill>
            <a:srgbClr val="354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"/>
          <p:cNvSpPr txBox="1"/>
          <p:nvPr/>
        </p:nvSpPr>
        <p:spPr>
          <a:xfrm>
            <a:off x="768096" y="5824727"/>
            <a:ext cx="10652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100" b="1">
                <a:solidFill>
                  <a:srgbClr val="FFFFFF"/>
                </a:solidFill>
                <a:latin typeface="Segoe UI"/>
              </a:defRPr>
            </a:pPr>
            <a:r>
              <a:t>Only RLS-filtered rows return to the application and its explanation step.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85216" y="420624"/>
            <a:ext cx="110185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3000" b="0">
                <a:solidFill>
                  <a:srgbClr val="29353D"/>
                </a:solidFill>
                <a:latin typeface="Segoe UI Semibold"/>
              </a:defRPr>
            </a:pPr>
            <a:r>
              <a:t>The application user is not the cloud credential.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603504" y="1225296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6B7780"/>
                </a:solidFill>
                <a:latin typeface="Segoe UI"/>
              </a:defRPr>
            </a:pPr>
            <a:r>
              <a:t>Implemented identity contexts | The app subject is not an Entra account.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03504" y="6483096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6B7780"/>
                </a:solidFill>
                <a:latin typeface="Segoe UI"/>
              </a:defRPr>
            </a:pPr>
            <a:r>
              <a:t>Sources: S1, S2, S3, S6 | 28 September 2026</a:t>
            </a:r>
          </a:p>
        </p:txBody>
      </p:sp>
      <p:sp>
        <p:nvSpPr>
          <p:cNvPr id="5" name="Panel"/>
          <p:cNvSpPr/>
          <p:nvPr/>
        </p:nvSpPr>
        <p:spPr>
          <a:xfrm>
            <a:off x="585216" y="1993392"/>
            <a:ext cx="11018520" cy="658368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"/>
          <p:cNvSpPr txBox="1"/>
          <p:nvPr/>
        </p:nvSpPr>
        <p:spPr>
          <a:xfrm>
            <a:off x="777240" y="2148840"/>
            <a:ext cx="24963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900" b="1">
                <a:solidFill>
                  <a:srgbClr val="00684A"/>
                </a:solidFill>
                <a:latin typeface="Segoe UI"/>
              </a:defRPr>
            </a:pPr>
            <a:r>
              <a:t>Application user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3483864" y="2157984"/>
            <a:ext cx="365760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9353D"/>
                </a:solidFill>
                <a:latin typeface="Segoe UI"/>
              </a:defRPr>
            </a:pPr>
            <a:r>
              <a:t>SyntheticSubjects selector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7333488" y="2157984"/>
            <a:ext cx="402336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9353D"/>
                </a:solidFill>
                <a:latin typeface="Segoe UI"/>
              </a:defRPr>
            </a:pPr>
            <a:r>
              <a:t>Opaque user key drives RLS</a:t>
            </a:r>
          </a:p>
        </p:txBody>
      </p:sp>
      <p:sp>
        <p:nvSpPr>
          <p:cNvPr id="9" name="Panel"/>
          <p:cNvSpPr/>
          <p:nvPr/>
        </p:nvSpPr>
        <p:spPr>
          <a:xfrm>
            <a:off x="585216" y="2779776"/>
            <a:ext cx="11018520" cy="658368"/>
          </a:xfrm>
          <a:prstGeom prst="rect">
            <a:avLst/>
          </a:prstGeom>
          <a:solidFill>
            <a:srgbClr val="E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"/>
          <p:cNvSpPr txBox="1"/>
          <p:nvPr/>
        </p:nvSpPr>
        <p:spPr>
          <a:xfrm>
            <a:off x="777240" y="2935224"/>
            <a:ext cx="24963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900" b="1">
                <a:solidFill>
                  <a:srgbClr val="29353D"/>
                </a:solidFill>
                <a:latin typeface="Segoe UI"/>
              </a:defRPr>
            </a:pPr>
            <a:r>
              <a:t>IQ metadata caller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3483864" y="2944368"/>
            <a:ext cx="365760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9353D"/>
                </a:solidFill>
                <a:latin typeface="Segoe UI"/>
              </a:defRPr>
            </a:pPr>
            <a:r>
              <a:t>Delegated Entra account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7333488" y="2944368"/>
            <a:ext cx="402336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9353D"/>
                </a:solidFill>
                <a:latin typeface="Segoe UI"/>
              </a:defRPr>
            </a:pPr>
            <a:r>
              <a:t>Reads approved model schema</a:t>
            </a:r>
          </a:p>
        </p:txBody>
      </p:sp>
      <p:sp>
        <p:nvSpPr>
          <p:cNvPr id="13" name="Panel"/>
          <p:cNvSpPr/>
          <p:nvPr/>
        </p:nvSpPr>
        <p:spPr>
          <a:xfrm>
            <a:off x="585216" y="3566160"/>
            <a:ext cx="11018520" cy="658368"/>
          </a:xfrm>
          <a:prstGeom prst="rect">
            <a:avLst/>
          </a:prstGeom>
          <a:solidFill>
            <a:srgbClr val="EE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"/>
          <p:cNvSpPr txBox="1"/>
          <p:nvPr/>
        </p:nvSpPr>
        <p:spPr>
          <a:xfrm>
            <a:off x="777240" y="3721608"/>
            <a:ext cx="24963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900" b="1">
                <a:solidFill>
                  <a:srgbClr val="29353D"/>
                </a:solidFill>
                <a:latin typeface="Segoe UI"/>
              </a:defRPr>
            </a:pPr>
            <a:r>
              <a:t>Query executor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3483864" y="3730752"/>
            <a:ext cx="365760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9353D"/>
                </a:solidFill>
                <a:latin typeface="Segoe UI"/>
              </a:defRPr>
            </a:pPr>
            <a:r>
              <a:t>Service principal + certificate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7333488" y="3730752"/>
            <a:ext cx="402336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9353D"/>
                </a:solidFill>
                <a:latin typeface="Segoe UI"/>
              </a:defRPr>
            </a:pPr>
            <a:r>
              <a:t>Submits DAX with role + key</a:t>
            </a:r>
          </a:p>
        </p:txBody>
      </p:sp>
      <p:sp>
        <p:nvSpPr>
          <p:cNvPr id="17" name="Panel"/>
          <p:cNvSpPr/>
          <p:nvPr/>
        </p:nvSpPr>
        <p:spPr>
          <a:xfrm>
            <a:off x="585216" y="4352544"/>
            <a:ext cx="11018520" cy="658368"/>
          </a:xfrm>
          <a:prstGeom prst="rect">
            <a:avLst/>
          </a:prstGeom>
          <a:solidFill>
            <a:srgbClr val="E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"/>
          <p:cNvSpPr txBox="1"/>
          <p:nvPr/>
        </p:nvSpPr>
        <p:spPr>
          <a:xfrm>
            <a:off x="777240" y="4507992"/>
            <a:ext cx="24963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900" b="1">
                <a:solidFill>
                  <a:srgbClr val="29353D"/>
                </a:solidFill>
                <a:latin typeface="Segoe UI"/>
              </a:defRPr>
            </a:pPr>
            <a:r>
              <a:t>LLM service caller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3483864" y="4517136"/>
            <a:ext cx="365760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9353D"/>
                </a:solidFill>
                <a:latin typeface="Segoe UI"/>
              </a:defRPr>
            </a:pPr>
            <a:r>
              <a:t>Approved inference credential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7333488" y="4517136"/>
            <a:ext cx="402336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9353D"/>
                </a:solidFill>
                <a:latin typeface="Segoe UI"/>
              </a:defRPr>
            </a:pPr>
            <a:r>
              <a:t>Generates DAX; explains rows</a:t>
            </a:r>
          </a:p>
        </p:txBody>
      </p:sp>
      <p:sp>
        <p:nvSpPr>
          <p:cNvPr id="21" name="Panel"/>
          <p:cNvSpPr/>
          <p:nvPr/>
        </p:nvSpPr>
        <p:spPr>
          <a:xfrm>
            <a:off x="585216" y="5733288"/>
            <a:ext cx="11018520" cy="539496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"/>
          <p:cNvSpPr txBox="1"/>
          <p:nvPr/>
        </p:nvSpPr>
        <p:spPr>
          <a:xfrm>
            <a:off x="768096" y="5824727"/>
            <a:ext cx="10652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100" b="1">
                <a:solidFill>
                  <a:srgbClr val="29353D"/>
                </a:solidFill>
                <a:latin typeface="Segoe UI"/>
              </a:defRPr>
            </a:pPr>
            <a:r>
              <a:t>User context is separate from the credentials used to call cloud services.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85216" y="420624"/>
            <a:ext cx="110185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3000" b="0">
                <a:solidFill>
                  <a:srgbClr val="29353D"/>
                </a:solidFill>
                <a:latin typeface="Segoe UI Semibold"/>
              </a:defRPr>
            </a:pPr>
            <a:r>
              <a:t>Seven real service requests turn one question into an answer.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603504" y="1225296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6B7780"/>
                </a:solidFill>
                <a:latin typeface="Segoe UI"/>
              </a:defRPr>
            </a:pPr>
            <a:r>
              <a:t>Current implementation | One normal-path question, no DAX or answer template.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03504" y="6483096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6B7780"/>
                </a:solidFill>
                <a:latin typeface="Segoe UI"/>
              </a:defRPr>
            </a:pPr>
            <a:r>
              <a:t>Sources: S1, S2, S6, E2 | 28 September 2026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667512" y="2103120"/>
            <a:ext cx="248716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3600" b="0">
                <a:solidFill>
                  <a:srgbClr val="0078D4"/>
                </a:solidFill>
                <a:latin typeface="Segoe UI Light"/>
              </a:defRPr>
            </a:pPr>
            <a:r>
              <a:t>4 calls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667512" y="2980944"/>
            <a:ext cx="256946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400" b="1">
                <a:solidFill>
                  <a:srgbClr val="29353D"/>
                </a:solidFill>
                <a:latin typeface="Segoe UI"/>
              </a:defRPr>
            </a:pPr>
            <a:r>
              <a:t>Fabric IQ MCP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667512" y="3813048"/>
            <a:ext cx="2560320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000" b="0">
                <a:solidFill>
                  <a:srgbClr val="29353D"/>
                </a:solidFill>
                <a:latin typeface="Segoe UI"/>
              </a:defRPr>
            </a:pPr>
            <a:r>
              <a:t>Initialize, notify,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2000" b="0">
                <a:solidFill>
                  <a:srgbClr val="29353D"/>
                </a:solidFill>
                <a:latin typeface="Segoe UI"/>
              </a:defRPr>
            </a:pPr>
            <a:r>
              <a:t>list tools, read schema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3493008" y="2103120"/>
            <a:ext cx="248716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3600" b="0">
                <a:solidFill>
                  <a:srgbClr val="0078D4"/>
                </a:solidFill>
                <a:latin typeface="Segoe UI Light"/>
              </a:defRPr>
            </a:pPr>
            <a:r>
              <a:t>1 call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3493008" y="2980944"/>
            <a:ext cx="256946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400" b="1">
                <a:solidFill>
                  <a:srgbClr val="29353D"/>
                </a:solidFill>
                <a:latin typeface="Segoe UI"/>
              </a:defRPr>
            </a:pPr>
            <a:r>
              <a:t>GPT-5.4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3493008" y="3813048"/>
            <a:ext cx="2560320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000" b="0">
                <a:solidFill>
                  <a:srgbClr val="29353D"/>
                </a:solidFill>
                <a:latin typeface="Segoe UI"/>
              </a:defRPr>
            </a:pPr>
            <a:r>
              <a:t>Generate DAX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2000" b="0">
                <a:solidFill>
                  <a:srgbClr val="29353D"/>
                </a:solidFill>
                <a:latin typeface="Segoe UI"/>
              </a:defRPr>
            </a:pPr>
            <a:r>
              <a:t>from returned schema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18504" y="2103120"/>
            <a:ext cx="248716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3600" b="0">
                <a:solidFill>
                  <a:srgbClr val="0078D4"/>
                </a:solidFill>
                <a:latin typeface="Segoe UI Light"/>
              </a:defRPr>
            </a:pPr>
            <a:r>
              <a:t>1 call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6318504" y="2980944"/>
            <a:ext cx="256946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400" b="1">
                <a:solidFill>
                  <a:srgbClr val="29353D"/>
                </a:solidFill>
                <a:latin typeface="Segoe UI"/>
              </a:defRPr>
            </a:pPr>
            <a:r>
              <a:t>Power BI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6318504" y="3813048"/>
            <a:ext cx="2560320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000" b="0">
                <a:solidFill>
                  <a:srgbClr val="29353D"/>
                </a:solidFill>
                <a:latin typeface="Segoe UI"/>
              </a:defRPr>
            </a:pPr>
            <a:r>
              <a:t>Execute with fixed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2000" b="0">
                <a:solidFill>
                  <a:srgbClr val="29353D"/>
                </a:solidFill>
                <a:latin typeface="Segoe UI"/>
              </a:defRPr>
            </a:pPr>
            <a:r>
              <a:t>role + customData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9144000" y="2103120"/>
            <a:ext cx="248716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3600" b="0">
                <a:solidFill>
                  <a:srgbClr val="0078D4"/>
                </a:solidFill>
                <a:latin typeface="Segoe UI Light"/>
              </a:defRPr>
            </a:pPr>
            <a:r>
              <a:t>1 call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144000" y="2980944"/>
            <a:ext cx="256946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400" b="1">
                <a:solidFill>
                  <a:srgbClr val="29353D"/>
                </a:solidFill>
                <a:latin typeface="Segoe UI"/>
              </a:defRPr>
            </a:pPr>
            <a:r>
              <a:t>GPT-5.4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9144000" y="3813048"/>
            <a:ext cx="2560320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000" b="0">
                <a:solidFill>
                  <a:srgbClr val="29353D"/>
                </a:solidFill>
                <a:latin typeface="Segoe UI"/>
              </a:defRPr>
            </a:pPr>
            <a:r>
              <a:t>Explain only the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2000" b="0">
                <a:solidFill>
                  <a:srgbClr val="29353D"/>
                </a:solidFill>
                <a:latin typeface="Segoe UI"/>
              </a:defRPr>
            </a:pPr>
            <a:r>
              <a:t>RLS-filtered rows</a:t>
            </a:r>
          </a:p>
        </p:txBody>
      </p:sp>
      <p:sp>
        <p:nvSpPr>
          <p:cNvPr id="17" name="Panel"/>
          <p:cNvSpPr/>
          <p:nvPr/>
        </p:nvSpPr>
        <p:spPr>
          <a:xfrm>
            <a:off x="585216" y="5733288"/>
            <a:ext cx="11018520" cy="539496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"/>
          <p:cNvSpPr txBox="1"/>
          <p:nvPr/>
        </p:nvSpPr>
        <p:spPr>
          <a:xfrm>
            <a:off x="768096" y="5824727"/>
            <a:ext cx="10652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29353D"/>
                </a:solidFill>
                <a:latin typeface="Segoe UI"/>
              </a:defRPr>
            </a:pPr>
            <a:r>
              <a:t>IQ ExecuteQuery and ValueSearch are not dispatched. The broker owns business-data execution.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Implemented ISV security diagrams v2</dc:title>
  <dc:subject>ISV application identities, Fabric IQ and semantic-model RLS</dc:subject>
  <dc:creator>Brendan Bailey | Microsoft</dc:creator>
  <cp:keywords>technical proof; synthetic data; proposed architecture; 2026-09-28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